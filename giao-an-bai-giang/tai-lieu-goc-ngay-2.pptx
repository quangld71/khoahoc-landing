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99" r:id="rId4"/>
    <p:sldId id="295" r:id="rId5"/>
    <p:sldId id="296" r:id="rId6"/>
    <p:sldId id="297" r:id="rId7"/>
    <p:sldId id="301" r:id="rId8"/>
    <p:sldId id="300" r:id="rId9"/>
    <p:sldId id="302" r:id="rId10"/>
    <p:sldId id="291" r:id="rId11"/>
    <p:sldId id="258" r:id="rId12"/>
    <p:sldId id="259" r:id="rId13"/>
    <p:sldId id="260" r:id="rId14"/>
    <p:sldId id="261" r:id="rId15"/>
    <p:sldId id="262" r:id="rId16"/>
    <p:sldId id="263" r:id="rId17"/>
    <p:sldId id="264" r:id="rId18"/>
    <p:sldId id="292" r:id="rId19"/>
    <p:sldId id="293" r:id="rId20"/>
    <p:sldId id="294" r:id="rId21"/>
    <p:sldId id="265" r:id="rId22"/>
    <p:sldId id="266" r:id="rId23"/>
    <p:sldId id="267" r:id="rId24"/>
    <p:sldId id="268" r:id="rId25"/>
    <p:sldId id="269" r:id="rId26"/>
    <p:sldId id="270" r:id="rId27"/>
    <p:sldId id="298" r:id="rId28"/>
    <p:sldId id="271" r:id="rId29"/>
    <p:sldId id="272" r:id="rId30"/>
    <p:sldId id="303" r:id="rId31"/>
    <p:sldId id="273" r:id="rId32"/>
    <p:sldId id="304"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94660"/>
  </p:normalViewPr>
  <p:slideViewPr>
    <p:cSldViewPr snapToGrid="0" snapToObjects="1">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13F49-C522-4AB3-83B1-D21DA762F7FA}"/>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1B3C73CE-C3B3-4839-8322-7B3C6BC99D65}"/>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CA333C73-E349-4427-A9E0-86D884AF5D03}"/>
              </a:ext>
            </a:extLst>
          </p:cNvPr>
          <p:cNvSpPr>
            <a:spLocks noGrp="1"/>
          </p:cNvSpPr>
          <p:nvPr>
            <p:ph type="dt" idx="10"/>
          </p:nvPr>
        </p:nvSpPr>
        <p:spPr/>
        <p:txBody>
          <a:bodyPr/>
          <a:lstStyle/>
          <a:p>
            <a:fld id="{5BCAD085-E8A6-8845-BD4E-CB4CCA059FC4}" type="datetimeFigureOut">
              <a:t>12/09/2026</a:t>
            </a:fld>
            <a:endParaRPr/>
          </a:p>
        </p:txBody>
      </p:sp>
      <p:sp>
        <p:nvSpPr>
          <p:cNvPr id="5" name="Footer Placeholder 4">
            <a:extLst>
              <a:ext uri="{FF2B5EF4-FFF2-40B4-BE49-F238E27FC236}">
                <a16:creationId xmlns:a16="http://schemas.microsoft.com/office/drawing/2014/main" id="{55A2BC5E-47B5-47FF-AD46-7888A7B22A2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CB0D4A7-131B-498D-96D6-5D37F4C728B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94898-C456-40C2-9CF6-95F657C6912A}"/>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ADE46AE-F22E-4661-9DE7-5045CAFF1195}"/>
              </a:ext>
            </a:extLst>
          </p:cNvPr>
          <p:cNvSpPr>
            <a:spLocks noGrp="1"/>
          </p:cNvSpPr>
          <p:nvPr>
            <p:ph idx="1" hasCustomPrompt="1"/>
          </p:nvPr>
        </p:nvSpPr>
        <p:spPr/>
        <p:txBody>
          <a:bodyPr/>
          <a:lstStyle/>
          <a:p>
            <a:pPr lvl="0">
              <a:buNone/>
            </a:pPr>
            <a:r>
              <a:rPr lang="en-US" dirty="0"/>
              <a:t>CLICK TO EDIT MASTER TEXT STYLES</a:t>
            </a:r>
          </a:p>
          <a:p>
            <a:pPr lvl="1">
              <a:buNone/>
            </a:pPr>
            <a:r>
              <a:rPr lang="en-US" dirty="0"/>
              <a:t>SECOND LEVEL</a:t>
            </a:r>
          </a:p>
          <a:p>
            <a:pPr lvl="2">
              <a:buNone/>
            </a:pPr>
            <a:r>
              <a:rPr lang="en-US" dirty="0"/>
              <a:t>THIRD LEVEL</a:t>
            </a:r>
          </a:p>
          <a:p>
            <a:pPr lvl="3">
              <a:buNone/>
            </a:pPr>
            <a:r>
              <a:rPr lang="en-US" dirty="0"/>
              <a:t>FOURTH LEVEL</a:t>
            </a:r>
          </a:p>
          <a:p>
            <a:pPr lvl="4">
              <a:buNone/>
            </a:pPr>
            <a:r>
              <a:rPr lang="en-US" dirty="0"/>
              <a:t>FIFTH LEVEL</a:t>
            </a:r>
          </a:p>
        </p:txBody>
      </p:sp>
      <p:sp>
        <p:nvSpPr>
          <p:cNvPr id="4" name="Date Placeholder 3">
            <a:extLst>
              <a:ext uri="{FF2B5EF4-FFF2-40B4-BE49-F238E27FC236}">
                <a16:creationId xmlns:a16="http://schemas.microsoft.com/office/drawing/2014/main" id="{0A0D337A-348F-4B7F-8038-03E5EE0004CD}"/>
              </a:ext>
            </a:extLst>
          </p:cNvPr>
          <p:cNvSpPr>
            <a:spLocks noGrp="1"/>
          </p:cNvSpPr>
          <p:nvPr>
            <p:ph type="dt" idx="10"/>
          </p:nvPr>
        </p:nvSpPr>
        <p:spPr/>
        <p:txBody>
          <a:bodyPr/>
          <a:lstStyle/>
          <a:p>
            <a:fld id="{5BCAD085-E8A6-8845-BD4E-CB4CCA059FC4}" type="datetimeFigureOut">
              <a:t>12/09/2026</a:t>
            </a:fld>
            <a:endParaRPr/>
          </a:p>
        </p:txBody>
      </p:sp>
      <p:sp>
        <p:nvSpPr>
          <p:cNvPr id="5" name="Footer Placeholder 4">
            <a:extLst>
              <a:ext uri="{FF2B5EF4-FFF2-40B4-BE49-F238E27FC236}">
                <a16:creationId xmlns:a16="http://schemas.microsoft.com/office/drawing/2014/main" id="{2B9D471C-7232-44CE-9BD5-01FF595D15D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674F0FA-41EA-42F0-B3D1-7B124B4F22D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07DA-E193-4891-926C-2FFCDB148D43}"/>
              </a:ext>
            </a:extLst>
          </p:cNvPr>
          <p:cNvSpPr>
            <a:spLocks noGrp="1"/>
          </p:cNvSpPr>
          <p:nvPr>
            <p:ph type="title"/>
          </p:nvPr>
        </p:nvSpPr>
        <p:spPr>
          <a:xfrm>
            <a:off x="722313" y="4406900"/>
            <a:ext cx="7772400" cy="1362075"/>
          </a:xfrm>
        </p:spPr>
        <p:txBody>
          <a:bodyPr anchor="t"/>
          <a:lstStyle>
            <a:lvl1pPr algn="l">
              <a:buNone/>
              <a:defRPr sz="4000" b="1" cap="all"/>
            </a:lvl1pPr>
          </a:lstStyle>
          <a:p>
            <a:r>
              <a:rPr dirty="0"/>
              <a:t>Click to edit Master title style</a:t>
            </a:r>
          </a:p>
        </p:txBody>
      </p:sp>
      <p:sp>
        <p:nvSpPr>
          <p:cNvPr id="3" name="Text Placeholder 2">
            <a:extLst>
              <a:ext uri="{FF2B5EF4-FFF2-40B4-BE49-F238E27FC236}">
                <a16:creationId xmlns:a16="http://schemas.microsoft.com/office/drawing/2014/main" id="{FE9F5572-D269-4CCA-B68E-F71D72FBB7A3}"/>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rPr dirty="0"/>
              <a:t>Click to edit Master text styles</a:t>
            </a:r>
          </a:p>
        </p:txBody>
      </p:sp>
      <p:sp>
        <p:nvSpPr>
          <p:cNvPr id="4" name="Date Placeholder 3">
            <a:extLst>
              <a:ext uri="{FF2B5EF4-FFF2-40B4-BE49-F238E27FC236}">
                <a16:creationId xmlns:a16="http://schemas.microsoft.com/office/drawing/2014/main" id="{2425694A-C9EC-4CD3-895B-1FCC42F38C49}"/>
              </a:ext>
            </a:extLst>
          </p:cNvPr>
          <p:cNvSpPr>
            <a:spLocks noGrp="1"/>
          </p:cNvSpPr>
          <p:nvPr>
            <p:ph type="dt" idx="10"/>
          </p:nvPr>
        </p:nvSpPr>
        <p:spPr/>
        <p:txBody>
          <a:bodyPr/>
          <a:lstStyle/>
          <a:p>
            <a:fld id="{5BCAD085-E8A6-8845-BD4E-CB4CCA059FC4}" type="datetimeFigureOut">
              <a:t>12/09/2026</a:t>
            </a:fld>
            <a:endParaRPr/>
          </a:p>
        </p:txBody>
      </p:sp>
      <p:sp>
        <p:nvSpPr>
          <p:cNvPr id="5" name="Footer Placeholder 4">
            <a:extLst>
              <a:ext uri="{FF2B5EF4-FFF2-40B4-BE49-F238E27FC236}">
                <a16:creationId xmlns:a16="http://schemas.microsoft.com/office/drawing/2014/main" id="{5D16EA65-D03D-4FCB-9291-35C596DD291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3E3BA4C-EEEE-4615-891D-B858653E7F0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8CB7-B32E-4408-BF5E-2B9C57AD20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76D87FD-851F-4C4E-800A-E7A01826A870}"/>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3F495EFF-FF19-4E7D-84C5-3067A37C00A5}"/>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35743E9-0F2C-402B-9D7F-221B0C84A60A}"/>
              </a:ext>
            </a:extLst>
          </p:cNvPr>
          <p:cNvSpPr>
            <a:spLocks noGrp="1"/>
          </p:cNvSpPr>
          <p:nvPr>
            <p:ph type="dt" idx="10"/>
          </p:nvPr>
        </p:nvSpPr>
        <p:spPr/>
        <p:txBody>
          <a:bodyPr/>
          <a:lstStyle/>
          <a:p>
            <a:fld id="{5BCAD085-E8A6-8845-BD4E-CB4CCA059FC4}" type="datetimeFigureOut">
              <a:t>12/09/2026</a:t>
            </a:fld>
            <a:endParaRPr/>
          </a:p>
        </p:txBody>
      </p:sp>
      <p:sp>
        <p:nvSpPr>
          <p:cNvPr id="6" name="Footer Placeholder 5">
            <a:extLst>
              <a:ext uri="{FF2B5EF4-FFF2-40B4-BE49-F238E27FC236}">
                <a16:creationId xmlns:a16="http://schemas.microsoft.com/office/drawing/2014/main" id="{492F3115-4150-4423-ACD4-FD8D4EA800F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1999E88-2D37-4950-94C8-026BD51A92B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C0F9B-BBD5-4848-B3E3-5D0A232F7E2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FD6442FE-8DE7-46FE-9BC5-2CB515654755}"/>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5DDAD43-1F3C-4DCA-8AD1-450906132306}"/>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12D05D6-3D60-4128-8522-24E9B8D98A71}"/>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AC656120-6A09-40BF-A696-E62FCC8CC44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1A81868D-0510-47D2-8705-8321EA17C09E}"/>
              </a:ext>
            </a:extLst>
          </p:cNvPr>
          <p:cNvSpPr>
            <a:spLocks noGrp="1"/>
          </p:cNvSpPr>
          <p:nvPr>
            <p:ph type="dt" idx="10"/>
          </p:nvPr>
        </p:nvSpPr>
        <p:spPr/>
        <p:txBody>
          <a:bodyPr/>
          <a:lstStyle/>
          <a:p>
            <a:fld id="{5BCAD085-E8A6-8845-BD4E-CB4CCA059FC4}" type="datetimeFigureOut">
              <a:t>12/09/2026</a:t>
            </a:fld>
            <a:endParaRPr/>
          </a:p>
        </p:txBody>
      </p:sp>
      <p:sp>
        <p:nvSpPr>
          <p:cNvPr id="8" name="Footer Placeholder 7">
            <a:extLst>
              <a:ext uri="{FF2B5EF4-FFF2-40B4-BE49-F238E27FC236}">
                <a16:creationId xmlns:a16="http://schemas.microsoft.com/office/drawing/2014/main" id="{A91C8FE1-D5CF-42D6-9B73-2DB0F979836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0882416-C79A-4793-8DEA-BC8D820FC9F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E955-4B93-4F77-A06C-34F01E7DB1BE}"/>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E420F23-F962-4F5E-86C6-012E8AB39D0B}"/>
              </a:ext>
            </a:extLst>
          </p:cNvPr>
          <p:cNvSpPr>
            <a:spLocks noGrp="1"/>
          </p:cNvSpPr>
          <p:nvPr>
            <p:ph type="dt" idx="10"/>
          </p:nvPr>
        </p:nvSpPr>
        <p:spPr/>
        <p:txBody>
          <a:bodyPr/>
          <a:lstStyle/>
          <a:p>
            <a:fld id="{5BCAD085-E8A6-8845-BD4E-CB4CCA059FC4}" type="datetimeFigureOut">
              <a:t>12/09/2026</a:t>
            </a:fld>
            <a:endParaRPr/>
          </a:p>
        </p:txBody>
      </p:sp>
      <p:sp>
        <p:nvSpPr>
          <p:cNvPr id="4" name="Footer Placeholder 3">
            <a:extLst>
              <a:ext uri="{FF2B5EF4-FFF2-40B4-BE49-F238E27FC236}">
                <a16:creationId xmlns:a16="http://schemas.microsoft.com/office/drawing/2014/main" id="{5DC8E886-9379-411D-A0BE-4BF4BCBC485B}"/>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7AAE907-DA8A-458D-8775-D9B554AAD6E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2627E5-BD78-498E-8585-E6250463EAB3}"/>
              </a:ext>
            </a:extLst>
          </p:cNvPr>
          <p:cNvSpPr>
            <a:spLocks noGrp="1"/>
          </p:cNvSpPr>
          <p:nvPr>
            <p:ph type="dt" idx="10"/>
          </p:nvPr>
        </p:nvSpPr>
        <p:spPr/>
        <p:txBody>
          <a:bodyPr/>
          <a:lstStyle/>
          <a:p>
            <a:fld id="{5BCAD085-E8A6-8845-BD4E-CB4CCA059FC4}" type="datetimeFigureOut">
              <a:t>12/09/2026</a:t>
            </a:fld>
            <a:endParaRPr/>
          </a:p>
        </p:txBody>
      </p:sp>
      <p:sp>
        <p:nvSpPr>
          <p:cNvPr id="3" name="Footer Placeholder 2">
            <a:extLst>
              <a:ext uri="{FF2B5EF4-FFF2-40B4-BE49-F238E27FC236}">
                <a16:creationId xmlns:a16="http://schemas.microsoft.com/office/drawing/2014/main" id="{C465668A-A083-49C7-895D-20CFDBECE11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5531CDF9-7C81-443A-87A2-13060827344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22B9-6A36-4270-8CA0-D7E0813B1484}"/>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391CFCFF-796B-4265-BB1A-AD508E435F0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DC2F6F6-0277-44B6-ACD2-6400B7F923AD}"/>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3647FF7-F740-427C-86F9-400CEA291787}"/>
              </a:ext>
            </a:extLst>
          </p:cNvPr>
          <p:cNvSpPr>
            <a:spLocks noGrp="1"/>
          </p:cNvSpPr>
          <p:nvPr>
            <p:ph type="dt" idx="10"/>
          </p:nvPr>
        </p:nvSpPr>
        <p:spPr/>
        <p:txBody>
          <a:bodyPr/>
          <a:lstStyle/>
          <a:p>
            <a:fld id="{5BCAD085-E8A6-8845-BD4E-CB4CCA059FC4}" type="datetimeFigureOut">
              <a:t>12/09/2026</a:t>
            </a:fld>
            <a:endParaRPr/>
          </a:p>
        </p:txBody>
      </p:sp>
      <p:sp>
        <p:nvSpPr>
          <p:cNvPr id="6" name="Footer Placeholder 5">
            <a:extLst>
              <a:ext uri="{FF2B5EF4-FFF2-40B4-BE49-F238E27FC236}">
                <a16:creationId xmlns:a16="http://schemas.microsoft.com/office/drawing/2014/main" id="{FC263E00-7DAB-4F3C-9323-93C1301FC98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835116D-55B3-487D-8F7F-98A42A6D7F1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D1836-C9DD-4183-B6CB-04D40E85325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C0CCC799-075F-42BA-85AB-26AAEBE75AA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9DC101C-9C52-43A4-BD02-754B5E6CFE28}"/>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6B807240-93D7-4DD6-B735-9EFD9960EEB1}"/>
              </a:ext>
            </a:extLst>
          </p:cNvPr>
          <p:cNvSpPr>
            <a:spLocks noGrp="1"/>
          </p:cNvSpPr>
          <p:nvPr>
            <p:ph type="dt" idx="10"/>
          </p:nvPr>
        </p:nvSpPr>
        <p:spPr/>
        <p:txBody>
          <a:bodyPr/>
          <a:lstStyle/>
          <a:p>
            <a:fld id="{5BCAD085-E8A6-8845-BD4E-CB4CCA059FC4}" type="datetimeFigureOut">
              <a:t>12/09/2026</a:t>
            </a:fld>
            <a:endParaRPr/>
          </a:p>
        </p:txBody>
      </p:sp>
      <p:sp>
        <p:nvSpPr>
          <p:cNvPr id="6" name="Footer Placeholder 5">
            <a:extLst>
              <a:ext uri="{FF2B5EF4-FFF2-40B4-BE49-F238E27FC236}">
                <a16:creationId xmlns:a16="http://schemas.microsoft.com/office/drawing/2014/main" id="{BDD03988-087B-413D-A63B-228282F946E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CE9816B-59B3-42D9-9535-C98AC5E6286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79ABD-E43B-48FC-A0E3-C743E819CCE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503731F-5687-4308-B3CD-D916CCD4AF6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2DDB045-4FB3-49B4-953A-135B601BCDBF}"/>
              </a:ext>
            </a:extLst>
          </p:cNvPr>
          <p:cNvSpPr>
            <a:spLocks noGrp="1"/>
          </p:cNvSpPr>
          <p:nvPr>
            <p:ph type="dt" idx="10"/>
          </p:nvPr>
        </p:nvSpPr>
        <p:spPr/>
        <p:txBody>
          <a:bodyPr/>
          <a:lstStyle/>
          <a:p>
            <a:fld id="{5BCAD085-E8A6-8845-BD4E-CB4CCA059FC4}" type="datetimeFigureOut">
              <a:t>12/09/2026</a:t>
            </a:fld>
            <a:endParaRPr/>
          </a:p>
        </p:txBody>
      </p:sp>
      <p:sp>
        <p:nvSpPr>
          <p:cNvPr id="5" name="Footer Placeholder 4">
            <a:extLst>
              <a:ext uri="{FF2B5EF4-FFF2-40B4-BE49-F238E27FC236}">
                <a16:creationId xmlns:a16="http://schemas.microsoft.com/office/drawing/2014/main" id="{FB38B454-C833-49DF-88DD-A55C8562664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EC504EC-41E2-4CAF-BF6B-51469A73C7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EAEFD5-BD6A-433C-97FD-DCD964ED7CB5}"/>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D9DA7DB-C875-4509-9AEB-08624FC7A111}"/>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97EA71A-34B0-4843-B9BD-AC938C31EB86}"/>
              </a:ext>
            </a:extLst>
          </p:cNvPr>
          <p:cNvSpPr>
            <a:spLocks noGrp="1"/>
          </p:cNvSpPr>
          <p:nvPr>
            <p:ph type="dt" idx="10"/>
          </p:nvPr>
        </p:nvSpPr>
        <p:spPr/>
        <p:txBody>
          <a:bodyPr/>
          <a:lstStyle/>
          <a:p>
            <a:fld id="{5BCAD085-E8A6-8845-BD4E-CB4CCA059FC4}" type="datetimeFigureOut">
              <a:t>12/09/2026</a:t>
            </a:fld>
            <a:endParaRPr/>
          </a:p>
        </p:txBody>
      </p:sp>
      <p:sp>
        <p:nvSpPr>
          <p:cNvPr id="5" name="Footer Placeholder 4">
            <a:extLst>
              <a:ext uri="{FF2B5EF4-FFF2-40B4-BE49-F238E27FC236}">
                <a16:creationId xmlns:a16="http://schemas.microsoft.com/office/drawing/2014/main" id="{BB9D45FF-850F-4C96-BE9E-32F14204EC1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53015FF-02A1-4D54-9CED-557FD91209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447355-2A4F-4F5B-BA1E-19DF05957D0D}"/>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D956A0F-F5D7-45FE-8658-9193FB36CE83}"/>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rPr lang="en-US" dirty="0"/>
              <a:t>CLICK TO EDIT MASTER TEXT STYLES</a:t>
            </a:r>
          </a:p>
          <a:p>
            <a:pPr lvl="1">
              <a:buNone/>
            </a:pPr>
            <a:r>
              <a:rPr lang="en-US" dirty="0"/>
              <a:t>SECOND LEVEL</a:t>
            </a:r>
          </a:p>
          <a:p>
            <a:pPr lvl="2">
              <a:buNone/>
            </a:pPr>
            <a:r>
              <a:rPr lang="en-US" dirty="0"/>
              <a:t>THIRD LEVEL</a:t>
            </a:r>
          </a:p>
          <a:p>
            <a:pPr lvl="3">
              <a:buNone/>
            </a:pPr>
            <a:r>
              <a:rPr lang="en-US" dirty="0"/>
              <a:t>FOURTH LEVEL</a:t>
            </a:r>
          </a:p>
          <a:p>
            <a:pPr lvl="4">
              <a:buNone/>
            </a:pPr>
            <a:r>
              <a:rPr lang="en-US" dirty="0"/>
              <a:t>FIFTH LEVEL</a:t>
            </a:r>
          </a:p>
        </p:txBody>
      </p:sp>
      <p:sp>
        <p:nvSpPr>
          <p:cNvPr id="4" name="Date Placeholder 3">
            <a:extLst>
              <a:ext uri="{FF2B5EF4-FFF2-40B4-BE49-F238E27FC236}">
                <a16:creationId xmlns:a16="http://schemas.microsoft.com/office/drawing/2014/main" id="{18AEF122-5FFD-461C-9A51-230B33F4BC0A}"/>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lang="en-US" smtClean="0"/>
              <a:t>9/12/2026</a:t>
            </a:fld>
            <a:endParaRPr lang="en-US" dirty="0"/>
          </a:p>
        </p:txBody>
      </p:sp>
      <p:sp>
        <p:nvSpPr>
          <p:cNvPr id="5" name="Footer Placeholder 4">
            <a:extLst>
              <a:ext uri="{FF2B5EF4-FFF2-40B4-BE49-F238E27FC236}">
                <a16:creationId xmlns:a16="http://schemas.microsoft.com/office/drawing/2014/main" id="{25E4D20E-D3E3-4B57-8AFF-220AB33B2C7E}"/>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ECC2804-CA22-4816-88A4-59D76B9955A4}"/>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3000" kern="1200">
          <a:solidFill>
            <a:schemeClr val="tx1"/>
          </a:solidFill>
          <a:latin typeface="+mj-lt"/>
          <a:ea typeface="+mj-lt"/>
          <a:cs typeface="+mj-lt"/>
        </a:defRPr>
      </a:lvl1pPr>
    </p:titleStyle>
    <p:bodyStyle>
      <a:lvl1pPr marL="342900" indent="-342900" algn="l" defTabSz="457200">
        <a:spcBef>
          <a:spcPct val="20000"/>
        </a:spcBef>
        <a:buFont typeface="Arial"/>
        <a:buChar char="•"/>
        <a:defRPr sz="2000" kern="1200">
          <a:solidFill>
            <a:schemeClr val="tx1"/>
          </a:solidFill>
          <a:latin typeface="+mn-lt"/>
          <a:ea typeface="+mn-lt"/>
          <a:cs typeface="+mn-lt"/>
        </a:defRPr>
      </a:lvl1pPr>
      <a:lvl2pPr marL="742950" indent="-285750" algn="l" defTabSz="457200">
        <a:spcBef>
          <a:spcPct val="20000"/>
        </a:spcBef>
        <a:buFont typeface="Arial"/>
        <a:buChar char="–"/>
        <a:defRPr sz="2000" kern="1200">
          <a:solidFill>
            <a:schemeClr val="tx1"/>
          </a:solidFill>
          <a:latin typeface="+mn-lt"/>
          <a:ea typeface="+mn-lt"/>
          <a:cs typeface="+mn-lt"/>
        </a:defRPr>
      </a:lvl2pPr>
      <a:lvl3pPr marL="1143000" indent="-228600" algn="l" defTabSz="457200">
        <a:spcBef>
          <a:spcPct val="20000"/>
        </a:spcBef>
        <a:buFont typeface="Arial"/>
        <a:buChar char="•"/>
        <a:defRPr sz="20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40080"/>
            <a:ext cx="2743200" cy="320040"/>
          </a:xfrm>
          <a:prstGeom prst="rect">
            <a:avLst/>
          </a:prstGeom>
          <a:noFill/>
        </p:spPr>
        <p:txBody>
          <a:bodyPr wrap="square" lIns="18288" tIns="18288" rIns="18288" bIns="18288">
            <a:normAutofit/>
          </a:bodyPr>
          <a:lstStyle/>
          <a:p>
            <a:pPr algn="l"/>
            <a:r>
              <a:rPr sz="1300" b="1" i="0">
                <a:solidFill>
                  <a:srgbClr val="D4AF37"/>
                </a:solidFill>
                <a:latin typeface="Aptos"/>
              </a:rPr>
              <a:t>ĐÀO TẠO NGÀY 2</a:t>
            </a:r>
          </a:p>
        </p:txBody>
      </p:sp>
      <p:sp>
        <p:nvSpPr>
          <p:cNvPr id="4" name="TextBox 3"/>
          <p:cNvSpPr txBox="1"/>
          <p:nvPr/>
        </p:nvSpPr>
        <p:spPr>
          <a:xfrm>
            <a:off x="640080" y="1325880"/>
            <a:ext cx="10515600" cy="1280160"/>
          </a:xfrm>
          <a:prstGeom prst="rect">
            <a:avLst/>
          </a:prstGeom>
          <a:noFill/>
        </p:spPr>
        <p:txBody>
          <a:bodyPr wrap="square" lIns="18288" tIns="18288" rIns="18288" bIns="18288">
            <a:normAutofit/>
          </a:bodyPr>
          <a:lstStyle/>
          <a:p>
            <a:pPr algn="l"/>
            <a:r>
              <a:rPr sz="3100" b="1" i="0">
                <a:solidFill>
                  <a:srgbClr val="FFFFFF"/>
                </a:solidFill>
                <a:latin typeface="Aptos Display"/>
              </a:rPr>
              <a:t>TỪ “ĐI TÌM NGƯỜI” →
“XÂY NƠI NGƯỜI PHÙ HỢP TỰ TÌM ĐẾN”</a:t>
            </a:r>
          </a:p>
        </p:txBody>
      </p:sp>
      <p:sp>
        <p:nvSpPr>
          <p:cNvPr id="5" name="TextBox 4"/>
          <p:cNvSpPr txBox="1"/>
          <p:nvPr/>
        </p:nvSpPr>
        <p:spPr>
          <a:xfrm>
            <a:off x="658368" y="2926080"/>
            <a:ext cx="9966960" cy="502920"/>
          </a:xfrm>
          <a:prstGeom prst="rect">
            <a:avLst/>
          </a:prstGeom>
          <a:noFill/>
        </p:spPr>
        <p:txBody>
          <a:bodyPr wrap="square" lIns="18288" tIns="18288" rIns="18288" bIns="18288">
            <a:normAutofit/>
          </a:bodyPr>
          <a:lstStyle/>
          <a:p>
            <a:pPr algn="l"/>
            <a:r>
              <a:rPr sz="1800" b="0" i="0">
                <a:solidFill>
                  <a:srgbClr val="CDDEEE"/>
                </a:solidFill>
                <a:latin typeface="Aptos"/>
              </a:rPr>
              <a:t>Một quy trình hút người phù hợp chủ động tìm hiểu — thay vì bạn phải liên tục đi mời.</a:t>
            </a:r>
          </a:p>
        </p:txBody>
      </p:sp>
      <p:sp>
        <p:nvSpPr>
          <p:cNvPr id="6" name="Rounded Rectangle 5"/>
          <p:cNvSpPr/>
          <p:nvPr/>
        </p:nvSpPr>
        <p:spPr>
          <a:xfrm>
            <a:off x="658368" y="3886200"/>
            <a:ext cx="10789920" cy="1325880"/>
          </a:xfrm>
          <a:prstGeom prst="roundRect">
            <a:avLst/>
          </a:prstGeom>
          <a:solidFill>
            <a:srgbClr val="0D2B48"/>
          </a:solidFill>
          <a:ln w="12700">
            <a:solidFill>
              <a:srgbClr val="244F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160520"/>
            <a:ext cx="2926080" cy="274320"/>
          </a:xfrm>
          <a:prstGeom prst="rect">
            <a:avLst/>
          </a:prstGeom>
          <a:noFill/>
        </p:spPr>
        <p:txBody>
          <a:bodyPr wrap="square" lIns="18288" tIns="18288" rIns="18288" bIns="18288">
            <a:normAutofit/>
          </a:bodyPr>
          <a:lstStyle/>
          <a:p>
            <a:pPr algn="l"/>
            <a:r>
              <a:rPr sz="1000" b="1" i="0">
                <a:solidFill>
                  <a:srgbClr val="D4AF37"/>
                </a:solidFill>
                <a:latin typeface="Aptos"/>
              </a:rPr>
              <a:t>BÍ MẬT CỦA PHƯƠNG THỨC MỚI</a:t>
            </a:r>
          </a:p>
        </p:txBody>
      </p:sp>
      <p:sp>
        <p:nvSpPr>
          <p:cNvPr id="8" name="TextBox 7"/>
          <p:cNvSpPr txBox="1"/>
          <p:nvPr/>
        </p:nvSpPr>
        <p:spPr>
          <a:xfrm>
            <a:off x="914400" y="4553712"/>
            <a:ext cx="9966960" cy="457200"/>
          </a:xfrm>
          <a:prstGeom prst="rect">
            <a:avLst/>
          </a:prstGeom>
          <a:noFill/>
        </p:spPr>
        <p:txBody>
          <a:bodyPr wrap="square" lIns="18288" tIns="18288" rIns="18288" bIns="18288">
            <a:normAutofit/>
          </a:bodyPr>
          <a:lstStyle/>
          <a:p>
            <a:pPr algn="l"/>
            <a:r>
              <a:rPr sz="1900" b="1" i="0">
                <a:solidFill>
                  <a:srgbClr val="FFFFFF"/>
                </a:solidFill>
                <a:latin typeface="Aptos"/>
              </a:rPr>
              <a:t>Xây kênh → tạo giá trị → tạo tín hiệu → trải nghiệm → ứng viên phù hợp</a:t>
            </a:r>
          </a:p>
        </p:txBody>
      </p:sp>
      <p:sp>
        <p:nvSpPr>
          <p:cNvPr id="9" name="TextBox 8"/>
          <p:cNvSpPr txBox="1"/>
          <p:nvPr/>
        </p:nvSpPr>
        <p:spPr>
          <a:xfrm>
            <a:off x="658368" y="6144768"/>
            <a:ext cx="5486400" cy="274320"/>
          </a:xfrm>
          <a:prstGeom prst="rect">
            <a:avLst/>
          </a:prstGeom>
          <a:noFill/>
        </p:spPr>
        <p:txBody>
          <a:bodyPr wrap="square" lIns="18288" tIns="18288" rIns="18288" bIns="18288">
            <a:normAutofit/>
          </a:bodyPr>
          <a:lstStyle/>
          <a:p>
            <a:pPr algn="l"/>
            <a:r>
              <a:rPr sz="1000" b="1" i="0">
                <a:solidFill>
                  <a:srgbClr val="A5BCD0"/>
                </a:solidFill>
                <a:latin typeface="Aptos"/>
              </a:rPr>
              <a:t>TRẦN THỊ THÚY  •  HÚT CỘNG ĐỒNG TỰ ĐỘNG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TƯ DUY</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lang="en-US" sz="2500" b="1" i="0" dirty="0">
                <a:solidFill>
                  <a:srgbClr val="08182B"/>
                </a:solidFill>
                <a:latin typeface="Aptos Display"/>
              </a:rPr>
              <a:t>ONLINE LÀ CON ĐƯỜNG DUY NHẤT ĐỂ BỨT PHÁ </a:t>
            </a:r>
            <a:endParaRPr sz="2500" b="1" i="0" dirty="0">
              <a:solidFill>
                <a:srgbClr val="08182B"/>
              </a:solidFill>
              <a:latin typeface="Aptos Display"/>
            </a:endParaRP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02</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20" name="TextBox 19"/>
          <p:cNvSpPr txBox="1"/>
          <p:nvPr/>
        </p:nvSpPr>
        <p:spPr>
          <a:xfrm>
            <a:off x="134911" y="1627631"/>
            <a:ext cx="10332720" cy="4718305"/>
          </a:xfrm>
          <a:prstGeom prst="rect">
            <a:avLst/>
          </a:prstGeom>
          <a:noFill/>
        </p:spPr>
        <p:txBody>
          <a:bodyPr wrap="square" lIns="18288" tIns="18288" rIns="18288" bIns="18288">
            <a:normAutofit/>
          </a:bodyPr>
          <a:lstStyle/>
          <a:p>
            <a:pPr marL="342900" indent="-342900">
              <a:buAutoNum type="arabicPeriod"/>
            </a:pPr>
            <a:r>
              <a:rPr lang="en-US" sz="2400" dirty="0" err="1"/>
              <a:t>Vì</a:t>
            </a:r>
            <a:r>
              <a:rPr lang="en-US" sz="2400" dirty="0"/>
              <a:t> </a:t>
            </a:r>
            <a:r>
              <a:rPr lang="en-US" sz="2400" dirty="0" err="1"/>
              <a:t>khách</a:t>
            </a:r>
            <a:r>
              <a:rPr lang="en-US" sz="2400" dirty="0"/>
              <a:t> </a:t>
            </a:r>
            <a:r>
              <a:rPr lang="en-US" sz="2400" dirty="0" err="1"/>
              <a:t>hàng</a:t>
            </a:r>
            <a:r>
              <a:rPr lang="en-US" sz="2400" dirty="0"/>
              <a:t> </a:t>
            </a:r>
            <a:r>
              <a:rPr lang="en-US" sz="2400" dirty="0" err="1"/>
              <a:t>đã</a:t>
            </a:r>
            <a:r>
              <a:rPr lang="en-US" sz="2400" dirty="0"/>
              <a:t> </a:t>
            </a:r>
            <a:r>
              <a:rPr lang="en-US" sz="2400" dirty="0" err="1"/>
              <a:t>thay</a:t>
            </a:r>
            <a:r>
              <a:rPr lang="en-US" sz="2400" dirty="0"/>
              <a:t> </a:t>
            </a:r>
            <a:r>
              <a:rPr lang="en-US" sz="2400" dirty="0" err="1"/>
              <a:t>đổi</a:t>
            </a:r>
            <a:endParaRPr lang="en-US" sz="2400" dirty="0"/>
          </a:p>
          <a:p>
            <a:pPr marL="342900" indent="-342900">
              <a:buAutoNum type="arabicPeriod"/>
            </a:pPr>
            <a:r>
              <a:rPr lang="en-US" sz="2400" dirty="0" err="1"/>
              <a:t>Vì</a:t>
            </a:r>
            <a:r>
              <a:rPr lang="en-US" sz="2400" dirty="0"/>
              <a:t> online </a:t>
            </a:r>
            <a:r>
              <a:rPr lang="en-US" sz="2400" dirty="0" err="1"/>
              <a:t>đã</a:t>
            </a:r>
            <a:r>
              <a:rPr lang="en-US" sz="2400" dirty="0"/>
              <a:t> </a:t>
            </a:r>
            <a:r>
              <a:rPr lang="en-US" sz="2400" dirty="0" err="1"/>
              <a:t>trở</a:t>
            </a:r>
            <a:r>
              <a:rPr lang="en-US" sz="2400" dirty="0"/>
              <a:t> </a:t>
            </a:r>
            <a:r>
              <a:rPr lang="en-US" sz="2400" dirty="0" err="1"/>
              <a:t>thành</a:t>
            </a:r>
            <a:r>
              <a:rPr lang="en-US" sz="2400" dirty="0"/>
              <a:t> “</a:t>
            </a:r>
            <a:r>
              <a:rPr lang="en-US" sz="2400" dirty="0" err="1"/>
              <a:t>mặt</a:t>
            </a:r>
            <a:r>
              <a:rPr lang="en-US" sz="2400" dirty="0"/>
              <a:t> </a:t>
            </a:r>
            <a:r>
              <a:rPr lang="en-US" sz="2400" dirty="0" err="1"/>
              <a:t>bằng</a:t>
            </a:r>
            <a:r>
              <a:rPr lang="en-US" sz="2400" dirty="0"/>
              <a:t> </a:t>
            </a:r>
            <a:r>
              <a:rPr lang="en-US" sz="2400" dirty="0" err="1"/>
              <a:t>kinh</a:t>
            </a:r>
            <a:r>
              <a:rPr lang="en-US" sz="2400" dirty="0"/>
              <a:t> </a:t>
            </a:r>
            <a:r>
              <a:rPr lang="en-US" sz="2400" dirty="0" err="1"/>
              <a:t>doanh</a:t>
            </a:r>
            <a:r>
              <a:rPr lang="en-US" sz="2400" dirty="0"/>
              <a:t>” </a:t>
            </a:r>
            <a:r>
              <a:rPr lang="en-US" sz="2400" dirty="0" err="1"/>
              <a:t>mới</a:t>
            </a:r>
            <a:endParaRPr lang="en-US" sz="2400" dirty="0"/>
          </a:p>
          <a:p>
            <a:pPr marL="342900" indent="-342900">
              <a:buAutoNum type="arabicPeriod"/>
            </a:pPr>
            <a:r>
              <a:rPr lang="en-US" sz="2400" dirty="0" err="1"/>
              <a:t>Vì</a:t>
            </a:r>
            <a:r>
              <a:rPr lang="en-US" sz="2400" dirty="0"/>
              <a:t> </a:t>
            </a:r>
            <a:r>
              <a:rPr lang="en-US" sz="2400" dirty="0" err="1"/>
              <a:t>cách</a:t>
            </a:r>
            <a:r>
              <a:rPr lang="en-US" sz="2400" dirty="0"/>
              <a:t> </a:t>
            </a:r>
            <a:r>
              <a:rPr lang="en-US" sz="2400" dirty="0" err="1"/>
              <a:t>cạnh</a:t>
            </a:r>
            <a:r>
              <a:rPr lang="en-US" sz="2400" dirty="0"/>
              <a:t> </a:t>
            </a:r>
            <a:r>
              <a:rPr lang="en-US" sz="2400" dirty="0" err="1"/>
              <a:t>tranh</a:t>
            </a:r>
            <a:r>
              <a:rPr lang="en-US" sz="2400" dirty="0"/>
              <a:t> </a:t>
            </a:r>
            <a:r>
              <a:rPr lang="en-US" sz="2400" dirty="0" err="1"/>
              <a:t>đã</a:t>
            </a:r>
            <a:r>
              <a:rPr lang="en-US" sz="2400" dirty="0"/>
              <a:t> </a:t>
            </a:r>
            <a:r>
              <a:rPr lang="en-US" sz="2400" dirty="0" err="1"/>
              <a:t>thay</a:t>
            </a:r>
            <a:r>
              <a:rPr lang="en-US" sz="2400" dirty="0"/>
              <a:t> </a:t>
            </a:r>
            <a:r>
              <a:rPr lang="en-US" sz="2400" dirty="0" err="1"/>
              <a:t>đổi</a:t>
            </a:r>
            <a:endParaRPr lang="en-US" sz="2400" dirty="0"/>
          </a:p>
          <a:p>
            <a:pPr marL="342900" indent="-342900">
              <a:buAutoNum type="arabicPeriod"/>
            </a:pPr>
            <a:r>
              <a:rPr lang="en-US" sz="2400" dirty="0" err="1"/>
              <a:t>Vì</a:t>
            </a:r>
            <a:r>
              <a:rPr lang="en-US" sz="2400" dirty="0"/>
              <a:t> “</a:t>
            </a:r>
            <a:r>
              <a:rPr lang="en-US" sz="2400" dirty="0" err="1"/>
              <a:t>niềm</a:t>
            </a:r>
            <a:r>
              <a:rPr lang="en-US" sz="2400" dirty="0"/>
              <a:t> tin” </a:t>
            </a:r>
            <a:r>
              <a:rPr lang="en-US" sz="2400" dirty="0" err="1"/>
              <a:t>cũng</a:t>
            </a:r>
            <a:r>
              <a:rPr lang="en-US" sz="2400" dirty="0"/>
              <a:t> </a:t>
            </a:r>
            <a:r>
              <a:rPr lang="en-US" sz="2400" dirty="0" err="1"/>
              <a:t>đang</a:t>
            </a:r>
            <a:r>
              <a:rPr lang="en-US" sz="2400" dirty="0"/>
              <a:t> </a:t>
            </a:r>
            <a:r>
              <a:rPr lang="en-US" sz="2400" dirty="0" err="1"/>
              <a:t>dịch</a:t>
            </a:r>
            <a:r>
              <a:rPr lang="en-US" sz="2400" dirty="0"/>
              <a:t> </a:t>
            </a:r>
            <a:r>
              <a:rPr lang="en-US" sz="2400" dirty="0" err="1"/>
              <a:t>chuyển</a:t>
            </a:r>
            <a:r>
              <a:rPr lang="en-US" sz="2400" dirty="0"/>
              <a:t> </a:t>
            </a:r>
            <a:r>
              <a:rPr lang="en-US" sz="2400" dirty="0" err="1"/>
              <a:t>lên</a:t>
            </a:r>
            <a:r>
              <a:rPr lang="en-US" sz="2400" dirty="0"/>
              <a:t> online</a:t>
            </a:r>
          </a:p>
          <a:p>
            <a:pPr marL="342900" indent="-342900">
              <a:buAutoNum type="arabicPeriod"/>
            </a:pPr>
            <a:r>
              <a:rPr lang="en-US" sz="2400" dirty="0" err="1"/>
              <a:t>Vì</a:t>
            </a:r>
            <a:r>
              <a:rPr lang="en-US" sz="2400" dirty="0"/>
              <a:t> online </a:t>
            </a:r>
            <a:r>
              <a:rPr lang="en-US" sz="2400" dirty="0" err="1"/>
              <a:t>cho</a:t>
            </a:r>
            <a:r>
              <a:rPr lang="en-US" sz="2400" dirty="0"/>
              <a:t> </a:t>
            </a:r>
            <a:r>
              <a:rPr lang="en-US" sz="2400" dirty="0" err="1"/>
              <a:t>phép</a:t>
            </a:r>
            <a:r>
              <a:rPr lang="en-US" sz="2400" dirty="0"/>
              <a:t> “</a:t>
            </a:r>
            <a:r>
              <a:rPr lang="en-US" sz="2400" dirty="0" err="1"/>
              <a:t>một</a:t>
            </a:r>
            <a:r>
              <a:rPr lang="en-US" sz="2400" dirty="0"/>
              <a:t> </a:t>
            </a:r>
            <a:r>
              <a:rPr lang="en-US" sz="2400" dirty="0" err="1"/>
              <a:t>lần</a:t>
            </a:r>
            <a:r>
              <a:rPr lang="en-US" sz="2400" dirty="0"/>
              <a:t> </a:t>
            </a:r>
            <a:r>
              <a:rPr lang="en-US" sz="2400" dirty="0" err="1"/>
              <a:t>làm</a:t>
            </a:r>
            <a:r>
              <a:rPr lang="en-US" sz="2400" dirty="0"/>
              <a:t> – </a:t>
            </a:r>
            <a:r>
              <a:rPr lang="en-US" sz="2400" dirty="0" err="1"/>
              <a:t>nhiều</a:t>
            </a:r>
            <a:r>
              <a:rPr lang="en-US" sz="2400" dirty="0"/>
              <a:t> </a:t>
            </a:r>
            <a:r>
              <a:rPr lang="en-US" sz="2400" dirty="0" err="1"/>
              <a:t>lần</a:t>
            </a:r>
            <a:r>
              <a:rPr lang="en-US" sz="2400" dirty="0"/>
              <a:t> </a:t>
            </a:r>
            <a:r>
              <a:rPr lang="en-US" sz="2400" dirty="0" err="1"/>
              <a:t>sử</a:t>
            </a:r>
            <a:r>
              <a:rPr lang="en-US" sz="2400" dirty="0"/>
              <a:t> </a:t>
            </a:r>
            <a:r>
              <a:rPr lang="en-US" sz="2400" dirty="0" err="1"/>
              <a:t>dụng</a:t>
            </a:r>
            <a:r>
              <a:rPr lang="en-US" sz="2400" dirty="0"/>
              <a:t>”</a:t>
            </a:r>
          </a:p>
          <a:p>
            <a:pPr marL="342900" indent="-342900">
              <a:buAutoNum type="arabicPeriod"/>
            </a:pPr>
            <a:r>
              <a:rPr lang="en-US" sz="2400" dirty="0" err="1"/>
              <a:t>Vì</a:t>
            </a:r>
            <a:r>
              <a:rPr lang="en-US" sz="2400" dirty="0"/>
              <a:t> </a:t>
            </a:r>
            <a:r>
              <a:rPr lang="en-US" sz="2400" dirty="0" err="1"/>
              <a:t>tự</a:t>
            </a:r>
            <a:r>
              <a:rPr lang="en-US" sz="2400" dirty="0"/>
              <a:t> </a:t>
            </a:r>
            <a:r>
              <a:rPr lang="en-US" sz="2400" dirty="0" err="1"/>
              <a:t>động</a:t>
            </a:r>
            <a:r>
              <a:rPr lang="en-US" sz="2400" dirty="0"/>
              <a:t> </a:t>
            </a:r>
            <a:r>
              <a:rPr lang="en-US" sz="2400" dirty="0" err="1"/>
              <a:t>hóa</a:t>
            </a:r>
            <a:r>
              <a:rPr lang="en-US" sz="2400" dirty="0"/>
              <a:t> </a:t>
            </a:r>
            <a:r>
              <a:rPr lang="en-US" sz="2400" dirty="0" err="1"/>
              <a:t>đang</a:t>
            </a:r>
            <a:r>
              <a:rPr lang="en-US" sz="2400" dirty="0"/>
              <a:t> </a:t>
            </a:r>
            <a:r>
              <a:rPr lang="en-US" sz="2400" dirty="0" err="1"/>
              <a:t>thay</a:t>
            </a:r>
            <a:r>
              <a:rPr lang="en-US" sz="2400" dirty="0"/>
              <a:t> </a:t>
            </a:r>
            <a:r>
              <a:rPr lang="en-US" sz="2400" dirty="0" err="1"/>
              <a:t>đổi</a:t>
            </a:r>
            <a:r>
              <a:rPr lang="en-US" sz="2400" dirty="0"/>
              <a:t> </a:t>
            </a:r>
            <a:r>
              <a:rPr lang="en-US" sz="2400" dirty="0" err="1"/>
              <a:t>cách</a:t>
            </a:r>
            <a:r>
              <a:rPr lang="en-US" sz="2400" dirty="0"/>
              <a:t> </a:t>
            </a:r>
            <a:r>
              <a:rPr lang="en-US" sz="2400" dirty="0" err="1"/>
              <a:t>vận</a:t>
            </a:r>
            <a:r>
              <a:rPr lang="en-US" sz="2400" dirty="0"/>
              <a:t> </a:t>
            </a:r>
            <a:r>
              <a:rPr lang="en-US" sz="2400" dirty="0" err="1"/>
              <a:t>hành</a:t>
            </a:r>
            <a:endParaRPr lang="en-US" sz="2400" dirty="0"/>
          </a:p>
          <a:p>
            <a:pPr marL="342900" indent="-342900">
              <a:buAutoNum type="arabicPeriod"/>
            </a:pPr>
            <a:r>
              <a:rPr lang="vi-VN" sz="2400" dirty="0"/>
              <a:t>Nhưng có một điều còn quan trọng hơn: không phải “lên online” mà là “chuyển đổi tư duy”</a:t>
            </a:r>
            <a:endParaRPr sz="2400" b="1" i="0" dirty="0">
              <a:solidFill>
                <a:srgbClr val="08182B"/>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MỤC TIÊU</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Sau buổi 2, anh chị làm được gì?</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27632"/>
            <a:ext cx="10607040" cy="530352"/>
          </a:xfrm>
          <a:prstGeom prst="rect">
            <a:avLst/>
          </a:prstGeom>
          <a:noFill/>
        </p:spPr>
        <p:txBody>
          <a:bodyPr wrap="square" lIns="18288" tIns="18288" rIns="18288" bIns="18288" anchor="t">
            <a:spAutoFit/>
          </a:bodyPr>
          <a:lstStyle/>
          <a:p>
            <a:pPr algn="l"/>
            <a:r>
              <a:rPr sz="1600" b="0">
                <a:solidFill>
                  <a:srgbClr val="5B6876"/>
                </a:solidFill>
                <a:latin typeface="Aptos"/>
              </a:rPr>
              <a:t>Không học để biết. Học để có một hệ thống có thể bắt tay làm ngay.</a:t>
            </a:r>
          </a:p>
        </p:txBody>
      </p:sp>
      <p:sp>
        <p:nvSpPr>
          <p:cNvPr id="6" name="TextBox 5"/>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7" name="TextBox 6"/>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02</a:t>
            </a:r>
          </a:p>
        </p:txBody>
      </p:sp>
      <p:sp>
        <p:nvSpPr>
          <p:cNvPr id="8" name="Rounded Rectangle 7"/>
          <p:cNvSpPr/>
          <p:nvPr/>
        </p:nvSpPr>
        <p:spPr>
          <a:xfrm>
            <a:off x="685800" y="2057400"/>
            <a:ext cx="5257800" cy="36118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221992"/>
            <a:ext cx="4800600" cy="347472"/>
          </a:xfrm>
          <a:prstGeom prst="rect">
            <a:avLst/>
          </a:prstGeom>
          <a:noFill/>
        </p:spPr>
        <p:txBody>
          <a:bodyPr wrap="square" lIns="18288" tIns="18288" rIns="18288" bIns="18288" anchor="t">
            <a:spAutoFit/>
          </a:bodyPr>
          <a:lstStyle/>
          <a:p>
            <a:pPr algn="l"/>
            <a:r>
              <a:rPr sz="1600" b="1">
                <a:solidFill>
                  <a:srgbClr val="124673"/>
                </a:solidFill>
                <a:latin typeface="Aptos"/>
              </a:rPr>
              <a:t>TƯ DUY MỚI</a:t>
            </a:r>
          </a:p>
        </p:txBody>
      </p:sp>
      <p:sp>
        <p:nvSpPr>
          <p:cNvPr id="10" name="TextBox 9"/>
          <p:cNvSpPr txBox="1"/>
          <p:nvPr/>
        </p:nvSpPr>
        <p:spPr>
          <a:xfrm>
            <a:off x="914400" y="2679192"/>
            <a:ext cx="4800600" cy="2834640"/>
          </a:xfrm>
          <a:prstGeom prst="rect">
            <a:avLst/>
          </a:prstGeom>
          <a:noFill/>
        </p:spPr>
        <p:txBody>
          <a:bodyPr wrap="square" lIns="18288" tIns="18288" rIns="18288" bIns="18288" anchor="t">
            <a:spAutoFit/>
          </a:bodyPr>
          <a:lstStyle/>
          <a:p>
            <a:pPr algn="l"/>
            <a:r>
              <a:rPr sz="1600" b="0" dirty="0">
                <a:solidFill>
                  <a:srgbClr val="1E2A37"/>
                </a:solidFill>
                <a:latin typeface="Aptos"/>
              </a:rPr>
              <a:t>• </a:t>
            </a:r>
            <a:r>
              <a:rPr sz="1600" b="0" dirty="0" err="1">
                <a:solidFill>
                  <a:srgbClr val="1E2A37"/>
                </a:solidFill>
                <a:latin typeface="Aptos"/>
              </a:rPr>
              <a:t>Hiểu</a:t>
            </a:r>
            <a:r>
              <a:rPr sz="1600" b="0" dirty="0">
                <a:solidFill>
                  <a:srgbClr val="1E2A37"/>
                </a:solidFill>
                <a:latin typeface="Aptos"/>
              </a:rPr>
              <a:t> </a:t>
            </a:r>
            <a:r>
              <a:rPr sz="1600" b="0" dirty="0" err="1">
                <a:solidFill>
                  <a:srgbClr val="1E2A37"/>
                </a:solidFill>
                <a:latin typeface="Aptos"/>
              </a:rPr>
              <a:t>vì</a:t>
            </a:r>
            <a:r>
              <a:rPr sz="1600" b="0" dirty="0">
                <a:solidFill>
                  <a:srgbClr val="1E2A37"/>
                </a:solidFill>
                <a:latin typeface="Aptos"/>
              </a:rPr>
              <a:t> </a:t>
            </a:r>
            <a:r>
              <a:rPr sz="1600" b="0" dirty="0" err="1">
                <a:solidFill>
                  <a:srgbClr val="1E2A37"/>
                </a:solidFill>
                <a:latin typeface="Aptos"/>
              </a:rPr>
              <a:t>sao</a:t>
            </a:r>
            <a:r>
              <a:rPr sz="1600" b="0" dirty="0">
                <a:solidFill>
                  <a:srgbClr val="1E2A37"/>
                </a:solidFill>
                <a:latin typeface="Aptos"/>
              </a:rPr>
              <a:t> </a:t>
            </a:r>
            <a:r>
              <a:rPr sz="1600" b="0" dirty="0" err="1">
                <a:solidFill>
                  <a:srgbClr val="1E2A37"/>
                </a:solidFill>
                <a:latin typeface="Aptos"/>
              </a:rPr>
              <a:t>xây</a:t>
            </a:r>
            <a:r>
              <a:rPr sz="1600" b="0" dirty="0">
                <a:solidFill>
                  <a:srgbClr val="1E2A37"/>
                </a:solidFill>
                <a:latin typeface="Aptos"/>
              </a:rPr>
              <a:t> </a:t>
            </a:r>
            <a:r>
              <a:rPr sz="1600" b="0" dirty="0" err="1">
                <a:solidFill>
                  <a:srgbClr val="1E2A37"/>
                </a:solidFill>
                <a:latin typeface="Aptos"/>
              </a:rPr>
              <a:t>kênh</a:t>
            </a:r>
            <a:r>
              <a:rPr sz="1600" b="0" dirty="0">
                <a:solidFill>
                  <a:srgbClr val="1E2A37"/>
                </a:solidFill>
                <a:latin typeface="Aptos"/>
              </a:rPr>
              <a:t> </a:t>
            </a:r>
            <a:r>
              <a:rPr sz="1600" b="0" dirty="0" err="1">
                <a:solidFill>
                  <a:srgbClr val="1E2A37"/>
                </a:solidFill>
                <a:latin typeface="Aptos"/>
              </a:rPr>
              <a:t>có</a:t>
            </a:r>
            <a:r>
              <a:rPr sz="1600" b="0" dirty="0">
                <a:solidFill>
                  <a:srgbClr val="1E2A37"/>
                </a:solidFill>
                <a:latin typeface="Aptos"/>
              </a:rPr>
              <a:t> </a:t>
            </a:r>
            <a:r>
              <a:rPr sz="1600" b="0" dirty="0" err="1">
                <a:solidFill>
                  <a:srgbClr val="1E2A37"/>
                </a:solidFill>
                <a:latin typeface="Aptos"/>
              </a:rPr>
              <a:t>thể</a:t>
            </a:r>
            <a:r>
              <a:rPr sz="1600" b="0" dirty="0">
                <a:solidFill>
                  <a:srgbClr val="1E2A37"/>
                </a:solidFill>
                <a:latin typeface="Aptos"/>
              </a:rPr>
              <a:t> </a:t>
            </a:r>
            <a:r>
              <a:rPr sz="1600" b="0" dirty="0" err="1">
                <a:solidFill>
                  <a:srgbClr val="1E2A37"/>
                </a:solidFill>
                <a:latin typeface="Aptos"/>
              </a:rPr>
              <a:t>thay</a:t>
            </a:r>
            <a:r>
              <a:rPr sz="1600" b="0" dirty="0">
                <a:solidFill>
                  <a:srgbClr val="1E2A37"/>
                </a:solidFill>
                <a:latin typeface="Aptos"/>
              </a:rPr>
              <a:t> </a:t>
            </a:r>
            <a:r>
              <a:rPr sz="1600" b="0" dirty="0" err="1">
                <a:solidFill>
                  <a:srgbClr val="1E2A37"/>
                </a:solidFill>
                <a:latin typeface="Aptos"/>
              </a:rPr>
              <a:t>đổi</a:t>
            </a:r>
            <a:r>
              <a:rPr sz="1600" b="0" dirty="0">
                <a:solidFill>
                  <a:srgbClr val="1E2A37"/>
                </a:solidFill>
                <a:latin typeface="Aptos"/>
              </a:rPr>
              <a:t> </a:t>
            </a:r>
            <a:r>
              <a:rPr sz="1600" b="0" dirty="0" err="1">
                <a:solidFill>
                  <a:srgbClr val="1E2A37"/>
                </a:solidFill>
                <a:latin typeface="Aptos"/>
              </a:rPr>
              <a:t>cách</a:t>
            </a:r>
            <a:r>
              <a:rPr sz="1600" b="0" dirty="0">
                <a:solidFill>
                  <a:srgbClr val="1E2A37"/>
                </a:solidFill>
                <a:latin typeface="Aptos"/>
              </a:rPr>
              <a:t> </a:t>
            </a:r>
            <a:r>
              <a:rPr sz="1600" b="0" dirty="0" err="1">
                <a:solidFill>
                  <a:srgbClr val="1E2A37"/>
                </a:solidFill>
                <a:latin typeface="Aptos"/>
              </a:rPr>
              <a:t>tìm</a:t>
            </a:r>
            <a:r>
              <a:rPr sz="1600" b="0" dirty="0">
                <a:solidFill>
                  <a:srgbClr val="1E2A37"/>
                </a:solidFill>
                <a:latin typeface="Aptos"/>
              </a:rPr>
              <a:t> </a:t>
            </a:r>
            <a:r>
              <a:rPr sz="1600" b="0" dirty="0" err="1">
                <a:solidFill>
                  <a:srgbClr val="1E2A37"/>
                </a:solidFill>
                <a:latin typeface="Aptos"/>
              </a:rPr>
              <a:t>ứng</a:t>
            </a:r>
            <a:r>
              <a:rPr sz="1600" b="0" dirty="0">
                <a:solidFill>
                  <a:srgbClr val="1E2A37"/>
                </a:solidFill>
                <a:latin typeface="Aptos"/>
              </a:rPr>
              <a:t> </a:t>
            </a:r>
            <a:r>
              <a:rPr sz="1600" b="0" dirty="0" err="1">
                <a:solidFill>
                  <a:srgbClr val="1E2A37"/>
                </a:solidFill>
                <a:latin typeface="Aptos"/>
              </a:rPr>
              <a:t>viên</a:t>
            </a:r>
            <a:r>
              <a:rPr sz="1600" b="0" dirty="0">
                <a:solidFill>
                  <a:srgbClr val="1E2A37"/>
                </a:solidFill>
                <a:latin typeface="Aptos"/>
              </a:rPr>
              <a:t>.
• </a:t>
            </a:r>
            <a:r>
              <a:rPr sz="1600" b="0" dirty="0" err="1">
                <a:solidFill>
                  <a:srgbClr val="1E2A37"/>
                </a:solidFill>
                <a:latin typeface="Aptos"/>
              </a:rPr>
              <a:t>Phân</a:t>
            </a:r>
            <a:r>
              <a:rPr sz="1600" b="0" dirty="0">
                <a:solidFill>
                  <a:srgbClr val="1E2A37"/>
                </a:solidFill>
                <a:latin typeface="Aptos"/>
              </a:rPr>
              <a:t> </a:t>
            </a:r>
            <a:r>
              <a:rPr sz="1600" b="0" dirty="0" err="1">
                <a:solidFill>
                  <a:srgbClr val="1E2A37"/>
                </a:solidFill>
                <a:latin typeface="Aptos"/>
              </a:rPr>
              <a:t>biệt</a:t>
            </a:r>
            <a:r>
              <a:rPr sz="1600" b="0" dirty="0">
                <a:solidFill>
                  <a:srgbClr val="1E2A37"/>
                </a:solidFill>
                <a:latin typeface="Aptos"/>
              </a:rPr>
              <a:t> “</a:t>
            </a:r>
            <a:r>
              <a:rPr sz="1600" b="0" dirty="0" err="1">
                <a:solidFill>
                  <a:srgbClr val="1E2A37"/>
                </a:solidFill>
                <a:latin typeface="Aptos"/>
              </a:rPr>
              <a:t>tìm</a:t>
            </a:r>
            <a:r>
              <a:rPr sz="1600" b="0" dirty="0">
                <a:solidFill>
                  <a:srgbClr val="1E2A37"/>
                </a:solidFill>
                <a:latin typeface="Aptos"/>
              </a:rPr>
              <a:t> </a:t>
            </a:r>
            <a:r>
              <a:rPr sz="1600" b="0" dirty="0" err="1">
                <a:solidFill>
                  <a:srgbClr val="1E2A37"/>
                </a:solidFill>
                <a:latin typeface="Aptos"/>
              </a:rPr>
              <a:t>người</a:t>
            </a:r>
            <a:r>
              <a:rPr sz="1600" b="0" dirty="0">
                <a:solidFill>
                  <a:srgbClr val="1E2A37"/>
                </a:solidFill>
                <a:latin typeface="Aptos"/>
              </a:rPr>
              <a:t>” </a:t>
            </a:r>
            <a:r>
              <a:rPr sz="1600" b="0" dirty="0" err="1">
                <a:solidFill>
                  <a:srgbClr val="1E2A37"/>
                </a:solidFill>
                <a:latin typeface="Aptos"/>
              </a:rPr>
              <a:t>với</a:t>
            </a:r>
            <a:r>
              <a:rPr sz="1600" b="0" dirty="0">
                <a:solidFill>
                  <a:srgbClr val="1E2A37"/>
                </a:solidFill>
                <a:latin typeface="Aptos"/>
              </a:rPr>
              <a:t> “</a:t>
            </a:r>
            <a:r>
              <a:rPr sz="1600" b="0" dirty="0" err="1">
                <a:solidFill>
                  <a:srgbClr val="1E2A37"/>
                </a:solidFill>
                <a:latin typeface="Aptos"/>
              </a:rPr>
              <a:t>thu</a:t>
            </a:r>
            <a:r>
              <a:rPr sz="1600" b="0" dirty="0">
                <a:solidFill>
                  <a:srgbClr val="1E2A37"/>
                </a:solidFill>
                <a:latin typeface="Aptos"/>
              </a:rPr>
              <a:t> </a:t>
            </a:r>
            <a:r>
              <a:rPr sz="1600" b="0" dirty="0" err="1">
                <a:solidFill>
                  <a:srgbClr val="1E2A37"/>
                </a:solidFill>
                <a:latin typeface="Aptos"/>
              </a:rPr>
              <a:t>hút</a:t>
            </a:r>
            <a:r>
              <a:rPr sz="1600" b="0" dirty="0">
                <a:solidFill>
                  <a:srgbClr val="1E2A37"/>
                </a:solidFill>
                <a:latin typeface="Aptos"/>
              </a:rPr>
              <a:t> </a:t>
            </a:r>
            <a:r>
              <a:rPr sz="1600" b="0" dirty="0" err="1">
                <a:solidFill>
                  <a:srgbClr val="1E2A37"/>
                </a:solidFill>
                <a:latin typeface="Aptos"/>
              </a:rPr>
              <a:t>người</a:t>
            </a:r>
            <a:r>
              <a:rPr sz="1600" b="0" dirty="0">
                <a:solidFill>
                  <a:srgbClr val="1E2A37"/>
                </a:solidFill>
                <a:latin typeface="Aptos"/>
              </a:rPr>
              <a:t> </a:t>
            </a:r>
            <a:r>
              <a:rPr sz="1600" b="0" dirty="0" err="1">
                <a:solidFill>
                  <a:srgbClr val="1E2A37"/>
                </a:solidFill>
                <a:latin typeface="Aptos"/>
              </a:rPr>
              <a:t>phù</a:t>
            </a:r>
            <a:r>
              <a:rPr sz="1600" b="0" dirty="0">
                <a:solidFill>
                  <a:srgbClr val="1E2A37"/>
                </a:solidFill>
                <a:latin typeface="Aptos"/>
              </a:rPr>
              <a:t> </a:t>
            </a:r>
            <a:r>
              <a:rPr sz="1600" b="0" dirty="0" err="1">
                <a:solidFill>
                  <a:srgbClr val="1E2A37"/>
                </a:solidFill>
                <a:latin typeface="Aptos"/>
              </a:rPr>
              <a:t>hợp</a:t>
            </a:r>
            <a:r>
              <a:rPr sz="1600" b="0" dirty="0">
                <a:solidFill>
                  <a:srgbClr val="1E2A37"/>
                </a:solidFill>
                <a:latin typeface="Aptos"/>
              </a:rPr>
              <a:t>”.
• </a:t>
            </a:r>
            <a:r>
              <a:rPr sz="1600" b="0" dirty="0" err="1">
                <a:solidFill>
                  <a:srgbClr val="1E2A37"/>
                </a:solidFill>
                <a:latin typeface="Aptos"/>
              </a:rPr>
              <a:t>Hiểu</a:t>
            </a:r>
            <a:r>
              <a:rPr sz="1600" b="0" dirty="0">
                <a:solidFill>
                  <a:srgbClr val="1E2A37"/>
                </a:solidFill>
                <a:latin typeface="Aptos"/>
              </a:rPr>
              <a:t> </a:t>
            </a:r>
            <a:r>
              <a:rPr sz="1600" b="0" dirty="0" err="1">
                <a:solidFill>
                  <a:srgbClr val="1E2A37"/>
                </a:solidFill>
                <a:latin typeface="Aptos"/>
              </a:rPr>
              <a:t>vai</a:t>
            </a:r>
            <a:r>
              <a:rPr sz="1600" b="0" dirty="0">
                <a:solidFill>
                  <a:srgbClr val="1E2A37"/>
                </a:solidFill>
                <a:latin typeface="Aptos"/>
              </a:rPr>
              <a:t> </a:t>
            </a:r>
            <a:r>
              <a:rPr sz="1600" b="0" dirty="0" err="1">
                <a:solidFill>
                  <a:srgbClr val="1E2A37"/>
                </a:solidFill>
                <a:latin typeface="Aptos"/>
              </a:rPr>
              <a:t>trò</a:t>
            </a:r>
            <a:r>
              <a:rPr sz="1600" b="0" dirty="0">
                <a:solidFill>
                  <a:srgbClr val="1E2A37"/>
                </a:solidFill>
                <a:latin typeface="Aptos"/>
              </a:rPr>
              <a:t> </a:t>
            </a:r>
            <a:r>
              <a:rPr sz="1600" b="0" dirty="0" err="1">
                <a:solidFill>
                  <a:srgbClr val="1E2A37"/>
                </a:solidFill>
                <a:latin typeface="Aptos"/>
              </a:rPr>
              <a:t>của</a:t>
            </a:r>
            <a:r>
              <a:rPr sz="1600" b="0" dirty="0">
                <a:solidFill>
                  <a:srgbClr val="1E2A37"/>
                </a:solidFill>
                <a:latin typeface="Aptos"/>
              </a:rPr>
              <a:t> </a:t>
            </a:r>
            <a:r>
              <a:rPr sz="1600" b="0" dirty="0" err="1">
                <a:solidFill>
                  <a:srgbClr val="1E2A37"/>
                </a:solidFill>
                <a:latin typeface="Aptos"/>
              </a:rPr>
              <a:t>nội</a:t>
            </a:r>
            <a:r>
              <a:rPr sz="1600" b="0" dirty="0">
                <a:solidFill>
                  <a:srgbClr val="1E2A37"/>
                </a:solidFill>
                <a:latin typeface="Aptos"/>
              </a:rPr>
              <a:t> dung, CTA </a:t>
            </a:r>
            <a:r>
              <a:rPr sz="1600" b="0" dirty="0" err="1">
                <a:solidFill>
                  <a:srgbClr val="1E2A37"/>
                </a:solidFill>
                <a:latin typeface="Aptos"/>
              </a:rPr>
              <a:t>và</a:t>
            </a:r>
            <a:r>
              <a:rPr sz="1600" b="0" dirty="0">
                <a:solidFill>
                  <a:srgbClr val="1E2A37"/>
                </a:solidFill>
                <a:latin typeface="Aptos"/>
              </a:rPr>
              <a:t> </a:t>
            </a:r>
            <a:r>
              <a:rPr sz="1600" b="0" dirty="0" err="1">
                <a:solidFill>
                  <a:srgbClr val="1E2A37"/>
                </a:solidFill>
                <a:latin typeface="Aptos"/>
              </a:rPr>
              <a:t>phễu</a:t>
            </a:r>
            <a:r>
              <a:rPr sz="1600" b="0" dirty="0">
                <a:solidFill>
                  <a:srgbClr val="1E2A37"/>
                </a:solidFill>
                <a:latin typeface="Aptos"/>
              </a:rPr>
              <a:t>.</a:t>
            </a:r>
          </a:p>
        </p:txBody>
      </p:sp>
      <p:sp>
        <p:nvSpPr>
          <p:cNvPr id="11" name="Rounded Rectangle 10"/>
          <p:cNvSpPr/>
          <p:nvPr/>
        </p:nvSpPr>
        <p:spPr>
          <a:xfrm>
            <a:off x="6245352" y="2057400"/>
            <a:ext cx="5257800" cy="3611880"/>
          </a:xfrm>
          <a:prstGeom prst="roundRect">
            <a:avLst>
              <a:gd name="adj" fmla="val 8000"/>
            </a:avLst>
          </a:prstGeom>
          <a:solidFill>
            <a:srgbClr val="EBF4FC"/>
          </a:solidFill>
          <a:ln>
            <a:solidFill>
              <a:srgbClr val="EBF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2221992"/>
            <a:ext cx="4800600" cy="347472"/>
          </a:xfrm>
          <a:prstGeom prst="rect">
            <a:avLst/>
          </a:prstGeom>
          <a:noFill/>
        </p:spPr>
        <p:txBody>
          <a:bodyPr wrap="square" lIns="18288" tIns="18288" rIns="18288" bIns="18288" anchor="t">
            <a:spAutoFit/>
          </a:bodyPr>
          <a:lstStyle/>
          <a:p>
            <a:pPr algn="l"/>
            <a:r>
              <a:rPr sz="1600" b="1">
                <a:solidFill>
                  <a:srgbClr val="124673"/>
                </a:solidFill>
                <a:latin typeface="Aptos"/>
              </a:rPr>
              <a:t>ĐẦU RA CỤ THỂ</a:t>
            </a:r>
          </a:p>
        </p:txBody>
      </p:sp>
      <p:sp>
        <p:nvSpPr>
          <p:cNvPr id="13" name="TextBox 12"/>
          <p:cNvSpPr txBox="1"/>
          <p:nvPr/>
        </p:nvSpPr>
        <p:spPr>
          <a:xfrm>
            <a:off x="6473952" y="2679192"/>
            <a:ext cx="4800600" cy="2834640"/>
          </a:xfrm>
          <a:prstGeom prst="rect">
            <a:avLst/>
          </a:prstGeom>
          <a:noFill/>
        </p:spPr>
        <p:txBody>
          <a:bodyPr wrap="square" lIns="18288" tIns="18288" rIns="18288" bIns="18288" anchor="t">
            <a:spAutoFit/>
          </a:bodyPr>
          <a:lstStyle/>
          <a:p>
            <a:pPr algn="l"/>
            <a:r>
              <a:rPr sz="1600" b="0" dirty="0">
                <a:solidFill>
                  <a:srgbClr val="1E2A37"/>
                </a:solidFill>
                <a:latin typeface="Aptos"/>
              </a:rPr>
              <a:t>• </a:t>
            </a:r>
            <a:r>
              <a:rPr sz="1600" b="0" dirty="0" err="1">
                <a:solidFill>
                  <a:srgbClr val="1E2A37"/>
                </a:solidFill>
                <a:latin typeface="Aptos"/>
              </a:rPr>
              <a:t>Chọn</a:t>
            </a:r>
            <a:r>
              <a:rPr sz="1600" b="0" dirty="0">
                <a:solidFill>
                  <a:srgbClr val="1E2A37"/>
                </a:solidFill>
                <a:latin typeface="Aptos"/>
              </a:rPr>
              <a:t> </a:t>
            </a:r>
            <a:r>
              <a:rPr sz="1600" b="0" dirty="0" err="1">
                <a:solidFill>
                  <a:srgbClr val="1E2A37"/>
                </a:solidFill>
                <a:latin typeface="Aptos"/>
              </a:rPr>
              <a:t>được</a:t>
            </a:r>
            <a:r>
              <a:rPr sz="1600" b="0" dirty="0">
                <a:solidFill>
                  <a:srgbClr val="1E2A37"/>
                </a:solidFill>
                <a:latin typeface="Aptos"/>
              </a:rPr>
              <a:t> </a:t>
            </a:r>
            <a:r>
              <a:rPr sz="1600" b="0" dirty="0" err="1">
                <a:solidFill>
                  <a:srgbClr val="1E2A37"/>
                </a:solidFill>
                <a:latin typeface="Aptos"/>
              </a:rPr>
              <a:t>chân</a:t>
            </a:r>
            <a:r>
              <a:rPr sz="1600" b="0" dirty="0">
                <a:solidFill>
                  <a:srgbClr val="1E2A37"/>
                </a:solidFill>
                <a:latin typeface="Aptos"/>
              </a:rPr>
              <a:t> dung </a:t>
            </a:r>
            <a:r>
              <a:rPr sz="1600" b="0" dirty="0" err="1">
                <a:solidFill>
                  <a:srgbClr val="1E2A37"/>
                </a:solidFill>
                <a:latin typeface="Aptos"/>
              </a:rPr>
              <a:t>ứng</a:t>
            </a:r>
            <a:r>
              <a:rPr sz="1600" b="0" dirty="0">
                <a:solidFill>
                  <a:srgbClr val="1E2A37"/>
                </a:solidFill>
                <a:latin typeface="Aptos"/>
              </a:rPr>
              <a:t> </a:t>
            </a:r>
            <a:r>
              <a:rPr sz="1600" b="0" dirty="0" err="1">
                <a:solidFill>
                  <a:srgbClr val="1E2A37"/>
                </a:solidFill>
                <a:latin typeface="Aptos"/>
              </a:rPr>
              <a:t>viên</a:t>
            </a:r>
            <a:r>
              <a:rPr sz="1600" b="0" dirty="0">
                <a:solidFill>
                  <a:srgbClr val="1E2A37"/>
                </a:solidFill>
                <a:latin typeface="Aptos"/>
              </a:rPr>
              <a:t> </a:t>
            </a:r>
            <a:r>
              <a:rPr sz="1600" b="0" dirty="0" err="1">
                <a:solidFill>
                  <a:srgbClr val="1E2A37"/>
                </a:solidFill>
                <a:latin typeface="Aptos"/>
              </a:rPr>
              <a:t>mục</a:t>
            </a:r>
            <a:r>
              <a:rPr sz="1600" b="0" dirty="0">
                <a:solidFill>
                  <a:srgbClr val="1E2A37"/>
                </a:solidFill>
                <a:latin typeface="Aptos"/>
              </a:rPr>
              <a:t> </a:t>
            </a:r>
            <a:r>
              <a:rPr sz="1600" b="0" dirty="0" err="1">
                <a:solidFill>
                  <a:srgbClr val="1E2A37"/>
                </a:solidFill>
                <a:latin typeface="Aptos"/>
              </a:rPr>
              <a:t>tiêu</a:t>
            </a:r>
            <a:r>
              <a:rPr sz="1600" b="0" dirty="0">
                <a:solidFill>
                  <a:srgbClr val="1E2A37"/>
                </a:solidFill>
                <a:latin typeface="Aptos"/>
              </a:rPr>
              <a:t>.
• </a:t>
            </a:r>
            <a:r>
              <a:rPr sz="1600" b="0" dirty="0" err="1">
                <a:solidFill>
                  <a:srgbClr val="1E2A37"/>
                </a:solidFill>
                <a:latin typeface="Aptos"/>
              </a:rPr>
              <a:t>Xây</a:t>
            </a:r>
            <a:r>
              <a:rPr sz="1600" b="0" dirty="0">
                <a:solidFill>
                  <a:srgbClr val="1E2A37"/>
                </a:solidFill>
                <a:latin typeface="Aptos"/>
              </a:rPr>
              <a:t> 3 </a:t>
            </a:r>
            <a:r>
              <a:rPr sz="1600" b="0" dirty="0" err="1">
                <a:solidFill>
                  <a:srgbClr val="1E2A37"/>
                </a:solidFill>
                <a:latin typeface="Aptos"/>
              </a:rPr>
              <a:t>trụ</a:t>
            </a:r>
            <a:r>
              <a:rPr sz="1600" b="0" dirty="0">
                <a:solidFill>
                  <a:srgbClr val="1E2A37"/>
                </a:solidFill>
                <a:latin typeface="Aptos"/>
              </a:rPr>
              <a:t> </a:t>
            </a:r>
            <a:r>
              <a:rPr sz="1600" b="0" dirty="0" err="1">
                <a:solidFill>
                  <a:srgbClr val="1E2A37"/>
                </a:solidFill>
                <a:latin typeface="Aptos"/>
              </a:rPr>
              <a:t>cột</a:t>
            </a:r>
            <a:r>
              <a:rPr sz="1600" b="0" dirty="0">
                <a:solidFill>
                  <a:srgbClr val="1E2A37"/>
                </a:solidFill>
                <a:latin typeface="Aptos"/>
              </a:rPr>
              <a:t> </a:t>
            </a:r>
            <a:r>
              <a:rPr sz="1600" b="0" dirty="0" err="1">
                <a:solidFill>
                  <a:srgbClr val="1E2A37"/>
                </a:solidFill>
                <a:latin typeface="Aptos"/>
              </a:rPr>
              <a:t>nội</a:t>
            </a:r>
            <a:r>
              <a:rPr sz="1600" b="0" dirty="0">
                <a:solidFill>
                  <a:srgbClr val="1E2A37"/>
                </a:solidFill>
                <a:latin typeface="Aptos"/>
              </a:rPr>
              <a:t> dung </a:t>
            </a:r>
            <a:r>
              <a:rPr sz="1600" b="0" dirty="0" err="1">
                <a:solidFill>
                  <a:srgbClr val="1E2A37"/>
                </a:solidFill>
                <a:latin typeface="Aptos"/>
              </a:rPr>
              <a:t>cho</a:t>
            </a:r>
            <a:r>
              <a:rPr sz="1600" b="0" dirty="0">
                <a:solidFill>
                  <a:srgbClr val="1E2A37"/>
                </a:solidFill>
                <a:latin typeface="Aptos"/>
              </a:rPr>
              <a:t> </a:t>
            </a:r>
            <a:r>
              <a:rPr sz="1600" b="0" dirty="0" err="1">
                <a:solidFill>
                  <a:srgbClr val="1E2A37"/>
                </a:solidFill>
                <a:latin typeface="Aptos"/>
              </a:rPr>
              <a:t>kênh</a:t>
            </a:r>
            <a:r>
              <a:rPr sz="1600" b="0" dirty="0">
                <a:solidFill>
                  <a:srgbClr val="1E2A37"/>
                </a:solidFill>
                <a:latin typeface="Aptos"/>
              </a:rPr>
              <a:t>.
• </a:t>
            </a:r>
            <a:r>
              <a:rPr sz="1600" b="0" dirty="0" err="1">
                <a:solidFill>
                  <a:srgbClr val="1E2A37"/>
                </a:solidFill>
                <a:latin typeface="Aptos"/>
              </a:rPr>
              <a:t>Viết</a:t>
            </a:r>
            <a:r>
              <a:rPr sz="1600" b="0" dirty="0">
                <a:solidFill>
                  <a:srgbClr val="1E2A37"/>
                </a:solidFill>
                <a:latin typeface="Aptos"/>
              </a:rPr>
              <a:t> </a:t>
            </a:r>
            <a:r>
              <a:rPr sz="1600" b="0" dirty="0" err="1">
                <a:solidFill>
                  <a:srgbClr val="1E2A37"/>
                </a:solidFill>
                <a:latin typeface="Aptos"/>
              </a:rPr>
              <a:t>được</a:t>
            </a:r>
            <a:r>
              <a:rPr sz="1600" b="0" dirty="0">
                <a:solidFill>
                  <a:srgbClr val="1E2A37"/>
                </a:solidFill>
                <a:latin typeface="Aptos"/>
              </a:rPr>
              <a:t> video </a:t>
            </a:r>
            <a:r>
              <a:rPr sz="1600" b="0" dirty="0" err="1">
                <a:solidFill>
                  <a:srgbClr val="1E2A37"/>
                </a:solidFill>
                <a:latin typeface="Aptos"/>
              </a:rPr>
              <a:t>ngắn</a:t>
            </a:r>
            <a:r>
              <a:rPr sz="1600" b="0" dirty="0">
                <a:solidFill>
                  <a:srgbClr val="1E2A37"/>
                </a:solidFill>
                <a:latin typeface="Aptos"/>
              </a:rPr>
              <a:t> </a:t>
            </a:r>
            <a:r>
              <a:rPr sz="1600" b="0" dirty="0" err="1">
                <a:solidFill>
                  <a:srgbClr val="1E2A37"/>
                </a:solidFill>
                <a:latin typeface="Aptos"/>
              </a:rPr>
              <a:t>theo</a:t>
            </a:r>
            <a:r>
              <a:rPr sz="1600" b="0" dirty="0">
                <a:solidFill>
                  <a:srgbClr val="1E2A37"/>
                </a:solidFill>
                <a:latin typeface="Aptos"/>
              </a:rPr>
              <a:t> </a:t>
            </a:r>
            <a:r>
              <a:rPr sz="1600" b="0" dirty="0" err="1">
                <a:solidFill>
                  <a:srgbClr val="1E2A37"/>
                </a:solidFill>
                <a:latin typeface="Aptos"/>
              </a:rPr>
              <a:t>một</a:t>
            </a:r>
            <a:r>
              <a:rPr sz="1600" b="0" dirty="0">
                <a:solidFill>
                  <a:srgbClr val="1E2A37"/>
                </a:solidFill>
                <a:latin typeface="Aptos"/>
              </a:rPr>
              <a:t> </a:t>
            </a:r>
            <a:r>
              <a:rPr sz="1600" b="0" dirty="0" err="1">
                <a:solidFill>
                  <a:srgbClr val="1E2A37"/>
                </a:solidFill>
                <a:latin typeface="Aptos"/>
              </a:rPr>
              <a:t>công</a:t>
            </a:r>
            <a:r>
              <a:rPr sz="1600" b="0" dirty="0">
                <a:solidFill>
                  <a:srgbClr val="1E2A37"/>
                </a:solidFill>
                <a:latin typeface="Aptos"/>
              </a:rPr>
              <a:t> </a:t>
            </a:r>
            <a:r>
              <a:rPr sz="1600" b="0" dirty="0" err="1">
                <a:solidFill>
                  <a:srgbClr val="1E2A37"/>
                </a:solidFill>
                <a:latin typeface="Aptos"/>
              </a:rPr>
              <a:t>thức</a:t>
            </a:r>
            <a:r>
              <a:rPr sz="1600" b="0" dirty="0">
                <a:solidFill>
                  <a:srgbClr val="1E2A37"/>
                </a:solidFill>
                <a:latin typeface="Aptos"/>
              </a:rPr>
              <a:t> </a:t>
            </a:r>
            <a:r>
              <a:rPr sz="1600" b="0" dirty="0" err="1">
                <a:solidFill>
                  <a:srgbClr val="1E2A37"/>
                </a:solidFill>
                <a:latin typeface="Aptos"/>
              </a:rPr>
              <a:t>nhân</a:t>
            </a:r>
            <a:r>
              <a:rPr sz="1600" b="0" dirty="0">
                <a:solidFill>
                  <a:srgbClr val="1E2A37"/>
                </a:solidFill>
                <a:latin typeface="Aptos"/>
              </a:rPr>
              <a:t> </a:t>
            </a:r>
            <a:r>
              <a:rPr sz="1600" b="0" dirty="0" err="1">
                <a:solidFill>
                  <a:srgbClr val="1E2A37"/>
                </a:solidFill>
                <a:latin typeface="Aptos"/>
              </a:rPr>
              <a:t>bản</a:t>
            </a:r>
            <a:r>
              <a:rPr sz="1600" b="0" dirty="0">
                <a:solidFill>
                  <a:srgbClr val="1E2A37"/>
                </a:solidFill>
                <a:latin typeface="Aptos"/>
              </a:rPr>
              <a:t>.
• </a:t>
            </a:r>
            <a:r>
              <a:rPr sz="1600" b="0" dirty="0" err="1">
                <a:solidFill>
                  <a:srgbClr val="1E2A37"/>
                </a:solidFill>
                <a:latin typeface="Aptos"/>
              </a:rPr>
              <a:t>Thiết</a:t>
            </a:r>
            <a:r>
              <a:rPr sz="1600" b="0" dirty="0">
                <a:solidFill>
                  <a:srgbClr val="1E2A37"/>
                </a:solidFill>
                <a:latin typeface="Aptos"/>
              </a:rPr>
              <a:t> </a:t>
            </a:r>
            <a:r>
              <a:rPr sz="1600" b="0" dirty="0" err="1">
                <a:solidFill>
                  <a:srgbClr val="1E2A37"/>
                </a:solidFill>
                <a:latin typeface="Aptos"/>
              </a:rPr>
              <a:t>kế</a:t>
            </a:r>
            <a:r>
              <a:rPr sz="1600" b="0" dirty="0">
                <a:solidFill>
                  <a:srgbClr val="1E2A37"/>
                </a:solidFill>
                <a:latin typeface="Aptos"/>
              </a:rPr>
              <a:t> </a:t>
            </a:r>
            <a:r>
              <a:rPr sz="1600" b="0" dirty="0" err="1">
                <a:solidFill>
                  <a:srgbClr val="1E2A37"/>
                </a:solidFill>
                <a:latin typeface="Aptos"/>
              </a:rPr>
              <a:t>một</a:t>
            </a:r>
            <a:r>
              <a:rPr sz="1600" b="0" dirty="0">
                <a:solidFill>
                  <a:srgbClr val="1E2A37"/>
                </a:solidFill>
                <a:latin typeface="Aptos"/>
              </a:rPr>
              <a:t> “</a:t>
            </a:r>
            <a:r>
              <a:rPr sz="1600" b="0" dirty="0" err="1">
                <a:solidFill>
                  <a:srgbClr val="1E2A37"/>
                </a:solidFill>
                <a:latin typeface="Aptos"/>
              </a:rPr>
              <a:t>mồi</a:t>
            </a:r>
            <a:r>
              <a:rPr sz="1600" b="0" dirty="0">
                <a:solidFill>
                  <a:srgbClr val="1E2A37"/>
                </a:solidFill>
                <a:latin typeface="Aptos"/>
              </a:rPr>
              <a:t>”/</a:t>
            </a:r>
            <a:r>
              <a:rPr sz="1600" b="0" dirty="0" err="1">
                <a:solidFill>
                  <a:srgbClr val="1E2A37"/>
                </a:solidFill>
                <a:latin typeface="Aptos"/>
              </a:rPr>
              <a:t>chương</a:t>
            </a:r>
            <a:r>
              <a:rPr sz="1600" b="0" dirty="0">
                <a:solidFill>
                  <a:srgbClr val="1E2A37"/>
                </a:solidFill>
                <a:latin typeface="Aptos"/>
              </a:rPr>
              <a:t> </a:t>
            </a:r>
            <a:r>
              <a:rPr sz="1600" b="0" dirty="0" err="1">
                <a:solidFill>
                  <a:srgbClr val="1E2A37"/>
                </a:solidFill>
                <a:latin typeface="Aptos"/>
              </a:rPr>
              <a:t>trình</a:t>
            </a:r>
            <a:r>
              <a:rPr sz="1600" b="0" dirty="0">
                <a:solidFill>
                  <a:srgbClr val="1E2A37"/>
                </a:solidFill>
                <a:latin typeface="Aptos"/>
              </a:rPr>
              <a:t> </a:t>
            </a:r>
            <a:r>
              <a:rPr sz="1600" b="0" dirty="0" err="1">
                <a:solidFill>
                  <a:srgbClr val="1E2A37"/>
                </a:solidFill>
                <a:latin typeface="Aptos"/>
              </a:rPr>
              <a:t>trải</a:t>
            </a:r>
            <a:r>
              <a:rPr sz="1600" b="0" dirty="0">
                <a:solidFill>
                  <a:srgbClr val="1E2A37"/>
                </a:solidFill>
                <a:latin typeface="Aptos"/>
              </a:rPr>
              <a:t> </a:t>
            </a:r>
            <a:r>
              <a:rPr sz="1600" b="0" dirty="0" err="1">
                <a:solidFill>
                  <a:srgbClr val="1E2A37"/>
                </a:solidFill>
                <a:latin typeface="Aptos"/>
              </a:rPr>
              <a:t>nghiệm</a:t>
            </a:r>
            <a:r>
              <a:rPr sz="1600" b="0" dirty="0">
                <a:solidFill>
                  <a:srgbClr val="1E2A37"/>
                </a:solidFill>
                <a:latin typeface="Aptos"/>
              </a:rPr>
              <a:t> </a:t>
            </a:r>
            <a:r>
              <a:rPr sz="1600" b="0" dirty="0" err="1">
                <a:solidFill>
                  <a:srgbClr val="1E2A37"/>
                </a:solidFill>
                <a:latin typeface="Aptos"/>
              </a:rPr>
              <a:t>minh</a:t>
            </a:r>
            <a:r>
              <a:rPr sz="1600" b="0" dirty="0">
                <a:solidFill>
                  <a:srgbClr val="1E2A37"/>
                </a:solidFill>
                <a:latin typeface="Aptos"/>
              </a:rPr>
              <a:t> </a:t>
            </a:r>
            <a:r>
              <a:rPr sz="1600" b="0" dirty="0" err="1">
                <a:solidFill>
                  <a:srgbClr val="1E2A37"/>
                </a:solidFill>
                <a:latin typeface="Aptos"/>
              </a:rPr>
              <a:t>bạch</a:t>
            </a:r>
            <a:r>
              <a:rPr sz="1600" b="0" dirty="0">
                <a:solidFill>
                  <a:srgbClr val="1E2A37"/>
                </a:solidFill>
                <a:latin typeface="Apto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D111FB-10D5-19BB-217C-35FB83828E46}"/>
              </a:ext>
            </a:extLst>
          </p:cNvPr>
          <p:cNvSpPr txBox="1"/>
          <p:nvPr/>
        </p:nvSpPr>
        <p:spPr>
          <a:xfrm>
            <a:off x="3046751" y="2963587"/>
            <a:ext cx="6093500" cy="923330"/>
          </a:xfrm>
          <a:prstGeom prst="rect">
            <a:avLst/>
          </a:prstGeom>
          <a:noFill/>
        </p:spPr>
        <p:txBody>
          <a:bodyPr wrap="square">
            <a:spAutoFit/>
          </a:bodyPr>
          <a:lstStyle/>
          <a:p>
            <a:r>
              <a:rPr lang="en-US" b="0" i="0" dirty="0">
                <a:effectLst/>
                <a:latin typeface="SegoeuiPc"/>
              </a:rPr>
              <a:t>🔴</a:t>
            </a:r>
            <a:r>
              <a:rPr lang="en-US" b="0" i="0" dirty="0">
                <a:solidFill>
                  <a:srgbClr val="081B3A"/>
                </a:solidFill>
                <a:effectLst/>
                <a:latin typeface="SegoeuiPc"/>
              </a:rPr>
              <a:t> </a:t>
            </a:r>
            <a:r>
              <a:rPr lang="vi-VN" b="0" i="0" dirty="0">
                <a:solidFill>
                  <a:srgbClr val="081B3A"/>
                </a:solidFill>
                <a:effectLst/>
                <a:latin typeface="SegoeuiPc"/>
              </a:rPr>
              <a:t>TÔI THÀ NÓI CHUYỆN VỚI </a:t>
            </a:r>
            <a:r>
              <a:rPr lang="vi-VN" b="0" i="0" dirty="0">
                <a:solidFill>
                  <a:srgbClr val="15A85F"/>
                </a:solidFill>
                <a:effectLst/>
                <a:latin typeface="SegoeuiPc"/>
              </a:rPr>
              <a:t>HÀNG TRIỆU NGƯỜI TRÊN INTERNET CHỈ TRONG VÒNG 7 PHÚT</a:t>
            </a:r>
            <a:r>
              <a:rPr lang="vi-VN" b="0" i="0" dirty="0">
                <a:solidFill>
                  <a:srgbClr val="081B3A"/>
                </a:solidFill>
                <a:effectLst/>
                <a:latin typeface="SegoeuiPc"/>
              </a:rPr>
              <a:t> CÒN HƠN LANG THANG RA ĐƯỜNG CAFE...</a:t>
            </a:r>
            <a:endParaRPr lang="en-US" dirty="0"/>
          </a:p>
        </p:txBody>
      </p:sp>
    </p:spTree>
    <p:extLst>
      <p:ext uri="{BB962C8B-B14F-4D97-AF65-F5344CB8AC3E}">
        <p14:creationId xmlns:p14="http://schemas.microsoft.com/office/powerpoint/2010/main" val="2604922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D87086-B1C6-4F60-1649-D1C55813F718}"/>
              </a:ext>
            </a:extLst>
          </p:cNvPr>
          <p:cNvSpPr txBox="1"/>
          <p:nvPr/>
        </p:nvSpPr>
        <p:spPr>
          <a:xfrm>
            <a:off x="3046751" y="3102087"/>
            <a:ext cx="6093500" cy="646331"/>
          </a:xfrm>
          <a:prstGeom prst="rect">
            <a:avLst/>
          </a:prstGeom>
          <a:noFill/>
        </p:spPr>
        <p:txBody>
          <a:bodyPr wrap="square">
            <a:spAutoFit/>
          </a:bodyPr>
          <a:lstStyle/>
          <a:p>
            <a:r>
              <a:rPr lang="vi-VN" b="0" i="0" u="sng" dirty="0">
                <a:solidFill>
                  <a:srgbClr val="15A85F"/>
                </a:solidFill>
                <a:effectLst/>
                <a:latin typeface="SegoeuiPc"/>
              </a:rPr>
              <a:t>MUỐN HÚT CHÍNH XÁC F1 KIM CƯƠNG</a:t>
            </a:r>
            <a:r>
              <a:rPr lang="vi-VN" b="0" i="0" dirty="0">
                <a:solidFill>
                  <a:srgbClr val="081B3A"/>
                </a:solidFill>
                <a:effectLst/>
                <a:latin typeface="SegoeuiPc"/>
              </a:rPr>
              <a:t> CẦN TẠO ĐÚNG MỒI NÀY...</a:t>
            </a:r>
            <a:endParaRPr lang="en-US" dirty="0"/>
          </a:p>
        </p:txBody>
      </p:sp>
    </p:spTree>
    <p:extLst>
      <p:ext uri="{BB962C8B-B14F-4D97-AF65-F5344CB8AC3E}">
        <p14:creationId xmlns:p14="http://schemas.microsoft.com/office/powerpoint/2010/main" val="3565785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02D40B-451E-A503-0D98-905319120C66}"/>
              </a:ext>
            </a:extLst>
          </p:cNvPr>
          <p:cNvSpPr txBox="1"/>
          <p:nvPr/>
        </p:nvSpPr>
        <p:spPr>
          <a:xfrm>
            <a:off x="3046751" y="3240586"/>
            <a:ext cx="6093500" cy="369332"/>
          </a:xfrm>
          <a:prstGeom prst="rect">
            <a:avLst/>
          </a:prstGeom>
          <a:noFill/>
        </p:spPr>
        <p:txBody>
          <a:bodyPr wrap="square">
            <a:spAutoFit/>
          </a:bodyPr>
          <a:lstStyle/>
          <a:p>
            <a:r>
              <a:rPr lang="en-US" b="0" i="0" dirty="0">
                <a:solidFill>
                  <a:srgbClr val="DB342E"/>
                </a:solidFill>
                <a:effectLst/>
                <a:latin typeface="SegoeuiPc"/>
              </a:rPr>
              <a:t>ĐÁM ĐÔNG TẠO RA RÁC</a:t>
            </a:r>
            <a:r>
              <a:rPr lang="en-US" b="0" i="0" dirty="0">
                <a:solidFill>
                  <a:srgbClr val="081B3A"/>
                </a:solidFill>
                <a:effectLst/>
                <a:latin typeface="SegoeuiPc"/>
              </a:rPr>
              <a:t> VÀ CÁCH TRÁNH KHỎI</a:t>
            </a:r>
            <a:endParaRPr lang="en-US" dirty="0"/>
          </a:p>
        </p:txBody>
      </p:sp>
    </p:spTree>
    <p:extLst>
      <p:ext uri="{BB962C8B-B14F-4D97-AF65-F5344CB8AC3E}">
        <p14:creationId xmlns:p14="http://schemas.microsoft.com/office/powerpoint/2010/main" val="308699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LÝ DO</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Vì sao phương pháp này khác tuyển dụng thông thường?</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6" name="TextBox 5"/>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04</a:t>
            </a:r>
          </a:p>
        </p:txBody>
      </p:sp>
      <p:sp>
        <p:nvSpPr>
          <p:cNvPr id="7" name="Rounded Rectangle 6"/>
          <p:cNvSpPr/>
          <p:nvPr/>
        </p:nvSpPr>
        <p:spPr>
          <a:xfrm>
            <a:off x="685800" y="1965960"/>
            <a:ext cx="5257800" cy="38404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130552"/>
            <a:ext cx="4800600" cy="347472"/>
          </a:xfrm>
          <a:prstGeom prst="rect">
            <a:avLst/>
          </a:prstGeom>
          <a:noFill/>
        </p:spPr>
        <p:txBody>
          <a:bodyPr wrap="square" lIns="18288" tIns="18288" rIns="18288" bIns="18288" anchor="t">
            <a:spAutoFit/>
          </a:bodyPr>
          <a:lstStyle/>
          <a:p>
            <a:pPr algn="l"/>
            <a:r>
              <a:rPr sz="1600" b="1">
                <a:solidFill>
                  <a:srgbClr val="124673"/>
                </a:solidFill>
                <a:latin typeface="Aptos"/>
              </a:rPr>
              <a:t>CÁCH THÔNG THƯỜNG</a:t>
            </a:r>
          </a:p>
        </p:txBody>
      </p:sp>
      <p:sp>
        <p:nvSpPr>
          <p:cNvPr id="9" name="TextBox 8"/>
          <p:cNvSpPr txBox="1"/>
          <p:nvPr/>
        </p:nvSpPr>
        <p:spPr>
          <a:xfrm>
            <a:off x="914400" y="2587752"/>
            <a:ext cx="4800600" cy="3063240"/>
          </a:xfrm>
          <a:prstGeom prst="rect">
            <a:avLst/>
          </a:prstGeom>
          <a:noFill/>
        </p:spPr>
        <p:txBody>
          <a:bodyPr wrap="square" lIns="18288" tIns="18288" rIns="18288" bIns="18288" anchor="t">
            <a:spAutoFit/>
          </a:bodyPr>
          <a:lstStyle/>
          <a:p>
            <a:pPr algn="l"/>
            <a:r>
              <a:rPr sz="1600" b="0">
                <a:solidFill>
                  <a:srgbClr val="1E2A37"/>
                </a:solidFill>
                <a:latin typeface="Aptos"/>
              </a:rPr>
              <a:t>Bạn → tìm danh sách → nhắn/mời → giải thích → theo đuổi → chờ phản hồi.
Quy mô phụ thuộc vào số cuộc trò chuyện bạn tự thực hiện mỗi ngày.</a:t>
            </a:r>
          </a:p>
        </p:txBody>
      </p:sp>
      <p:sp>
        <p:nvSpPr>
          <p:cNvPr id="10" name="Rounded Rectangle 9"/>
          <p:cNvSpPr/>
          <p:nvPr/>
        </p:nvSpPr>
        <p:spPr>
          <a:xfrm>
            <a:off x="6245352" y="1965960"/>
            <a:ext cx="5257800" cy="3840480"/>
          </a:xfrm>
          <a:prstGeom prst="roundRect">
            <a:avLst>
              <a:gd name="adj" fmla="val 8000"/>
            </a:avLst>
          </a:prstGeom>
          <a:solidFill>
            <a:srgbClr val="EBF4FC"/>
          </a:solidFill>
          <a:ln>
            <a:solidFill>
              <a:srgbClr val="EBF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2130552"/>
            <a:ext cx="4800600" cy="347472"/>
          </a:xfrm>
          <a:prstGeom prst="rect">
            <a:avLst/>
          </a:prstGeom>
          <a:noFill/>
        </p:spPr>
        <p:txBody>
          <a:bodyPr wrap="square" lIns="18288" tIns="18288" rIns="18288" bIns="18288" anchor="t">
            <a:spAutoFit/>
          </a:bodyPr>
          <a:lstStyle/>
          <a:p>
            <a:pPr algn="l"/>
            <a:r>
              <a:rPr sz="1600" b="1">
                <a:solidFill>
                  <a:srgbClr val="124673"/>
                </a:solidFill>
                <a:latin typeface="Aptos"/>
              </a:rPr>
              <a:t>CÁCH XÂY KÊNH</a:t>
            </a:r>
          </a:p>
        </p:txBody>
      </p:sp>
      <p:sp>
        <p:nvSpPr>
          <p:cNvPr id="12" name="TextBox 11"/>
          <p:cNvSpPr txBox="1"/>
          <p:nvPr/>
        </p:nvSpPr>
        <p:spPr>
          <a:xfrm>
            <a:off x="6473952" y="2587752"/>
            <a:ext cx="4800600" cy="3063240"/>
          </a:xfrm>
          <a:prstGeom prst="rect">
            <a:avLst/>
          </a:prstGeom>
          <a:noFill/>
        </p:spPr>
        <p:txBody>
          <a:bodyPr wrap="square" lIns="18288" tIns="18288" rIns="18288" bIns="18288" anchor="t">
            <a:spAutoFit/>
          </a:bodyPr>
          <a:lstStyle/>
          <a:p>
            <a:pPr algn="l"/>
            <a:r>
              <a:rPr sz="1600" b="0">
                <a:solidFill>
                  <a:srgbClr val="1E2A37"/>
                </a:solidFill>
                <a:latin typeface="Aptos"/>
              </a:rPr>
              <a:t>Nội dung → người phù hợp dừng lại → theo dõi → chủ động tìm hiểu → để lại tín hiệu → trải nghiệm → trao đổi sâu.
Quy mô đến từ khả năng phân phối nội dung và hệ thống hóa quy trình.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ÔN TẬP NGÀY 1</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Thay đổi cuộc chơi: đừng săn người, hãy xây “hồ nước”</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27632"/>
            <a:ext cx="10607040" cy="530352"/>
          </a:xfrm>
          <a:prstGeom prst="rect">
            <a:avLst/>
          </a:prstGeom>
          <a:noFill/>
        </p:spPr>
        <p:txBody>
          <a:bodyPr wrap="square" lIns="18288" tIns="18288" rIns="18288" bIns="18288" anchor="t">
            <a:spAutoFit/>
          </a:bodyPr>
          <a:lstStyle/>
          <a:p>
            <a:pPr algn="l"/>
            <a:r>
              <a:rPr sz="1600" b="0">
                <a:solidFill>
                  <a:srgbClr val="5B6876"/>
                </a:solidFill>
                <a:latin typeface="Aptos"/>
              </a:rPr>
              <a:t>Tinh thần cốt lõi của ngày 2 là biến tư duy đó thành quy trình.</a:t>
            </a:r>
          </a:p>
        </p:txBody>
      </p:sp>
      <p:sp>
        <p:nvSpPr>
          <p:cNvPr id="6" name="TextBox 5"/>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7" name="TextBox 6"/>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03</a:t>
            </a:r>
          </a:p>
        </p:txBody>
      </p:sp>
      <p:sp>
        <p:nvSpPr>
          <p:cNvPr id="8" name="Rounded Rectangle 7"/>
          <p:cNvSpPr/>
          <p:nvPr/>
        </p:nvSpPr>
        <p:spPr>
          <a:xfrm>
            <a:off x="685800" y="2057400"/>
            <a:ext cx="3383280" cy="3383280"/>
          </a:xfrm>
          <a:prstGeom prst="roundRect">
            <a:avLst>
              <a:gd name="adj" fmla="val 8000"/>
            </a:avLst>
          </a:prstGeom>
          <a:solidFill>
            <a:srgbClr val="EBF4FC"/>
          </a:solidFill>
          <a:ln>
            <a:solidFill>
              <a:srgbClr val="EBF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221992"/>
            <a:ext cx="2926080" cy="347472"/>
          </a:xfrm>
          <a:prstGeom prst="rect">
            <a:avLst/>
          </a:prstGeom>
          <a:noFill/>
        </p:spPr>
        <p:txBody>
          <a:bodyPr wrap="square" lIns="18288" tIns="18288" rIns="18288" bIns="18288" anchor="t">
            <a:spAutoFit/>
          </a:bodyPr>
          <a:lstStyle/>
          <a:p>
            <a:pPr algn="l"/>
            <a:r>
              <a:rPr sz="1600" b="1">
                <a:solidFill>
                  <a:srgbClr val="124673"/>
                </a:solidFill>
                <a:latin typeface="Aptos"/>
              </a:rPr>
              <a:t>1. ĐỪNG ĐI CHIA SẺ TỪNG NGƯỜI</a:t>
            </a:r>
          </a:p>
        </p:txBody>
      </p:sp>
      <p:sp>
        <p:nvSpPr>
          <p:cNvPr id="10" name="TextBox 9"/>
          <p:cNvSpPr txBox="1"/>
          <p:nvPr/>
        </p:nvSpPr>
        <p:spPr>
          <a:xfrm>
            <a:off x="914400" y="2679192"/>
            <a:ext cx="2926080" cy="2606040"/>
          </a:xfrm>
          <a:prstGeom prst="rect">
            <a:avLst/>
          </a:prstGeom>
          <a:noFill/>
        </p:spPr>
        <p:txBody>
          <a:bodyPr wrap="square" lIns="18288" tIns="18288" rIns="18288" bIns="18288" anchor="t">
            <a:spAutoFit/>
          </a:bodyPr>
          <a:lstStyle/>
          <a:p>
            <a:pPr algn="l"/>
            <a:r>
              <a:rPr sz="1600" b="0">
                <a:solidFill>
                  <a:srgbClr val="1E2A37"/>
                </a:solidFill>
                <a:latin typeface="Aptos"/>
              </a:rPr>
              <a:t>Không chạy theo từng danh sách. Không biến mỗi cuộc trò chuyện thành một lần “xin cơ hội”.</a:t>
            </a:r>
          </a:p>
        </p:txBody>
      </p:sp>
      <p:sp>
        <p:nvSpPr>
          <p:cNvPr id="11" name="Rounded Rectangle 10"/>
          <p:cNvSpPr/>
          <p:nvPr/>
        </p:nvSpPr>
        <p:spPr>
          <a:xfrm>
            <a:off x="4407408" y="2057400"/>
            <a:ext cx="3383280" cy="3383280"/>
          </a:xfrm>
          <a:prstGeom prst="roundRect">
            <a:avLst>
              <a:gd name="adj" fmla="val 8000"/>
            </a:avLst>
          </a:prstGeom>
          <a:solidFill>
            <a:srgbClr val="EBF4FC"/>
          </a:solidFill>
          <a:ln>
            <a:solidFill>
              <a:srgbClr val="EBF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8" y="2221992"/>
            <a:ext cx="2926080" cy="347472"/>
          </a:xfrm>
          <a:prstGeom prst="rect">
            <a:avLst/>
          </a:prstGeom>
          <a:noFill/>
        </p:spPr>
        <p:txBody>
          <a:bodyPr wrap="square" lIns="18288" tIns="18288" rIns="18288" bIns="18288" anchor="t">
            <a:spAutoFit/>
          </a:bodyPr>
          <a:lstStyle/>
          <a:p>
            <a:pPr algn="l"/>
            <a:r>
              <a:rPr sz="1600" b="1">
                <a:solidFill>
                  <a:srgbClr val="124673"/>
                </a:solidFill>
                <a:latin typeface="Aptos"/>
              </a:rPr>
              <a:t>2. XÂY ĐÁM ĐÔNG CÓ NHU CẦU</a:t>
            </a:r>
          </a:p>
        </p:txBody>
      </p:sp>
      <p:sp>
        <p:nvSpPr>
          <p:cNvPr id="13" name="TextBox 12"/>
          <p:cNvSpPr txBox="1"/>
          <p:nvPr/>
        </p:nvSpPr>
        <p:spPr>
          <a:xfrm>
            <a:off x="4636008" y="2679192"/>
            <a:ext cx="2926080" cy="2606040"/>
          </a:xfrm>
          <a:prstGeom prst="rect">
            <a:avLst/>
          </a:prstGeom>
          <a:noFill/>
        </p:spPr>
        <p:txBody>
          <a:bodyPr wrap="square" lIns="18288" tIns="18288" rIns="18288" bIns="18288" anchor="t">
            <a:spAutoFit/>
          </a:bodyPr>
          <a:lstStyle/>
          <a:p>
            <a:pPr algn="l"/>
            <a:r>
              <a:rPr sz="1600" b="0">
                <a:solidFill>
                  <a:srgbClr val="1E2A37"/>
                </a:solidFill>
                <a:latin typeface="Aptos"/>
              </a:rPr>
              <a:t>Nội dung giúp người đang có vấn đề nhận ra: “Đây đúng là điều mình đang tìm.”</a:t>
            </a:r>
          </a:p>
        </p:txBody>
      </p:sp>
      <p:sp>
        <p:nvSpPr>
          <p:cNvPr id="14" name="Rounded Rectangle 13"/>
          <p:cNvSpPr/>
          <p:nvPr/>
        </p:nvSpPr>
        <p:spPr>
          <a:xfrm>
            <a:off x="8129016" y="2057400"/>
            <a:ext cx="3383280" cy="3383280"/>
          </a:xfrm>
          <a:prstGeom prst="roundRect">
            <a:avLst>
              <a:gd name="adj" fmla="val 8000"/>
            </a:avLst>
          </a:prstGeom>
          <a:solidFill>
            <a:srgbClr val="FAF6E4"/>
          </a:solidFill>
          <a:ln>
            <a:solidFill>
              <a:srgbClr val="FA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7616" y="2221992"/>
            <a:ext cx="2926080" cy="347472"/>
          </a:xfrm>
          <a:prstGeom prst="rect">
            <a:avLst/>
          </a:prstGeom>
          <a:noFill/>
        </p:spPr>
        <p:txBody>
          <a:bodyPr wrap="square" lIns="18288" tIns="18288" rIns="18288" bIns="18288" anchor="t">
            <a:spAutoFit/>
          </a:bodyPr>
          <a:lstStyle/>
          <a:p>
            <a:pPr algn="l"/>
            <a:r>
              <a:rPr sz="1600" b="1">
                <a:solidFill>
                  <a:srgbClr val="124673"/>
                </a:solidFill>
                <a:latin typeface="Aptos"/>
              </a:rPr>
              <a:t>3. ĐƯA GIẢI PHÁP ĐẾN ĐÚNG NƠI</a:t>
            </a:r>
          </a:p>
        </p:txBody>
      </p:sp>
      <p:sp>
        <p:nvSpPr>
          <p:cNvPr id="16" name="TextBox 15"/>
          <p:cNvSpPr txBox="1"/>
          <p:nvPr/>
        </p:nvSpPr>
        <p:spPr>
          <a:xfrm>
            <a:off x="8357616" y="2679192"/>
            <a:ext cx="2926080" cy="2606040"/>
          </a:xfrm>
          <a:prstGeom prst="rect">
            <a:avLst/>
          </a:prstGeom>
          <a:noFill/>
        </p:spPr>
        <p:txBody>
          <a:bodyPr wrap="square" lIns="18288" tIns="18288" rIns="18288" bIns="18288" anchor="t">
            <a:spAutoFit/>
          </a:bodyPr>
          <a:lstStyle/>
          <a:p>
            <a:pPr algn="l"/>
            <a:r>
              <a:rPr sz="1600" b="0">
                <a:solidFill>
                  <a:srgbClr val="1E2A37"/>
                </a:solidFill>
                <a:latin typeface="Aptos"/>
              </a:rPr>
              <a:t>Kênh là nơi tập trung niềm tin, giá trị, bằng chứng và lời mời tìm hiểu.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NGUYÊN LÝ</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Kênh không “tự tuyển người”. Kênh tạo dòng người quan tâm.</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27632"/>
            <a:ext cx="10607040" cy="530352"/>
          </a:xfrm>
          <a:prstGeom prst="rect">
            <a:avLst/>
          </a:prstGeom>
          <a:noFill/>
        </p:spPr>
        <p:txBody>
          <a:bodyPr wrap="square" lIns="18288" tIns="18288" rIns="18288" bIns="18288" anchor="t">
            <a:spAutoFit/>
          </a:bodyPr>
          <a:lstStyle/>
          <a:p>
            <a:pPr algn="l"/>
            <a:r>
              <a:rPr sz="1600" b="0">
                <a:solidFill>
                  <a:srgbClr val="5B6876"/>
                </a:solidFill>
                <a:latin typeface="Aptos"/>
              </a:rPr>
              <a:t>Tự động ở đây nghĩa là tự động hóa phần lặp lại; sự phù hợp và quyết định vẫn cần con người.</a:t>
            </a:r>
          </a:p>
        </p:txBody>
      </p:sp>
      <p:sp>
        <p:nvSpPr>
          <p:cNvPr id="6" name="TextBox 5"/>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7" name="TextBox 6"/>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05</a:t>
            </a:r>
          </a:p>
        </p:txBody>
      </p:sp>
      <p:sp>
        <p:nvSpPr>
          <p:cNvPr id="8" name="TextBox 7"/>
          <p:cNvSpPr txBox="1"/>
          <p:nvPr/>
        </p:nvSpPr>
        <p:spPr>
          <a:xfrm>
            <a:off x="914400" y="2148840"/>
            <a:ext cx="1828800" cy="365760"/>
          </a:xfrm>
          <a:prstGeom prst="rect">
            <a:avLst/>
          </a:prstGeom>
          <a:noFill/>
        </p:spPr>
        <p:txBody>
          <a:bodyPr wrap="square" lIns="18288" tIns="18288" rIns="18288" bIns="18288" anchor="t">
            <a:spAutoFit/>
          </a:bodyPr>
          <a:lstStyle/>
          <a:p>
            <a:pPr algn="ctr"/>
            <a:r>
              <a:rPr sz="1700" b="1">
                <a:solidFill>
                  <a:srgbClr val="124673"/>
                </a:solidFill>
                <a:latin typeface="Aptos"/>
              </a:rPr>
              <a:t>NỘI DUNG</a:t>
            </a:r>
          </a:p>
        </p:txBody>
      </p:sp>
      <p:sp>
        <p:nvSpPr>
          <p:cNvPr id="9" name="TextBox 8"/>
          <p:cNvSpPr txBox="1"/>
          <p:nvPr/>
        </p:nvSpPr>
        <p:spPr>
          <a:xfrm>
            <a:off x="3337560" y="2148840"/>
            <a:ext cx="1828800" cy="365760"/>
          </a:xfrm>
          <a:prstGeom prst="rect">
            <a:avLst/>
          </a:prstGeom>
          <a:noFill/>
        </p:spPr>
        <p:txBody>
          <a:bodyPr wrap="square" lIns="18288" tIns="18288" rIns="18288" bIns="18288" anchor="t">
            <a:spAutoFit/>
          </a:bodyPr>
          <a:lstStyle/>
          <a:p>
            <a:pPr algn="ctr"/>
            <a:r>
              <a:rPr sz="1700" b="1">
                <a:solidFill>
                  <a:srgbClr val="124673"/>
                </a:solidFill>
                <a:latin typeface="Aptos"/>
              </a:rPr>
              <a:t>NIỀM TIN</a:t>
            </a:r>
          </a:p>
        </p:txBody>
      </p:sp>
      <p:sp>
        <p:nvSpPr>
          <p:cNvPr id="10" name="TextBox 9"/>
          <p:cNvSpPr txBox="1"/>
          <p:nvPr/>
        </p:nvSpPr>
        <p:spPr>
          <a:xfrm>
            <a:off x="5760720" y="2148840"/>
            <a:ext cx="1828800" cy="365760"/>
          </a:xfrm>
          <a:prstGeom prst="rect">
            <a:avLst/>
          </a:prstGeom>
          <a:noFill/>
        </p:spPr>
        <p:txBody>
          <a:bodyPr wrap="square" lIns="18288" tIns="18288" rIns="18288" bIns="18288" anchor="t">
            <a:spAutoFit/>
          </a:bodyPr>
          <a:lstStyle/>
          <a:p>
            <a:pPr algn="ctr"/>
            <a:r>
              <a:rPr sz="1700" b="1">
                <a:solidFill>
                  <a:srgbClr val="124673"/>
                </a:solidFill>
                <a:latin typeface="Aptos"/>
              </a:rPr>
              <a:t>TÍN HIỆU</a:t>
            </a:r>
          </a:p>
        </p:txBody>
      </p:sp>
      <p:sp>
        <p:nvSpPr>
          <p:cNvPr id="11" name="TextBox 10"/>
          <p:cNvSpPr txBox="1"/>
          <p:nvPr/>
        </p:nvSpPr>
        <p:spPr>
          <a:xfrm>
            <a:off x="8183879" y="2148840"/>
            <a:ext cx="1828800" cy="365760"/>
          </a:xfrm>
          <a:prstGeom prst="rect">
            <a:avLst/>
          </a:prstGeom>
          <a:noFill/>
        </p:spPr>
        <p:txBody>
          <a:bodyPr wrap="square" lIns="18288" tIns="18288" rIns="18288" bIns="18288" anchor="t">
            <a:spAutoFit/>
          </a:bodyPr>
          <a:lstStyle/>
          <a:p>
            <a:pPr algn="ctr"/>
            <a:r>
              <a:rPr sz="1700" b="1">
                <a:solidFill>
                  <a:srgbClr val="124673"/>
                </a:solidFill>
                <a:latin typeface="Aptos"/>
              </a:rPr>
              <a:t>TRẢI NGHIỆM</a:t>
            </a:r>
          </a:p>
        </p:txBody>
      </p:sp>
      <p:sp>
        <p:nvSpPr>
          <p:cNvPr id="12" name="TextBox 11"/>
          <p:cNvSpPr txBox="1"/>
          <p:nvPr/>
        </p:nvSpPr>
        <p:spPr>
          <a:xfrm>
            <a:off x="10378440" y="2148840"/>
            <a:ext cx="1097280" cy="365760"/>
          </a:xfrm>
          <a:prstGeom prst="rect">
            <a:avLst/>
          </a:prstGeom>
          <a:noFill/>
        </p:spPr>
        <p:txBody>
          <a:bodyPr wrap="square" lIns="18288" tIns="18288" rIns="18288" bIns="18288" anchor="t">
            <a:spAutoFit/>
          </a:bodyPr>
          <a:lstStyle/>
          <a:p>
            <a:pPr algn="ctr"/>
            <a:r>
              <a:rPr sz="1700" b="1">
                <a:solidFill>
                  <a:srgbClr val="124673"/>
                </a:solidFill>
                <a:latin typeface="Aptos"/>
              </a:rPr>
              <a:t>ỨNG VIÊN</a:t>
            </a:r>
          </a:p>
        </p:txBody>
      </p:sp>
      <p:sp>
        <p:nvSpPr>
          <p:cNvPr id="13" name="TextBox 12"/>
          <p:cNvSpPr txBox="1"/>
          <p:nvPr/>
        </p:nvSpPr>
        <p:spPr>
          <a:xfrm>
            <a:off x="2606040" y="2084831"/>
            <a:ext cx="502920" cy="457200"/>
          </a:xfrm>
          <a:prstGeom prst="rect">
            <a:avLst/>
          </a:prstGeom>
          <a:noFill/>
        </p:spPr>
        <p:txBody>
          <a:bodyPr wrap="square" lIns="18288" tIns="18288" rIns="18288" bIns="18288" anchor="t">
            <a:spAutoFit/>
          </a:bodyPr>
          <a:lstStyle/>
          <a:p>
            <a:pPr algn="ctr"/>
            <a:r>
              <a:rPr sz="2600" b="1">
                <a:solidFill>
                  <a:srgbClr val="D6AE30"/>
                </a:solidFill>
                <a:latin typeface="Aptos"/>
              </a:rPr>
              <a:t>→</a:t>
            </a:r>
          </a:p>
        </p:txBody>
      </p:sp>
      <p:sp>
        <p:nvSpPr>
          <p:cNvPr id="14" name="TextBox 13"/>
          <p:cNvSpPr txBox="1"/>
          <p:nvPr/>
        </p:nvSpPr>
        <p:spPr>
          <a:xfrm>
            <a:off x="5029200" y="2084831"/>
            <a:ext cx="502920" cy="457200"/>
          </a:xfrm>
          <a:prstGeom prst="rect">
            <a:avLst/>
          </a:prstGeom>
          <a:noFill/>
        </p:spPr>
        <p:txBody>
          <a:bodyPr wrap="square" lIns="18288" tIns="18288" rIns="18288" bIns="18288" anchor="t">
            <a:spAutoFit/>
          </a:bodyPr>
          <a:lstStyle/>
          <a:p>
            <a:pPr algn="ctr"/>
            <a:r>
              <a:rPr sz="2600" b="1">
                <a:solidFill>
                  <a:srgbClr val="D6AE30"/>
                </a:solidFill>
                <a:latin typeface="Aptos"/>
              </a:rPr>
              <a:t>→</a:t>
            </a:r>
          </a:p>
        </p:txBody>
      </p:sp>
      <p:sp>
        <p:nvSpPr>
          <p:cNvPr id="15" name="TextBox 14"/>
          <p:cNvSpPr txBox="1"/>
          <p:nvPr/>
        </p:nvSpPr>
        <p:spPr>
          <a:xfrm>
            <a:off x="7452360" y="2084831"/>
            <a:ext cx="502920" cy="457200"/>
          </a:xfrm>
          <a:prstGeom prst="rect">
            <a:avLst/>
          </a:prstGeom>
          <a:noFill/>
        </p:spPr>
        <p:txBody>
          <a:bodyPr wrap="square" lIns="18288" tIns="18288" rIns="18288" bIns="18288" anchor="t">
            <a:spAutoFit/>
          </a:bodyPr>
          <a:lstStyle/>
          <a:p>
            <a:pPr algn="ctr"/>
            <a:r>
              <a:rPr sz="2600" b="1">
                <a:solidFill>
                  <a:srgbClr val="D6AE30"/>
                </a:solidFill>
                <a:latin typeface="Aptos"/>
              </a:rPr>
              <a:t>→</a:t>
            </a:r>
          </a:p>
        </p:txBody>
      </p:sp>
      <p:sp>
        <p:nvSpPr>
          <p:cNvPr id="16" name="TextBox 15"/>
          <p:cNvSpPr txBox="1"/>
          <p:nvPr/>
        </p:nvSpPr>
        <p:spPr>
          <a:xfrm>
            <a:off x="9875520" y="2084831"/>
            <a:ext cx="502920" cy="457200"/>
          </a:xfrm>
          <a:prstGeom prst="rect">
            <a:avLst/>
          </a:prstGeom>
          <a:noFill/>
        </p:spPr>
        <p:txBody>
          <a:bodyPr wrap="square" lIns="18288" tIns="18288" rIns="18288" bIns="18288" anchor="t">
            <a:spAutoFit/>
          </a:bodyPr>
          <a:lstStyle/>
          <a:p>
            <a:pPr algn="ctr"/>
            <a:r>
              <a:rPr sz="2600" b="1">
                <a:solidFill>
                  <a:srgbClr val="D6AE30"/>
                </a:solidFill>
                <a:latin typeface="Aptos"/>
              </a:rPr>
              <a:t>→</a:t>
            </a:r>
          </a:p>
        </p:txBody>
      </p:sp>
      <p:sp>
        <p:nvSpPr>
          <p:cNvPr id="17" name="TextBox 16"/>
          <p:cNvSpPr txBox="1"/>
          <p:nvPr/>
        </p:nvSpPr>
        <p:spPr>
          <a:xfrm>
            <a:off x="914400" y="3657600"/>
            <a:ext cx="10332720" cy="640080"/>
          </a:xfrm>
          <a:prstGeom prst="rect">
            <a:avLst/>
          </a:prstGeom>
          <a:noFill/>
        </p:spPr>
        <p:txBody>
          <a:bodyPr wrap="square" lIns="18288" tIns="18288" rIns="18288" bIns="18288" anchor="t">
            <a:spAutoFit/>
          </a:bodyPr>
          <a:lstStyle/>
          <a:p>
            <a:pPr algn="ctr"/>
            <a:r>
              <a:rPr sz="2200" b="1">
                <a:solidFill>
                  <a:srgbClr val="1E2A37"/>
                </a:solidFill>
                <a:latin typeface="Aptos"/>
              </a:rPr>
              <a:t>Mỗi bước giảm áp lực “đi mời” và tăng mức độ chủ động của người quan tâm.</a:t>
            </a:r>
          </a:p>
        </p:txBody>
      </p:sp>
      <p:sp>
        <p:nvSpPr>
          <p:cNvPr id="18" name="TextBox 17"/>
          <p:cNvSpPr txBox="1"/>
          <p:nvPr/>
        </p:nvSpPr>
        <p:spPr>
          <a:xfrm>
            <a:off x="914400" y="4617720"/>
            <a:ext cx="10332720" cy="548640"/>
          </a:xfrm>
          <a:prstGeom prst="rect">
            <a:avLst/>
          </a:prstGeom>
          <a:noFill/>
        </p:spPr>
        <p:txBody>
          <a:bodyPr wrap="square" lIns="18288" tIns="18288" rIns="18288" bIns="18288" anchor="t">
            <a:spAutoFit/>
          </a:bodyPr>
          <a:lstStyle/>
          <a:p>
            <a:pPr algn="ctr"/>
            <a:r>
              <a:rPr sz="1800" b="1" dirty="0" err="1">
                <a:solidFill>
                  <a:srgbClr val="124673"/>
                </a:solidFill>
                <a:latin typeface="Aptos"/>
              </a:rPr>
              <a:t>Mục</a:t>
            </a:r>
            <a:r>
              <a:rPr sz="1800" b="1" dirty="0">
                <a:solidFill>
                  <a:srgbClr val="124673"/>
                </a:solidFill>
                <a:latin typeface="Aptos"/>
              </a:rPr>
              <a:t> </a:t>
            </a:r>
            <a:r>
              <a:rPr sz="1800" b="1" dirty="0" err="1">
                <a:solidFill>
                  <a:srgbClr val="124673"/>
                </a:solidFill>
                <a:latin typeface="Aptos"/>
              </a:rPr>
              <a:t>tiêu</a:t>
            </a:r>
            <a:r>
              <a:rPr sz="1800" b="1" dirty="0">
                <a:solidFill>
                  <a:srgbClr val="124673"/>
                </a:solidFill>
                <a:latin typeface="Aptos"/>
              </a:rPr>
              <a:t> </a:t>
            </a:r>
            <a:r>
              <a:rPr sz="1800" b="1" dirty="0" err="1">
                <a:solidFill>
                  <a:srgbClr val="124673"/>
                </a:solidFill>
                <a:latin typeface="Aptos"/>
              </a:rPr>
              <a:t>không</a:t>
            </a:r>
            <a:r>
              <a:rPr sz="1800" b="1" dirty="0">
                <a:solidFill>
                  <a:srgbClr val="124673"/>
                </a:solidFill>
                <a:latin typeface="Aptos"/>
              </a:rPr>
              <a:t> </a:t>
            </a:r>
            <a:r>
              <a:rPr sz="1800" b="1" dirty="0" err="1">
                <a:solidFill>
                  <a:srgbClr val="124673"/>
                </a:solidFill>
                <a:latin typeface="Aptos"/>
              </a:rPr>
              <a:t>phải</a:t>
            </a:r>
            <a:r>
              <a:rPr sz="1800" b="1" dirty="0">
                <a:solidFill>
                  <a:srgbClr val="124673"/>
                </a:solidFill>
                <a:latin typeface="Aptos"/>
              </a:rPr>
              <a:t> </a:t>
            </a:r>
            <a:r>
              <a:rPr sz="1800" b="1" dirty="0" err="1">
                <a:solidFill>
                  <a:srgbClr val="124673"/>
                </a:solidFill>
                <a:latin typeface="Aptos"/>
              </a:rPr>
              <a:t>càng</a:t>
            </a:r>
            <a:r>
              <a:rPr sz="1800" b="1" dirty="0">
                <a:solidFill>
                  <a:srgbClr val="124673"/>
                </a:solidFill>
                <a:latin typeface="Aptos"/>
              </a:rPr>
              <a:t> </a:t>
            </a:r>
            <a:r>
              <a:rPr sz="1800" b="1" dirty="0" err="1">
                <a:solidFill>
                  <a:srgbClr val="124673"/>
                </a:solidFill>
                <a:latin typeface="Aptos"/>
              </a:rPr>
              <a:t>nhiều</a:t>
            </a:r>
            <a:r>
              <a:rPr sz="1800" b="1" dirty="0">
                <a:solidFill>
                  <a:srgbClr val="124673"/>
                </a:solidFill>
                <a:latin typeface="Aptos"/>
              </a:rPr>
              <a:t> </a:t>
            </a:r>
            <a:r>
              <a:rPr sz="1800" b="1" dirty="0" err="1">
                <a:solidFill>
                  <a:srgbClr val="124673"/>
                </a:solidFill>
                <a:latin typeface="Aptos"/>
              </a:rPr>
              <a:t>người</a:t>
            </a:r>
            <a:r>
              <a:rPr sz="1800" b="1" dirty="0">
                <a:solidFill>
                  <a:srgbClr val="124673"/>
                </a:solidFill>
                <a:latin typeface="Aptos"/>
              </a:rPr>
              <a:t> </a:t>
            </a:r>
            <a:r>
              <a:rPr sz="1800" b="1" dirty="0" err="1">
                <a:solidFill>
                  <a:srgbClr val="124673"/>
                </a:solidFill>
                <a:latin typeface="Aptos"/>
              </a:rPr>
              <a:t>càng</a:t>
            </a:r>
            <a:r>
              <a:rPr sz="1800" b="1" dirty="0">
                <a:solidFill>
                  <a:srgbClr val="124673"/>
                </a:solidFill>
                <a:latin typeface="Aptos"/>
              </a:rPr>
              <a:t> </a:t>
            </a:r>
            <a:r>
              <a:rPr sz="1800" b="1" dirty="0" err="1">
                <a:solidFill>
                  <a:srgbClr val="124673"/>
                </a:solidFill>
                <a:latin typeface="Aptos"/>
              </a:rPr>
              <a:t>tốt</a:t>
            </a:r>
            <a:r>
              <a:rPr sz="1800" b="1" dirty="0">
                <a:solidFill>
                  <a:srgbClr val="124673"/>
                </a:solidFill>
                <a:latin typeface="Aptos"/>
              </a:rPr>
              <a:t> — </a:t>
            </a:r>
            <a:r>
              <a:rPr sz="1800" b="1" dirty="0" err="1">
                <a:solidFill>
                  <a:srgbClr val="124673"/>
                </a:solidFill>
                <a:latin typeface="Aptos"/>
              </a:rPr>
              <a:t>mà</a:t>
            </a:r>
            <a:r>
              <a:rPr sz="1800" b="1" dirty="0">
                <a:solidFill>
                  <a:srgbClr val="124673"/>
                </a:solidFill>
                <a:latin typeface="Aptos"/>
              </a:rPr>
              <a:t> </a:t>
            </a:r>
            <a:r>
              <a:rPr sz="1800" b="1" dirty="0" err="1">
                <a:solidFill>
                  <a:srgbClr val="124673"/>
                </a:solidFill>
                <a:latin typeface="Aptos"/>
              </a:rPr>
              <a:t>là</a:t>
            </a:r>
            <a:r>
              <a:rPr sz="1800" b="1" dirty="0">
                <a:solidFill>
                  <a:srgbClr val="124673"/>
                </a:solidFill>
                <a:latin typeface="Aptos"/>
              </a:rPr>
              <a:t> </a:t>
            </a:r>
            <a:r>
              <a:rPr sz="1800" b="1" dirty="0" err="1">
                <a:solidFill>
                  <a:srgbClr val="124673"/>
                </a:solidFill>
                <a:latin typeface="Aptos"/>
              </a:rPr>
              <a:t>càng</a:t>
            </a:r>
            <a:r>
              <a:rPr sz="1800" b="1" dirty="0">
                <a:solidFill>
                  <a:srgbClr val="124673"/>
                </a:solidFill>
                <a:latin typeface="Aptos"/>
              </a:rPr>
              <a:t> </a:t>
            </a:r>
            <a:r>
              <a:rPr sz="1800" b="1" dirty="0" err="1">
                <a:solidFill>
                  <a:srgbClr val="124673"/>
                </a:solidFill>
                <a:latin typeface="Aptos"/>
              </a:rPr>
              <a:t>nhiều</a:t>
            </a:r>
            <a:r>
              <a:rPr sz="1800" b="1" dirty="0">
                <a:solidFill>
                  <a:srgbClr val="124673"/>
                </a:solidFill>
                <a:latin typeface="Aptos"/>
              </a:rPr>
              <a:t> </a:t>
            </a:r>
            <a:r>
              <a:rPr sz="1800" b="1" dirty="0" err="1">
                <a:solidFill>
                  <a:srgbClr val="124673"/>
                </a:solidFill>
                <a:latin typeface="Aptos"/>
              </a:rPr>
              <a:t>người</a:t>
            </a:r>
            <a:r>
              <a:rPr sz="1800" b="1" dirty="0">
                <a:solidFill>
                  <a:srgbClr val="124673"/>
                </a:solidFill>
                <a:latin typeface="Aptos"/>
              </a:rPr>
              <a:t> ĐÚNG </a:t>
            </a:r>
            <a:r>
              <a:rPr sz="1800" b="1" dirty="0" err="1">
                <a:solidFill>
                  <a:srgbClr val="124673"/>
                </a:solidFill>
                <a:latin typeface="Aptos"/>
              </a:rPr>
              <a:t>càng</a:t>
            </a:r>
            <a:r>
              <a:rPr sz="1800" b="1" dirty="0">
                <a:solidFill>
                  <a:srgbClr val="124673"/>
                </a:solidFill>
                <a:latin typeface="Aptos"/>
              </a:rPr>
              <a:t> </a:t>
            </a:r>
            <a:r>
              <a:rPr sz="1800" b="1" dirty="0" err="1">
                <a:solidFill>
                  <a:srgbClr val="124673"/>
                </a:solidFill>
                <a:latin typeface="Aptos"/>
              </a:rPr>
              <a:t>tốt</a:t>
            </a:r>
            <a:r>
              <a:rPr sz="1800" b="1" dirty="0">
                <a:solidFill>
                  <a:srgbClr val="124673"/>
                </a:solidFill>
                <a:latin typeface="Apto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D5D1C-0CD9-37F3-80A2-5A40D9AF59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9F4B6E-4149-2FA6-1605-068085FCC22A}"/>
              </a:ext>
            </a:extLst>
          </p:cNvPr>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85975E6-D760-41DF-5EA3-8FA4789B6703}"/>
              </a:ext>
            </a:extLst>
          </p:cNvPr>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TƯ DUY</a:t>
            </a:r>
          </a:p>
        </p:txBody>
      </p:sp>
      <p:sp>
        <p:nvSpPr>
          <p:cNvPr id="4" name="TextBox 3">
            <a:extLst>
              <a:ext uri="{FF2B5EF4-FFF2-40B4-BE49-F238E27FC236}">
                <a16:creationId xmlns:a16="http://schemas.microsoft.com/office/drawing/2014/main" id="{222F379B-6018-670A-0DA7-89E8C83AEA1E}"/>
              </a:ext>
            </a:extLst>
          </p:cNvPr>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Bài toán tuyển người đang được làm ngược như thế nào?</a:t>
            </a:r>
          </a:p>
        </p:txBody>
      </p:sp>
      <p:sp>
        <p:nvSpPr>
          <p:cNvPr id="5" name="TextBox 4">
            <a:extLst>
              <a:ext uri="{FF2B5EF4-FFF2-40B4-BE49-F238E27FC236}">
                <a16:creationId xmlns:a16="http://schemas.microsoft.com/office/drawing/2014/main" id="{505375F2-FF30-7D18-7699-9794C5965019}"/>
              </a:ext>
            </a:extLst>
          </p:cNvPr>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02</a:t>
            </a:r>
          </a:p>
        </p:txBody>
      </p:sp>
      <p:cxnSp>
        <p:nvCxnSpPr>
          <p:cNvPr id="6" name="Connector 5">
            <a:extLst>
              <a:ext uri="{FF2B5EF4-FFF2-40B4-BE49-F238E27FC236}">
                <a16:creationId xmlns:a16="http://schemas.microsoft.com/office/drawing/2014/main" id="{788FBECA-38A3-C59C-F613-BAA8D588FD6E}"/>
              </a:ext>
            </a:extLst>
          </p:cNvPr>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3F875663-CF11-744C-7389-60C4F96B30CF}"/>
              </a:ext>
            </a:extLst>
          </p:cNvPr>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F0AA67A-A172-0B2D-9186-874618DFFC8D}"/>
              </a:ext>
            </a:extLst>
          </p:cNvPr>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a:extLst>
              <a:ext uri="{FF2B5EF4-FFF2-40B4-BE49-F238E27FC236}">
                <a16:creationId xmlns:a16="http://schemas.microsoft.com/office/drawing/2014/main" id="{81F8E2E8-3E3A-DF0A-0E6C-D5AABE0CD407}"/>
              </a:ext>
            </a:extLst>
          </p:cNvPr>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a:extLst>
              <a:ext uri="{FF2B5EF4-FFF2-40B4-BE49-F238E27FC236}">
                <a16:creationId xmlns:a16="http://schemas.microsoft.com/office/drawing/2014/main" id="{9F164738-482F-1C2C-30A6-24466FCE9A4A}"/>
              </a:ext>
            </a:extLst>
          </p:cNvPr>
          <p:cNvSpPr/>
          <p:nvPr/>
        </p:nvSpPr>
        <p:spPr>
          <a:xfrm>
            <a:off x="640080" y="1508760"/>
            <a:ext cx="525780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D7C77B72-539B-C9D3-4AE1-9F2D341FD3DA}"/>
              </a:ext>
            </a:extLst>
          </p:cNvPr>
          <p:cNvSpPr/>
          <p:nvPr/>
        </p:nvSpPr>
        <p:spPr>
          <a:xfrm>
            <a:off x="640080" y="1508760"/>
            <a:ext cx="64008" cy="4297680"/>
          </a:xfrm>
          <a:prstGeom prst="rect">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a:extLst>
              <a:ext uri="{FF2B5EF4-FFF2-40B4-BE49-F238E27FC236}">
                <a16:creationId xmlns:a16="http://schemas.microsoft.com/office/drawing/2014/main" id="{5828F623-5309-97E2-49AD-CBE8088DCC14}"/>
              </a:ext>
            </a:extLst>
          </p:cNvPr>
          <p:cNvSpPr/>
          <p:nvPr/>
        </p:nvSpPr>
        <p:spPr>
          <a:xfrm>
            <a:off x="841247" y="1691639"/>
            <a:ext cx="384048" cy="384048"/>
          </a:xfrm>
          <a:prstGeom prst="ellipse">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3" name="TextBox 12">
            <a:extLst>
              <a:ext uri="{FF2B5EF4-FFF2-40B4-BE49-F238E27FC236}">
                <a16:creationId xmlns:a16="http://schemas.microsoft.com/office/drawing/2014/main" id="{31ADF24F-6FE4-BFD0-E2F4-B8939771D061}"/>
              </a:ext>
            </a:extLst>
          </p:cNvPr>
          <p:cNvSpPr txBox="1"/>
          <p:nvPr/>
        </p:nvSpPr>
        <p:spPr>
          <a:xfrm>
            <a:off x="1335024" y="1673351"/>
            <a:ext cx="4334256" cy="347472"/>
          </a:xfrm>
          <a:prstGeom prst="rect">
            <a:avLst/>
          </a:prstGeom>
          <a:noFill/>
        </p:spPr>
        <p:txBody>
          <a:bodyPr wrap="square" lIns="18288" tIns="18288" rIns="18288" bIns="18288">
            <a:normAutofit/>
          </a:bodyPr>
          <a:lstStyle/>
          <a:p>
            <a:pPr algn="l"/>
            <a:r>
              <a:rPr sz="1500" b="1" i="0">
                <a:solidFill>
                  <a:srgbClr val="08182B"/>
                </a:solidFill>
                <a:latin typeface="Aptos"/>
              </a:rPr>
              <a:t>CÁCH CŨ — “ĐI TÌM NGƯỜI”</a:t>
            </a:r>
          </a:p>
        </p:txBody>
      </p:sp>
      <p:sp>
        <p:nvSpPr>
          <p:cNvPr id="14" name="TextBox 13">
            <a:extLst>
              <a:ext uri="{FF2B5EF4-FFF2-40B4-BE49-F238E27FC236}">
                <a16:creationId xmlns:a16="http://schemas.microsoft.com/office/drawing/2014/main" id="{7CD1F48D-66C6-1BBB-8B5F-DA1CF16D1962}"/>
              </a:ext>
            </a:extLst>
          </p:cNvPr>
          <p:cNvSpPr txBox="1"/>
          <p:nvPr/>
        </p:nvSpPr>
        <p:spPr>
          <a:xfrm>
            <a:off x="1335024" y="2148839"/>
            <a:ext cx="4306824" cy="3511296"/>
          </a:xfrm>
          <a:prstGeom prst="rect">
            <a:avLst/>
          </a:prstGeom>
          <a:noFill/>
        </p:spPr>
        <p:txBody>
          <a:bodyPr wrap="square" lIns="18288" tIns="18288" rIns="18288" bIns="18288">
            <a:normAutofit/>
          </a:bodyPr>
          <a:lstStyle/>
          <a:p>
            <a:pPr algn="l"/>
            <a:r>
              <a:rPr sz="1500" b="0" i="0">
                <a:solidFill>
                  <a:srgbClr val="1F2D3D"/>
                </a:solidFill>
                <a:latin typeface="Aptos"/>
              </a:rPr>
              <a:t>Tìm danh sách → nhắn/mời → giải thích → theo đuổi → chờ phản hồi.
Quy mô bị giới hạn bởi số người bạn có thể tự tiếp cận mỗi ngày.
Điểm bắt đầu luôn là: “Tôi phải tìm ai để mời?”</a:t>
            </a:r>
          </a:p>
        </p:txBody>
      </p:sp>
      <p:sp>
        <p:nvSpPr>
          <p:cNvPr id="15" name="Rounded Rectangle 14">
            <a:extLst>
              <a:ext uri="{FF2B5EF4-FFF2-40B4-BE49-F238E27FC236}">
                <a16:creationId xmlns:a16="http://schemas.microsoft.com/office/drawing/2014/main" id="{79E60248-A707-4AE9-C6A6-51F4C38FB726}"/>
              </a:ext>
            </a:extLst>
          </p:cNvPr>
          <p:cNvSpPr/>
          <p:nvPr/>
        </p:nvSpPr>
        <p:spPr>
          <a:xfrm>
            <a:off x="6217920" y="1508760"/>
            <a:ext cx="525780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4C555EC-01FB-234E-4A5D-958EECDF069F}"/>
              </a:ext>
            </a:extLst>
          </p:cNvPr>
          <p:cNvSpPr/>
          <p:nvPr/>
        </p:nvSpPr>
        <p:spPr>
          <a:xfrm>
            <a:off x="6217920" y="1508760"/>
            <a:ext cx="64008" cy="42976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901EE293-4011-0C70-4E65-CAAB61AC5EB9}"/>
              </a:ext>
            </a:extLst>
          </p:cNvPr>
          <p:cNvSpPr/>
          <p:nvPr/>
        </p:nvSpPr>
        <p:spPr>
          <a:xfrm>
            <a:off x="6419088" y="1691639"/>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8" name="TextBox 17">
            <a:extLst>
              <a:ext uri="{FF2B5EF4-FFF2-40B4-BE49-F238E27FC236}">
                <a16:creationId xmlns:a16="http://schemas.microsoft.com/office/drawing/2014/main" id="{9DF9EAEF-4166-2817-B2F3-0C3A22C95E7A}"/>
              </a:ext>
            </a:extLst>
          </p:cNvPr>
          <p:cNvSpPr txBox="1"/>
          <p:nvPr/>
        </p:nvSpPr>
        <p:spPr>
          <a:xfrm>
            <a:off x="6912864" y="1673351"/>
            <a:ext cx="4334256" cy="347472"/>
          </a:xfrm>
          <a:prstGeom prst="rect">
            <a:avLst/>
          </a:prstGeom>
          <a:noFill/>
        </p:spPr>
        <p:txBody>
          <a:bodyPr wrap="square" lIns="18288" tIns="18288" rIns="18288" bIns="18288">
            <a:normAutofit/>
          </a:bodyPr>
          <a:lstStyle/>
          <a:p>
            <a:pPr algn="l"/>
            <a:r>
              <a:rPr sz="1500" b="1" i="0">
                <a:solidFill>
                  <a:srgbClr val="08182B"/>
                </a:solidFill>
                <a:latin typeface="Aptos"/>
              </a:rPr>
              <a:t>CÁCH MỚI — “XÂY KÊNH”</a:t>
            </a:r>
          </a:p>
        </p:txBody>
      </p:sp>
      <p:sp>
        <p:nvSpPr>
          <p:cNvPr id="19" name="TextBox 18">
            <a:extLst>
              <a:ext uri="{FF2B5EF4-FFF2-40B4-BE49-F238E27FC236}">
                <a16:creationId xmlns:a16="http://schemas.microsoft.com/office/drawing/2014/main" id="{263F4677-4D8A-9813-B328-1BE3C7E56D44}"/>
              </a:ext>
            </a:extLst>
          </p:cNvPr>
          <p:cNvSpPr txBox="1"/>
          <p:nvPr/>
        </p:nvSpPr>
        <p:spPr>
          <a:xfrm>
            <a:off x="6912864" y="2148839"/>
            <a:ext cx="4306824" cy="3511296"/>
          </a:xfrm>
          <a:prstGeom prst="rect">
            <a:avLst/>
          </a:prstGeom>
          <a:noFill/>
        </p:spPr>
        <p:txBody>
          <a:bodyPr wrap="square" lIns="18288" tIns="18288" rIns="18288" bIns="18288">
            <a:normAutofit/>
          </a:bodyPr>
          <a:lstStyle/>
          <a:p>
            <a:pPr algn="l"/>
            <a:r>
              <a:rPr sz="1500" b="0" i="0">
                <a:solidFill>
                  <a:srgbClr val="1F2D3D"/>
                </a:solidFill>
                <a:latin typeface="Aptos"/>
              </a:rPr>
              <a:t>Chọn đúng người → xây nội dung → tạo niềm tin → tạo tín hiệu → mời trải nghiệm → trao đổi sâu.
Quy mô đến từ nội dung và quy trình có thể lặp lại.
Điểm bắt đầu là: “Tôi cần xây giá trị gì để người phù hợp muốn tìm hiểu?”</a:t>
            </a:r>
          </a:p>
        </p:txBody>
      </p:sp>
      <p:sp>
        <p:nvSpPr>
          <p:cNvPr id="20" name="TextBox 19">
            <a:extLst>
              <a:ext uri="{FF2B5EF4-FFF2-40B4-BE49-F238E27FC236}">
                <a16:creationId xmlns:a16="http://schemas.microsoft.com/office/drawing/2014/main" id="{5F83837B-150B-D8F3-74F1-EF20EC76C652}"/>
              </a:ext>
            </a:extLst>
          </p:cNvPr>
          <p:cNvSpPr txBox="1"/>
          <p:nvPr/>
        </p:nvSpPr>
        <p:spPr>
          <a:xfrm>
            <a:off x="914400" y="5989320"/>
            <a:ext cx="10332720" cy="320040"/>
          </a:xfrm>
          <a:prstGeom prst="rect">
            <a:avLst/>
          </a:prstGeom>
          <a:noFill/>
        </p:spPr>
        <p:txBody>
          <a:bodyPr wrap="square" lIns="18288" tIns="18288" rIns="18288" bIns="18288">
            <a:normAutofit/>
          </a:bodyPr>
          <a:lstStyle/>
          <a:p>
            <a:pPr algn="ctr"/>
            <a:r>
              <a:rPr sz="1400" b="1" i="0">
                <a:solidFill>
                  <a:srgbClr val="08182B"/>
                </a:solidFill>
                <a:latin typeface="Aptos"/>
              </a:rPr>
              <a:t>PHƯƠNG THỨC MỚI = KHÔNG CHẠY THEO TỪNG NGƯỜI, MÀ XÂY DÒNG NGƯỜI CÓ NHU CẦU.</a:t>
            </a:r>
          </a:p>
        </p:txBody>
      </p:sp>
    </p:spTree>
    <p:extLst>
      <p:ext uri="{BB962C8B-B14F-4D97-AF65-F5344CB8AC3E}">
        <p14:creationId xmlns:p14="http://schemas.microsoft.com/office/powerpoint/2010/main" val="720866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ÔN TẬP NGÀY 1</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Từ “hồ nước” đến “dòng người”</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03</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777240" y="1600200"/>
            <a:ext cx="2037283"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 y="1719072"/>
            <a:ext cx="1964131" cy="475488"/>
          </a:xfrm>
          <a:prstGeom prst="rect">
            <a:avLst/>
          </a:prstGeom>
          <a:noFill/>
        </p:spPr>
        <p:txBody>
          <a:bodyPr wrap="square" lIns="18288" tIns="18288" rIns="18288" bIns="18288">
            <a:normAutofit/>
          </a:bodyPr>
          <a:lstStyle/>
          <a:p>
            <a:pPr algn="ctr"/>
            <a:r>
              <a:rPr sz="1120" b="1" i="0">
                <a:solidFill>
                  <a:srgbClr val="FFFFFF"/>
                </a:solidFill>
                <a:latin typeface="Aptos"/>
              </a:rPr>
              <a:t>XÂY HỒ</a:t>
            </a:r>
          </a:p>
        </p:txBody>
      </p:sp>
      <p:sp>
        <p:nvSpPr>
          <p:cNvPr id="12" name="Rounded Rectangle 11"/>
          <p:cNvSpPr/>
          <p:nvPr/>
        </p:nvSpPr>
        <p:spPr>
          <a:xfrm>
            <a:off x="2942539" y="1600200"/>
            <a:ext cx="2037283"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79115" y="1719072"/>
            <a:ext cx="1964131" cy="475488"/>
          </a:xfrm>
          <a:prstGeom prst="rect">
            <a:avLst/>
          </a:prstGeom>
          <a:noFill/>
        </p:spPr>
        <p:txBody>
          <a:bodyPr wrap="square" lIns="18288" tIns="18288" rIns="18288" bIns="18288">
            <a:normAutofit/>
          </a:bodyPr>
          <a:lstStyle/>
          <a:p>
            <a:pPr algn="ctr"/>
            <a:r>
              <a:rPr sz="1120" b="1" i="0">
                <a:solidFill>
                  <a:srgbClr val="08182B"/>
                </a:solidFill>
                <a:latin typeface="Aptos"/>
              </a:rPr>
              <a:t>TẠO GIÁ TRỊ</a:t>
            </a:r>
          </a:p>
        </p:txBody>
      </p:sp>
      <p:sp>
        <p:nvSpPr>
          <p:cNvPr id="14" name="Rounded Rectangle 13"/>
          <p:cNvSpPr/>
          <p:nvPr/>
        </p:nvSpPr>
        <p:spPr>
          <a:xfrm>
            <a:off x="5107838" y="1600200"/>
            <a:ext cx="2037283"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44414" y="1719072"/>
            <a:ext cx="1964131" cy="475488"/>
          </a:xfrm>
          <a:prstGeom prst="rect">
            <a:avLst/>
          </a:prstGeom>
          <a:noFill/>
        </p:spPr>
        <p:txBody>
          <a:bodyPr wrap="square" lIns="18288" tIns="18288" rIns="18288" bIns="18288">
            <a:normAutofit/>
          </a:bodyPr>
          <a:lstStyle/>
          <a:p>
            <a:pPr algn="ctr"/>
            <a:r>
              <a:rPr sz="1120" b="1" i="0">
                <a:solidFill>
                  <a:srgbClr val="08182B"/>
                </a:solidFill>
                <a:latin typeface="Aptos"/>
              </a:rPr>
              <a:t>CÓ NGƯỜI ĐẾN</a:t>
            </a:r>
          </a:p>
        </p:txBody>
      </p:sp>
      <p:sp>
        <p:nvSpPr>
          <p:cNvPr id="16" name="Rounded Rectangle 15"/>
          <p:cNvSpPr/>
          <p:nvPr/>
        </p:nvSpPr>
        <p:spPr>
          <a:xfrm>
            <a:off x="7273137" y="1600200"/>
            <a:ext cx="2037283"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09713" y="1719072"/>
            <a:ext cx="1964131" cy="475488"/>
          </a:xfrm>
          <a:prstGeom prst="rect">
            <a:avLst/>
          </a:prstGeom>
          <a:noFill/>
        </p:spPr>
        <p:txBody>
          <a:bodyPr wrap="square" lIns="18288" tIns="18288" rIns="18288" bIns="18288">
            <a:normAutofit/>
          </a:bodyPr>
          <a:lstStyle/>
          <a:p>
            <a:pPr algn="ctr"/>
            <a:r>
              <a:rPr sz="1120" b="1" i="0">
                <a:solidFill>
                  <a:srgbClr val="08182B"/>
                </a:solidFill>
                <a:latin typeface="Aptos"/>
              </a:rPr>
              <a:t>DẪN DÒNG</a:t>
            </a:r>
          </a:p>
        </p:txBody>
      </p:sp>
      <p:sp>
        <p:nvSpPr>
          <p:cNvPr id="18" name="Rounded Rectangle 17"/>
          <p:cNvSpPr/>
          <p:nvPr/>
        </p:nvSpPr>
        <p:spPr>
          <a:xfrm>
            <a:off x="9438436" y="1600200"/>
            <a:ext cx="2037283"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75012" y="1719072"/>
            <a:ext cx="1964131" cy="475488"/>
          </a:xfrm>
          <a:prstGeom prst="rect">
            <a:avLst/>
          </a:prstGeom>
          <a:noFill/>
        </p:spPr>
        <p:txBody>
          <a:bodyPr wrap="square" lIns="18288" tIns="18288" rIns="18288" bIns="18288">
            <a:normAutofit/>
          </a:bodyPr>
          <a:lstStyle/>
          <a:p>
            <a:pPr algn="ctr"/>
            <a:r>
              <a:rPr sz="1120" b="1" i="0">
                <a:solidFill>
                  <a:srgbClr val="FFFFFF"/>
                </a:solidFill>
                <a:latin typeface="Aptos"/>
              </a:rPr>
              <a:t>HÚT NGƯỜI PHÙ HỢP</a:t>
            </a:r>
          </a:p>
        </p:txBody>
      </p:sp>
      <p:sp>
        <p:nvSpPr>
          <p:cNvPr id="20" name="TextBox 19"/>
          <p:cNvSpPr txBox="1"/>
          <p:nvPr/>
        </p:nvSpPr>
        <p:spPr>
          <a:xfrm>
            <a:off x="914400" y="2697480"/>
            <a:ext cx="10241280" cy="457200"/>
          </a:xfrm>
          <a:prstGeom prst="rect">
            <a:avLst/>
          </a:prstGeom>
          <a:noFill/>
        </p:spPr>
        <p:txBody>
          <a:bodyPr wrap="square" lIns="18288" tIns="18288" rIns="18288" bIns="18288">
            <a:normAutofit/>
          </a:bodyPr>
          <a:lstStyle/>
          <a:p>
            <a:pPr algn="ctr"/>
            <a:r>
              <a:rPr sz="2100" b="1" i="0">
                <a:solidFill>
                  <a:srgbClr val="08182B"/>
                </a:solidFill>
                <a:latin typeface="Aptos"/>
              </a:rPr>
              <a:t>“Xây đường ống dẫn nước cần có hồ nước.”</a:t>
            </a:r>
          </a:p>
        </p:txBody>
      </p:sp>
      <p:sp>
        <p:nvSpPr>
          <p:cNvPr id="21" name="TextBox 20"/>
          <p:cNvSpPr txBox="1"/>
          <p:nvPr/>
        </p:nvSpPr>
        <p:spPr>
          <a:xfrm>
            <a:off x="1143000" y="3337560"/>
            <a:ext cx="9784080" cy="914400"/>
          </a:xfrm>
          <a:prstGeom prst="rect">
            <a:avLst/>
          </a:prstGeom>
          <a:noFill/>
        </p:spPr>
        <p:txBody>
          <a:bodyPr wrap="square" lIns="18288" tIns="18288" rIns="18288" bIns="18288">
            <a:normAutofit/>
          </a:bodyPr>
          <a:lstStyle/>
          <a:p>
            <a:pPr algn="ctr"/>
            <a:r>
              <a:rPr sz="1600" b="0" i="0">
                <a:solidFill>
                  <a:srgbClr val="1F2D3D"/>
                </a:solidFill>
                <a:latin typeface="Aptos"/>
              </a:rPr>
              <a:t>Nếu mỗi ngày chỉ đi tìm từng người, bạn luôn phải bắt đầu lại từ đầu.
Nếu có một kênh, nội dung tiếp tục làm việc ngay cả khi bạn không chủ động nhắn từng người.</a:t>
            </a:r>
          </a:p>
        </p:txBody>
      </p:sp>
      <p:sp>
        <p:nvSpPr>
          <p:cNvPr id="22" name="Rounded Rectangle 21"/>
          <p:cNvSpPr/>
          <p:nvPr/>
        </p:nvSpPr>
        <p:spPr>
          <a:xfrm>
            <a:off x="1828800" y="4663440"/>
            <a:ext cx="8503920" cy="868680"/>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11680" y="4919472"/>
            <a:ext cx="8138160" cy="320040"/>
          </a:xfrm>
          <a:prstGeom prst="rect">
            <a:avLst/>
          </a:prstGeom>
          <a:noFill/>
        </p:spPr>
        <p:txBody>
          <a:bodyPr wrap="square" lIns="18288" tIns="18288" rIns="18288" bIns="18288">
            <a:normAutofit/>
          </a:bodyPr>
          <a:lstStyle/>
          <a:p>
            <a:pPr algn="ctr"/>
            <a:r>
              <a:rPr sz="1300" b="1" i="0">
                <a:solidFill>
                  <a:srgbClr val="D4AF37"/>
                </a:solidFill>
                <a:latin typeface="Aptos"/>
              </a:rPr>
              <a:t>BÍ MẬT #1  •  XÂY NƠI CÓ NHU CẦU, ĐỂ NGƯỜI PHÙ HỢP TỰ TÌM ĐẾN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ẨN DỤ</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Trồng vườn hoa — ong bướm tự tìm đến</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04</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960120" y="1828800"/>
            <a:ext cx="914400" cy="9144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GIÁ</a:t>
            </a:r>
          </a:p>
        </p:txBody>
      </p:sp>
      <p:sp>
        <p:nvSpPr>
          <p:cNvPr id="11" name="Oval 10"/>
          <p:cNvSpPr/>
          <p:nvPr/>
        </p:nvSpPr>
        <p:spPr>
          <a:xfrm>
            <a:off x="2743200" y="1828800"/>
            <a:ext cx="914400" cy="91440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TRỊ</a:t>
            </a:r>
          </a:p>
        </p:txBody>
      </p:sp>
      <p:sp>
        <p:nvSpPr>
          <p:cNvPr id="12" name="Oval 11"/>
          <p:cNvSpPr/>
          <p:nvPr/>
        </p:nvSpPr>
        <p:spPr>
          <a:xfrm>
            <a:off x="4526280" y="1828800"/>
            <a:ext cx="914400" cy="914400"/>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ĐỀU</a:t>
            </a:r>
          </a:p>
        </p:txBody>
      </p:sp>
      <p:sp>
        <p:nvSpPr>
          <p:cNvPr id="13" name="TextBox 12"/>
          <p:cNvSpPr txBox="1"/>
          <p:nvPr/>
        </p:nvSpPr>
        <p:spPr>
          <a:xfrm>
            <a:off x="6035040" y="1691640"/>
            <a:ext cx="4892040" cy="1280160"/>
          </a:xfrm>
          <a:prstGeom prst="rect">
            <a:avLst/>
          </a:prstGeom>
          <a:noFill/>
        </p:spPr>
        <p:txBody>
          <a:bodyPr wrap="square" lIns="18288" tIns="18288" rIns="18288" bIns="18288">
            <a:normAutofit/>
          </a:bodyPr>
          <a:lstStyle/>
          <a:p>
            <a:pPr algn="l"/>
            <a:r>
              <a:rPr sz="2000" b="1" i="0">
                <a:solidFill>
                  <a:srgbClr val="08182B"/>
                </a:solidFill>
                <a:latin typeface="Aptos"/>
              </a:rPr>
              <a:t>Bạn không cần chạy theo từng con ong.
Bạn cần tạo một khu vườn đủ đúng để ong có lý do bay tới.</a:t>
            </a:r>
          </a:p>
        </p:txBody>
      </p:sp>
      <p:sp>
        <p:nvSpPr>
          <p:cNvPr id="14" name="Rounded Rectangle 13"/>
          <p:cNvSpPr/>
          <p:nvPr/>
        </p:nvSpPr>
        <p:spPr>
          <a:xfrm>
            <a:off x="822960" y="3657600"/>
            <a:ext cx="324612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3657600"/>
            <a:ext cx="64008" cy="150876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24128" y="3840480"/>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7" name="TextBox 16"/>
          <p:cNvSpPr txBox="1"/>
          <p:nvPr/>
        </p:nvSpPr>
        <p:spPr>
          <a:xfrm>
            <a:off x="1517904" y="3822191"/>
            <a:ext cx="2322575" cy="347472"/>
          </a:xfrm>
          <a:prstGeom prst="rect">
            <a:avLst/>
          </a:prstGeom>
          <a:noFill/>
        </p:spPr>
        <p:txBody>
          <a:bodyPr wrap="square" lIns="18288" tIns="18288" rIns="18288" bIns="18288">
            <a:normAutofit/>
          </a:bodyPr>
          <a:lstStyle/>
          <a:p>
            <a:pPr algn="l"/>
            <a:r>
              <a:rPr sz="1500" b="1" i="0">
                <a:solidFill>
                  <a:srgbClr val="08182B"/>
                </a:solidFill>
                <a:latin typeface="Aptos"/>
              </a:rPr>
              <a:t>VƯỜN</a:t>
            </a:r>
          </a:p>
        </p:txBody>
      </p:sp>
      <p:sp>
        <p:nvSpPr>
          <p:cNvPr id="18" name="TextBox 17"/>
          <p:cNvSpPr txBox="1"/>
          <p:nvPr/>
        </p:nvSpPr>
        <p:spPr>
          <a:xfrm>
            <a:off x="1517904" y="4297680"/>
            <a:ext cx="2295144" cy="722375"/>
          </a:xfrm>
          <a:prstGeom prst="rect">
            <a:avLst/>
          </a:prstGeom>
          <a:noFill/>
        </p:spPr>
        <p:txBody>
          <a:bodyPr wrap="square" lIns="18288" tIns="18288" rIns="18288" bIns="18288">
            <a:normAutofit/>
          </a:bodyPr>
          <a:lstStyle/>
          <a:p>
            <a:pPr algn="l"/>
            <a:r>
              <a:rPr sz="1300" b="0" i="0">
                <a:solidFill>
                  <a:srgbClr val="1F2D3D"/>
                </a:solidFill>
                <a:latin typeface="Aptos"/>
              </a:rPr>
              <a:t>Kênh + thông điệp + nội dung</a:t>
            </a:r>
          </a:p>
        </p:txBody>
      </p:sp>
      <p:sp>
        <p:nvSpPr>
          <p:cNvPr id="19" name="Rounded Rectangle 18"/>
          <p:cNvSpPr/>
          <p:nvPr/>
        </p:nvSpPr>
        <p:spPr>
          <a:xfrm>
            <a:off x="4480560" y="3657600"/>
            <a:ext cx="324612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80560" y="3657600"/>
            <a:ext cx="64008" cy="15087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681728" y="3840480"/>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22" name="TextBox 21"/>
          <p:cNvSpPr txBox="1"/>
          <p:nvPr/>
        </p:nvSpPr>
        <p:spPr>
          <a:xfrm>
            <a:off x="5175504" y="3822191"/>
            <a:ext cx="2322576" cy="347472"/>
          </a:xfrm>
          <a:prstGeom prst="rect">
            <a:avLst/>
          </a:prstGeom>
          <a:noFill/>
        </p:spPr>
        <p:txBody>
          <a:bodyPr wrap="square" lIns="18288" tIns="18288" rIns="18288" bIns="18288">
            <a:normAutofit/>
          </a:bodyPr>
          <a:lstStyle/>
          <a:p>
            <a:pPr algn="l"/>
            <a:r>
              <a:rPr sz="1500" b="1" i="0">
                <a:solidFill>
                  <a:srgbClr val="08182B"/>
                </a:solidFill>
                <a:latin typeface="Aptos"/>
              </a:rPr>
              <a:t>HOA</a:t>
            </a:r>
          </a:p>
        </p:txBody>
      </p:sp>
      <p:sp>
        <p:nvSpPr>
          <p:cNvPr id="23" name="TextBox 22"/>
          <p:cNvSpPr txBox="1"/>
          <p:nvPr/>
        </p:nvSpPr>
        <p:spPr>
          <a:xfrm>
            <a:off x="5175504" y="4297680"/>
            <a:ext cx="2295144" cy="722375"/>
          </a:xfrm>
          <a:prstGeom prst="rect">
            <a:avLst/>
          </a:prstGeom>
          <a:noFill/>
        </p:spPr>
        <p:txBody>
          <a:bodyPr wrap="square" lIns="18288" tIns="18288" rIns="18288" bIns="18288">
            <a:normAutofit/>
          </a:bodyPr>
          <a:lstStyle/>
          <a:p>
            <a:pPr algn="l"/>
            <a:r>
              <a:rPr sz="1300" b="0" i="0">
                <a:solidFill>
                  <a:srgbClr val="1F2D3D"/>
                </a:solidFill>
                <a:latin typeface="Aptos"/>
              </a:rPr>
              <a:t>Giá trị + bằng chứng + con người</a:t>
            </a:r>
          </a:p>
        </p:txBody>
      </p:sp>
      <p:sp>
        <p:nvSpPr>
          <p:cNvPr id="24" name="Rounded Rectangle 23"/>
          <p:cNvSpPr/>
          <p:nvPr/>
        </p:nvSpPr>
        <p:spPr>
          <a:xfrm>
            <a:off x="8138160" y="3657600"/>
            <a:ext cx="324612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38160" y="3657600"/>
            <a:ext cx="64008" cy="150876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39328" y="3840480"/>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27" name="TextBox 26"/>
          <p:cNvSpPr txBox="1"/>
          <p:nvPr/>
        </p:nvSpPr>
        <p:spPr>
          <a:xfrm>
            <a:off x="8833104" y="3822191"/>
            <a:ext cx="2322576" cy="347472"/>
          </a:xfrm>
          <a:prstGeom prst="rect">
            <a:avLst/>
          </a:prstGeom>
          <a:noFill/>
        </p:spPr>
        <p:txBody>
          <a:bodyPr wrap="square" lIns="18288" tIns="18288" rIns="18288" bIns="18288">
            <a:normAutofit/>
          </a:bodyPr>
          <a:lstStyle/>
          <a:p>
            <a:pPr algn="l"/>
            <a:r>
              <a:rPr sz="1500" b="1" i="0">
                <a:solidFill>
                  <a:srgbClr val="08182B"/>
                </a:solidFill>
                <a:latin typeface="Aptos"/>
              </a:rPr>
              <a:t>ONG</a:t>
            </a:r>
          </a:p>
        </p:txBody>
      </p:sp>
      <p:sp>
        <p:nvSpPr>
          <p:cNvPr id="28" name="TextBox 27"/>
          <p:cNvSpPr txBox="1"/>
          <p:nvPr/>
        </p:nvSpPr>
        <p:spPr>
          <a:xfrm>
            <a:off x="8833104" y="4297680"/>
            <a:ext cx="2295144" cy="722375"/>
          </a:xfrm>
          <a:prstGeom prst="rect">
            <a:avLst/>
          </a:prstGeom>
          <a:noFill/>
        </p:spPr>
        <p:txBody>
          <a:bodyPr wrap="square" lIns="18288" tIns="18288" rIns="18288" bIns="18288">
            <a:normAutofit/>
          </a:bodyPr>
          <a:lstStyle/>
          <a:p>
            <a:pPr algn="l"/>
            <a:r>
              <a:rPr sz="1300" b="0" i="0">
                <a:solidFill>
                  <a:srgbClr val="1F2D3D"/>
                </a:solidFill>
                <a:latin typeface="Aptos"/>
              </a:rPr>
              <a:t>Người có nhu cầu chủ động tìm hiểu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BƯỚC 1</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Chọn đúng chân dung trước khi quay video</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05</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342900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5196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3" name="TextBox 12"/>
          <p:cNvSpPr txBox="1"/>
          <p:nvPr/>
        </p:nvSpPr>
        <p:spPr>
          <a:xfrm>
            <a:off x="1335024" y="1673351"/>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NỖI ĐAU</a:t>
            </a:r>
          </a:p>
        </p:txBody>
      </p:sp>
      <p:sp>
        <p:nvSpPr>
          <p:cNvPr id="14" name="TextBox 13"/>
          <p:cNvSpPr txBox="1"/>
          <p:nvPr/>
        </p:nvSpPr>
        <p:spPr>
          <a:xfrm>
            <a:off x="1335024" y="2148839"/>
            <a:ext cx="2478024" cy="3465576"/>
          </a:xfrm>
          <a:prstGeom prst="rect">
            <a:avLst/>
          </a:prstGeom>
          <a:noFill/>
        </p:spPr>
        <p:txBody>
          <a:bodyPr wrap="square" lIns="18288" tIns="18288" rIns="18288" bIns="18288">
            <a:normAutofit/>
          </a:bodyPr>
          <a:lstStyle/>
          <a:p>
            <a:pPr algn="l"/>
            <a:r>
              <a:rPr sz="1500" b="0" i="0">
                <a:solidFill>
                  <a:srgbClr val="1F2D3D"/>
                </a:solidFill>
                <a:latin typeface="Aptos"/>
              </a:rPr>
              <a:t>Thu nhập
Thời gian
Bế tắc công việc
Muốn phát triển bản thân</a:t>
            </a:r>
          </a:p>
        </p:txBody>
      </p:sp>
      <p:sp>
        <p:nvSpPr>
          <p:cNvPr id="15" name="Rounded Rectangle 14"/>
          <p:cNvSpPr/>
          <p:nvPr/>
        </p:nvSpPr>
        <p:spPr>
          <a:xfrm>
            <a:off x="4370832" y="1508760"/>
            <a:ext cx="342900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0832" y="1508760"/>
            <a:ext cx="64008" cy="42519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72000" y="1691639"/>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18" name="TextBox 17"/>
          <p:cNvSpPr txBox="1"/>
          <p:nvPr/>
        </p:nvSpPr>
        <p:spPr>
          <a:xfrm>
            <a:off x="5065776" y="1673351"/>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MONG MUỐN</a:t>
            </a:r>
          </a:p>
        </p:txBody>
      </p:sp>
      <p:sp>
        <p:nvSpPr>
          <p:cNvPr id="19" name="TextBox 18"/>
          <p:cNvSpPr txBox="1"/>
          <p:nvPr/>
        </p:nvSpPr>
        <p:spPr>
          <a:xfrm>
            <a:off x="5065776" y="2148839"/>
            <a:ext cx="2478024" cy="3465576"/>
          </a:xfrm>
          <a:prstGeom prst="rect">
            <a:avLst/>
          </a:prstGeom>
          <a:noFill/>
        </p:spPr>
        <p:txBody>
          <a:bodyPr wrap="square" lIns="18288" tIns="18288" rIns="18288" bIns="18288">
            <a:normAutofit/>
          </a:bodyPr>
          <a:lstStyle/>
          <a:p>
            <a:pPr algn="l"/>
            <a:r>
              <a:rPr sz="1500" b="0" i="0">
                <a:solidFill>
                  <a:srgbClr val="1F2D3D"/>
                </a:solidFill>
                <a:latin typeface="Aptos"/>
              </a:rPr>
              <a:t>Chủ động hơn
Có thêm lựa chọn
Học kỹ năng mới
Xây một nguồn lực dài hạn</a:t>
            </a:r>
          </a:p>
        </p:txBody>
      </p:sp>
      <p:sp>
        <p:nvSpPr>
          <p:cNvPr id="20" name="Rounded Rectangle 19"/>
          <p:cNvSpPr/>
          <p:nvPr/>
        </p:nvSpPr>
        <p:spPr>
          <a:xfrm>
            <a:off x="8101583" y="1508760"/>
            <a:ext cx="342900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01583" y="1508760"/>
            <a:ext cx="64008" cy="425196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02752" y="1691639"/>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23" name="TextBox 22"/>
          <p:cNvSpPr txBox="1"/>
          <p:nvPr/>
        </p:nvSpPr>
        <p:spPr>
          <a:xfrm>
            <a:off x="8796528" y="1673351"/>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HÀNH VI</a:t>
            </a:r>
          </a:p>
        </p:txBody>
      </p:sp>
      <p:sp>
        <p:nvSpPr>
          <p:cNvPr id="24" name="TextBox 23"/>
          <p:cNvSpPr txBox="1"/>
          <p:nvPr/>
        </p:nvSpPr>
        <p:spPr>
          <a:xfrm>
            <a:off x="8796528" y="2148839"/>
            <a:ext cx="2478024" cy="3465576"/>
          </a:xfrm>
          <a:prstGeom prst="rect">
            <a:avLst/>
          </a:prstGeom>
          <a:noFill/>
        </p:spPr>
        <p:txBody>
          <a:bodyPr wrap="square" lIns="18288" tIns="18288" rIns="18288" bIns="18288">
            <a:normAutofit/>
          </a:bodyPr>
          <a:lstStyle/>
          <a:p>
            <a:pPr algn="l"/>
            <a:r>
              <a:rPr sz="1500" b="0" i="0">
                <a:solidFill>
                  <a:srgbClr val="1F2D3D"/>
                </a:solidFill>
                <a:latin typeface="Aptos"/>
              </a:rPr>
              <a:t>TikTok / Facebook
Nhóm cộng đồng
YouTube
Kênh chuyên môn
Nơi họ đặt câu hỏi</a:t>
            </a:r>
          </a:p>
        </p:txBody>
      </p:sp>
      <p:sp>
        <p:nvSpPr>
          <p:cNvPr id="25" name="TextBox 24"/>
          <p:cNvSpPr txBox="1"/>
          <p:nvPr/>
        </p:nvSpPr>
        <p:spPr>
          <a:xfrm>
            <a:off x="1188720" y="5916168"/>
            <a:ext cx="9784080" cy="347472"/>
          </a:xfrm>
          <a:prstGeom prst="rect">
            <a:avLst/>
          </a:prstGeom>
          <a:noFill/>
        </p:spPr>
        <p:txBody>
          <a:bodyPr wrap="square" lIns="18288" tIns="18288" rIns="18288" bIns="18288">
            <a:normAutofit/>
          </a:bodyPr>
          <a:lstStyle/>
          <a:p>
            <a:pPr algn="ctr"/>
            <a:r>
              <a:rPr sz="1600" b="1" i="0">
                <a:solidFill>
                  <a:srgbClr val="08182B"/>
                </a:solidFill>
                <a:latin typeface="Aptos"/>
              </a:rPr>
              <a:t>Sai chân dung → nói với tất cả → cuối cùng không chạm ai.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CHÂN DUNG</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Công thức 5 ô — viết trước, quay sau</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06</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594360" y="1554480"/>
            <a:ext cx="1965960" cy="23317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07592" y="1764792"/>
            <a:ext cx="502920" cy="50292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1</a:t>
            </a:r>
          </a:p>
        </p:txBody>
      </p:sp>
      <p:sp>
        <p:nvSpPr>
          <p:cNvPr id="12" name="TextBox 11"/>
          <p:cNvSpPr txBox="1"/>
          <p:nvPr/>
        </p:nvSpPr>
        <p:spPr>
          <a:xfrm>
            <a:off x="731520" y="2468880"/>
            <a:ext cx="1691640" cy="320040"/>
          </a:xfrm>
          <a:prstGeom prst="rect">
            <a:avLst/>
          </a:prstGeom>
          <a:noFill/>
        </p:spPr>
        <p:txBody>
          <a:bodyPr wrap="square" lIns="18288" tIns="18288" rIns="18288" bIns="18288">
            <a:normAutofit/>
          </a:bodyPr>
          <a:lstStyle/>
          <a:p>
            <a:pPr algn="ctr"/>
            <a:r>
              <a:rPr sz="1300" b="1" i="0">
                <a:solidFill>
                  <a:srgbClr val="08182B"/>
                </a:solidFill>
                <a:latin typeface="Aptos"/>
              </a:rPr>
              <a:t>AI?</a:t>
            </a:r>
          </a:p>
        </p:txBody>
      </p:sp>
      <p:sp>
        <p:nvSpPr>
          <p:cNvPr id="13" name="TextBox 12"/>
          <p:cNvSpPr txBox="1"/>
          <p:nvPr/>
        </p:nvSpPr>
        <p:spPr>
          <a:xfrm>
            <a:off x="758952" y="2971800"/>
            <a:ext cx="1645920" cy="594360"/>
          </a:xfrm>
          <a:prstGeom prst="rect">
            <a:avLst/>
          </a:prstGeom>
          <a:noFill/>
        </p:spPr>
        <p:txBody>
          <a:bodyPr wrap="square" lIns="18288" tIns="18288" rIns="18288" bIns="18288">
            <a:normAutofit/>
          </a:bodyPr>
          <a:lstStyle/>
          <a:p>
            <a:pPr algn="ctr"/>
            <a:r>
              <a:rPr sz="1220" b="0" i="0">
                <a:solidFill>
                  <a:srgbClr val="1F2D3D"/>
                </a:solidFill>
                <a:latin typeface="Aptos"/>
              </a:rPr>
              <a:t>Nhóm người cụ thể</a:t>
            </a:r>
          </a:p>
        </p:txBody>
      </p:sp>
      <p:sp>
        <p:nvSpPr>
          <p:cNvPr id="14" name="Rounded Rectangle 13"/>
          <p:cNvSpPr/>
          <p:nvPr/>
        </p:nvSpPr>
        <p:spPr>
          <a:xfrm>
            <a:off x="2880360" y="1554480"/>
            <a:ext cx="1965960" cy="23317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593591" y="1764792"/>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2</a:t>
            </a:r>
          </a:p>
        </p:txBody>
      </p:sp>
      <p:sp>
        <p:nvSpPr>
          <p:cNvPr id="16" name="TextBox 15"/>
          <p:cNvSpPr txBox="1"/>
          <p:nvPr/>
        </p:nvSpPr>
        <p:spPr>
          <a:xfrm>
            <a:off x="3017520" y="2468880"/>
            <a:ext cx="1691640" cy="320040"/>
          </a:xfrm>
          <a:prstGeom prst="rect">
            <a:avLst/>
          </a:prstGeom>
          <a:noFill/>
        </p:spPr>
        <p:txBody>
          <a:bodyPr wrap="square" lIns="18288" tIns="18288" rIns="18288" bIns="18288">
            <a:normAutofit/>
          </a:bodyPr>
          <a:lstStyle/>
          <a:p>
            <a:pPr algn="ctr"/>
            <a:r>
              <a:rPr sz="1300" b="1" i="0">
                <a:solidFill>
                  <a:srgbClr val="08182B"/>
                </a:solidFill>
                <a:latin typeface="Aptos"/>
              </a:rPr>
              <a:t>ĐANG VƯỚNG?</a:t>
            </a:r>
          </a:p>
        </p:txBody>
      </p:sp>
      <p:sp>
        <p:nvSpPr>
          <p:cNvPr id="17" name="TextBox 16"/>
          <p:cNvSpPr txBox="1"/>
          <p:nvPr/>
        </p:nvSpPr>
        <p:spPr>
          <a:xfrm>
            <a:off x="3044952" y="2971800"/>
            <a:ext cx="1645920" cy="594360"/>
          </a:xfrm>
          <a:prstGeom prst="rect">
            <a:avLst/>
          </a:prstGeom>
          <a:noFill/>
        </p:spPr>
        <p:txBody>
          <a:bodyPr wrap="square" lIns="18288" tIns="18288" rIns="18288" bIns="18288">
            <a:normAutofit/>
          </a:bodyPr>
          <a:lstStyle/>
          <a:p>
            <a:pPr algn="ctr"/>
            <a:r>
              <a:rPr sz="1220" b="0" i="0">
                <a:solidFill>
                  <a:srgbClr val="1F2D3D"/>
                </a:solidFill>
                <a:latin typeface="Aptos"/>
              </a:rPr>
              <a:t>Vấn đề cấp thiết</a:t>
            </a:r>
          </a:p>
        </p:txBody>
      </p:sp>
      <p:sp>
        <p:nvSpPr>
          <p:cNvPr id="18" name="Rounded Rectangle 17"/>
          <p:cNvSpPr/>
          <p:nvPr/>
        </p:nvSpPr>
        <p:spPr>
          <a:xfrm>
            <a:off x="5166360" y="1554480"/>
            <a:ext cx="1965960" cy="23317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879592" y="1764792"/>
            <a:ext cx="502920" cy="502920"/>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3</a:t>
            </a:r>
          </a:p>
        </p:txBody>
      </p:sp>
      <p:sp>
        <p:nvSpPr>
          <p:cNvPr id="20" name="TextBox 19"/>
          <p:cNvSpPr txBox="1"/>
          <p:nvPr/>
        </p:nvSpPr>
        <p:spPr>
          <a:xfrm>
            <a:off x="5303520" y="2468880"/>
            <a:ext cx="1691640" cy="320040"/>
          </a:xfrm>
          <a:prstGeom prst="rect">
            <a:avLst/>
          </a:prstGeom>
          <a:noFill/>
        </p:spPr>
        <p:txBody>
          <a:bodyPr wrap="square" lIns="18288" tIns="18288" rIns="18288" bIns="18288">
            <a:normAutofit/>
          </a:bodyPr>
          <a:lstStyle/>
          <a:p>
            <a:pPr algn="ctr"/>
            <a:r>
              <a:rPr sz="1300" b="1" i="0">
                <a:solidFill>
                  <a:srgbClr val="08182B"/>
                </a:solidFill>
                <a:latin typeface="Aptos"/>
              </a:rPr>
              <a:t>MUỐN GÌ?</a:t>
            </a:r>
          </a:p>
        </p:txBody>
      </p:sp>
      <p:sp>
        <p:nvSpPr>
          <p:cNvPr id="21" name="TextBox 20"/>
          <p:cNvSpPr txBox="1"/>
          <p:nvPr/>
        </p:nvSpPr>
        <p:spPr>
          <a:xfrm>
            <a:off x="5330952" y="2971800"/>
            <a:ext cx="1645920" cy="594360"/>
          </a:xfrm>
          <a:prstGeom prst="rect">
            <a:avLst/>
          </a:prstGeom>
          <a:noFill/>
        </p:spPr>
        <p:txBody>
          <a:bodyPr wrap="square" lIns="18288" tIns="18288" rIns="18288" bIns="18288">
            <a:normAutofit/>
          </a:bodyPr>
          <a:lstStyle/>
          <a:p>
            <a:pPr algn="ctr"/>
            <a:r>
              <a:rPr sz="1220" b="0" i="0">
                <a:solidFill>
                  <a:srgbClr val="1F2D3D"/>
                </a:solidFill>
                <a:latin typeface="Aptos"/>
              </a:rPr>
              <a:t>Kết quả mong muốn</a:t>
            </a:r>
          </a:p>
        </p:txBody>
      </p:sp>
      <p:sp>
        <p:nvSpPr>
          <p:cNvPr id="22" name="Rounded Rectangle 21"/>
          <p:cNvSpPr/>
          <p:nvPr/>
        </p:nvSpPr>
        <p:spPr>
          <a:xfrm>
            <a:off x="7452360" y="1554480"/>
            <a:ext cx="1965960" cy="23317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165592" y="1764792"/>
            <a:ext cx="502920" cy="50292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4</a:t>
            </a:r>
          </a:p>
        </p:txBody>
      </p:sp>
      <p:sp>
        <p:nvSpPr>
          <p:cNvPr id="24" name="TextBox 23"/>
          <p:cNvSpPr txBox="1"/>
          <p:nvPr/>
        </p:nvSpPr>
        <p:spPr>
          <a:xfrm>
            <a:off x="7589520" y="2468880"/>
            <a:ext cx="1691640" cy="320040"/>
          </a:xfrm>
          <a:prstGeom prst="rect">
            <a:avLst/>
          </a:prstGeom>
          <a:noFill/>
        </p:spPr>
        <p:txBody>
          <a:bodyPr wrap="square" lIns="18288" tIns="18288" rIns="18288" bIns="18288">
            <a:normAutofit/>
          </a:bodyPr>
          <a:lstStyle/>
          <a:p>
            <a:pPr algn="ctr"/>
            <a:r>
              <a:rPr sz="1300" b="1" i="0">
                <a:solidFill>
                  <a:srgbClr val="08182B"/>
                </a:solidFill>
                <a:latin typeface="Aptos"/>
              </a:rPr>
              <a:t>ĐÃ THỬ GÌ?</a:t>
            </a:r>
          </a:p>
        </p:txBody>
      </p:sp>
      <p:sp>
        <p:nvSpPr>
          <p:cNvPr id="25" name="TextBox 24"/>
          <p:cNvSpPr txBox="1"/>
          <p:nvPr/>
        </p:nvSpPr>
        <p:spPr>
          <a:xfrm>
            <a:off x="7616952" y="2971800"/>
            <a:ext cx="1645920" cy="594360"/>
          </a:xfrm>
          <a:prstGeom prst="rect">
            <a:avLst/>
          </a:prstGeom>
          <a:noFill/>
        </p:spPr>
        <p:txBody>
          <a:bodyPr wrap="square" lIns="18288" tIns="18288" rIns="18288" bIns="18288">
            <a:normAutofit/>
          </a:bodyPr>
          <a:lstStyle/>
          <a:p>
            <a:pPr algn="ctr"/>
            <a:r>
              <a:rPr sz="1220" b="0" i="0">
                <a:solidFill>
                  <a:srgbClr val="1F2D3D"/>
                </a:solidFill>
                <a:latin typeface="Aptos"/>
              </a:rPr>
              <a:t>Cách cũ / trở ngại</a:t>
            </a:r>
          </a:p>
        </p:txBody>
      </p:sp>
      <p:sp>
        <p:nvSpPr>
          <p:cNvPr id="26" name="Rounded Rectangle 25"/>
          <p:cNvSpPr/>
          <p:nvPr/>
        </p:nvSpPr>
        <p:spPr>
          <a:xfrm>
            <a:off x="9738360" y="1554480"/>
            <a:ext cx="1965960" cy="23317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451592" y="1764792"/>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5</a:t>
            </a:r>
          </a:p>
        </p:txBody>
      </p:sp>
      <p:sp>
        <p:nvSpPr>
          <p:cNvPr id="28" name="TextBox 27"/>
          <p:cNvSpPr txBox="1"/>
          <p:nvPr/>
        </p:nvSpPr>
        <p:spPr>
          <a:xfrm>
            <a:off x="9875520" y="2468880"/>
            <a:ext cx="1691640" cy="320040"/>
          </a:xfrm>
          <a:prstGeom prst="rect">
            <a:avLst/>
          </a:prstGeom>
          <a:noFill/>
        </p:spPr>
        <p:txBody>
          <a:bodyPr wrap="square" lIns="18288" tIns="18288" rIns="18288" bIns="18288">
            <a:normAutofit/>
          </a:bodyPr>
          <a:lstStyle/>
          <a:p>
            <a:pPr algn="ctr"/>
            <a:r>
              <a:rPr sz="1300" b="1" i="0">
                <a:solidFill>
                  <a:srgbClr val="08182B"/>
                </a:solidFill>
                <a:latin typeface="Aptos"/>
              </a:rPr>
              <a:t>CẦN THẤY GÌ?</a:t>
            </a:r>
          </a:p>
        </p:txBody>
      </p:sp>
      <p:sp>
        <p:nvSpPr>
          <p:cNvPr id="29" name="TextBox 28"/>
          <p:cNvSpPr txBox="1"/>
          <p:nvPr/>
        </p:nvSpPr>
        <p:spPr>
          <a:xfrm>
            <a:off x="9902952" y="2971800"/>
            <a:ext cx="1645920" cy="594360"/>
          </a:xfrm>
          <a:prstGeom prst="rect">
            <a:avLst/>
          </a:prstGeom>
          <a:noFill/>
        </p:spPr>
        <p:txBody>
          <a:bodyPr wrap="square" lIns="18288" tIns="18288" rIns="18288" bIns="18288">
            <a:normAutofit/>
          </a:bodyPr>
          <a:lstStyle/>
          <a:p>
            <a:pPr algn="ctr"/>
            <a:r>
              <a:rPr sz="1220" b="0" i="0">
                <a:solidFill>
                  <a:srgbClr val="1F2D3D"/>
                </a:solidFill>
                <a:latin typeface="Aptos"/>
              </a:rPr>
              <a:t>Niềm tin mới / giải pháp</a:t>
            </a:r>
          </a:p>
        </p:txBody>
      </p:sp>
      <p:sp>
        <p:nvSpPr>
          <p:cNvPr id="30" name="TextBox 29"/>
          <p:cNvSpPr txBox="1"/>
          <p:nvPr/>
        </p:nvSpPr>
        <p:spPr>
          <a:xfrm>
            <a:off x="777240" y="4434840"/>
            <a:ext cx="1828800" cy="274320"/>
          </a:xfrm>
          <a:prstGeom prst="rect">
            <a:avLst/>
          </a:prstGeom>
          <a:noFill/>
        </p:spPr>
        <p:txBody>
          <a:bodyPr wrap="square" lIns="18288" tIns="18288" rIns="18288" bIns="18288">
            <a:normAutofit/>
          </a:bodyPr>
          <a:lstStyle/>
          <a:p>
            <a:pPr algn="l"/>
            <a:r>
              <a:rPr sz="1000" b="1" i="0">
                <a:solidFill>
                  <a:srgbClr val="D4AF37"/>
                </a:solidFill>
                <a:latin typeface="Aptos"/>
              </a:rPr>
              <a:t>BÀI TẬP 60 GIÂY</a:t>
            </a:r>
          </a:p>
        </p:txBody>
      </p:sp>
      <p:sp>
        <p:nvSpPr>
          <p:cNvPr id="31" name="TextBox 30"/>
          <p:cNvSpPr txBox="1"/>
          <p:nvPr/>
        </p:nvSpPr>
        <p:spPr>
          <a:xfrm>
            <a:off x="777240" y="4828032"/>
            <a:ext cx="10698480" cy="640080"/>
          </a:xfrm>
          <a:prstGeom prst="rect">
            <a:avLst/>
          </a:prstGeom>
          <a:noFill/>
        </p:spPr>
        <p:txBody>
          <a:bodyPr wrap="square" lIns="18288" tIns="18288" rIns="18288" bIns="18288">
            <a:normAutofit/>
          </a:bodyPr>
          <a:lstStyle/>
          <a:p>
            <a:pPr algn="ctr"/>
            <a:r>
              <a:rPr sz="1800" b="1" i="0">
                <a:solidFill>
                  <a:srgbClr val="08182B"/>
                </a:solidFill>
                <a:latin typeface="Aptos"/>
              </a:rPr>
              <a:t>“Tôi đang nói với ________, họ đang ________, họ muốn ________, đã thử ________, và cần thấy ________.”</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ĐỊNH VỊ</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Kênh phải trả lời 3 câu hỏi trong 5 giây</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07</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731520" y="150876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01</a:t>
            </a:r>
          </a:p>
        </p:txBody>
      </p:sp>
      <p:sp>
        <p:nvSpPr>
          <p:cNvPr id="11" name="TextBox 10"/>
          <p:cNvSpPr txBox="1"/>
          <p:nvPr/>
        </p:nvSpPr>
        <p:spPr>
          <a:xfrm>
            <a:off x="1463040" y="1527048"/>
            <a:ext cx="3108960" cy="320040"/>
          </a:xfrm>
          <a:prstGeom prst="rect">
            <a:avLst/>
          </a:prstGeom>
          <a:noFill/>
        </p:spPr>
        <p:txBody>
          <a:bodyPr wrap="square" lIns="18288" tIns="18288" rIns="18288" bIns="18288">
            <a:normAutofit/>
          </a:bodyPr>
          <a:lstStyle/>
          <a:p>
            <a:pPr algn="l"/>
            <a:r>
              <a:rPr sz="1400" b="1" i="0">
                <a:solidFill>
                  <a:srgbClr val="08182B"/>
                </a:solidFill>
                <a:latin typeface="Aptos"/>
              </a:rPr>
              <a:t>TÔI NÓI VỚI AI?</a:t>
            </a:r>
          </a:p>
        </p:txBody>
      </p:sp>
      <p:sp>
        <p:nvSpPr>
          <p:cNvPr id="12" name="TextBox 11"/>
          <p:cNvSpPr txBox="1"/>
          <p:nvPr/>
        </p:nvSpPr>
        <p:spPr>
          <a:xfrm>
            <a:off x="4572000" y="1499616"/>
            <a:ext cx="6583680" cy="594360"/>
          </a:xfrm>
          <a:prstGeom prst="rect">
            <a:avLst/>
          </a:prstGeom>
          <a:noFill/>
        </p:spPr>
        <p:txBody>
          <a:bodyPr wrap="square" lIns="18288" tIns="18288" rIns="18288" bIns="18288">
            <a:normAutofit/>
          </a:bodyPr>
          <a:lstStyle/>
          <a:p>
            <a:pPr algn="l"/>
            <a:r>
              <a:rPr sz="1400" b="0" i="0">
                <a:solidFill>
                  <a:srgbClr val="1F2D3D"/>
                </a:solidFill>
                <a:latin typeface="Aptos"/>
              </a:rPr>
              <a:t>Một nhóm người đủ cụ thể để họ nhận ra chính mình.</a:t>
            </a:r>
          </a:p>
        </p:txBody>
      </p:sp>
      <p:sp>
        <p:nvSpPr>
          <p:cNvPr id="13" name="Oval 12"/>
          <p:cNvSpPr/>
          <p:nvPr/>
        </p:nvSpPr>
        <p:spPr>
          <a:xfrm>
            <a:off x="731520" y="2834639"/>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02</a:t>
            </a:r>
          </a:p>
        </p:txBody>
      </p:sp>
      <p:sp>
        <p:nvSpPr>
          <p:cNvPr id="14" name="TextBox 13"/>
          <p:cNvSpPr txBox="1"/>
          <p:nvPr/>
        </p:nvSpPr>
        <p:spPr>
          <a:xfrm>
            <a:off x="1463040" y="2852927"/>
            <a:ext cx="3108960" cy="320040"/>
          </a:xfrm>
          <a:prstGeom prst="rect">
            <a:avLst/>
          </a:prstGeom>
          <a:noFill/>
        </p:spPr>
        <p:txBody>
          <a:bodyPr wrap="square" lIns="18288" tIns="18288" rIns="18288" bIns="18288">
            <a:normAutofit/>
          </a:bodyPr>
          <a:lstStyle/>
          <a:p>
            <a:pPr algn="l"/>
            <a:r>
              <a:rPr sz="1400" b="1" i="0">
                <a:solidFill>
                  <a:srgbClr val="08182B"/>
                </a:solidFill>
                <a:latin typeface="Aptos"/>
              </a:rPr>
              <a:t>TÔI GIÚP HỌ ĐIỀU GÌ?</a:t>
            </a:r>
          </a:p>
        </p:txBody>
      </p:sp>
      <p:sp>
        <p:nvSpPr>
          <p:cNvPr id="15" name="TextBox 14"/>
          <p:cNvSpPr txBox="1"/>
          <p:nvPr/>
        </p:nvSpPr>
        <p:spPr>
          <a:xfrm>
            <a:off x="4572000" y="2825496"/>
            <a:ext cx="6583680" cy="594360"/>
          </a:xfrm>
          <a:prstGeom prst="rect">
            <a:avLst/>
          </a:prstGeom>
          <a:noFill/>
        </p:spPr>
        <p:txBody>
          <a:bodyPr wrap="square" lIns="18288" tIns="18288" rIns="18288" bIns="18288">
            <a:normAutofit/>
          </a:bodyPr>
          <a:lstStyle/>
          <a:p>
            <a:pPr algn="l"/>
            <a:r>
              <a:rPr sz="1400" b="0" i="0">
                <a:solidFill>
                  <a:srgbClr val="1F2D3D"/>
                </a:solidFill>
                <a:latin typeface="Aptos"/>
              </a:rPr>
              <a:t>Một vấn đề / mong muốn có thật.</a:t>
            </a:r>
          </a:p>
        </p:txBody>
      </p:sp>
      <p:sp>
        <p:nvSpPr>
          <p:cNvPr id="16" name="Oval 15"/>
          <p:cNvSpPr/>
          <p:nvPr/>
        </p:nvSpPr>
        <p:spPr>
          <a:xfrm>
            <a:off x="731520" y="4160520"/>
            <a:ext cx="502920" cy="50292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03</a:t>
            </a:r>
          </a:p>
        </p:txBody>
      </p:sp>
      <p:sp>
        <p:nvSpPr>
          <p:cNvPr id="17" name="TextBox 16"/>
          <p:cNvSpPr txBox="1"/>
          <p:nvPr/>
        </p:nvSpPr>
        <p:spPr>
          <a:xfrm>
            <a:off x="1463040" y="4178807"/>
            <a:ext cx="3108960" cy="320040"/>
          </a:xfrm>
          <a:prstGeom prst="rect">
            <a:avLst/>
          </a:prstGeom>
          <a:noFill/>
        </p:spPr>
        <p:txBody>
          <a:bodyPr wrap="square" lIns="18288" tIns="18288" rIns="18288" bIns="18288">
            <a:normAutofit/>
          </a:bodyPr>
          <a:lstStyle/>
          <a:p>
            <a:pPr algn="l"/>
            <a:r>
              <a:rPr sz="1400" b="1" i="0">
                <a:solidFill>
                  <a:srgbClr val="08182B"/>
                </a:solidFill>
                <a:latin typeface="Aptos"/>
              </a:rPr>
              <a:t>VÌ SAO NÊN TIN TÔI?</a:t>
            </a:r>
          </a:p>
        </p:txBody>
      </p:sp>
      <p:sp>
        <p:nvSpPr>
          <p:cNvPr id="18" name="TextBox 17"/>
          <p:cNvSpPr txBox="1"/>
          <p:nvPr/>
        </p:nvSpPr>
        <p:spPr>
          <a:xfrm>
            <a:off x="4572000" y="4151376"/>
            <a:ext cx="6583680" cy="594360"/>
          </a:xfrm>
          <a:prstGeom prst="rect">
            <a:avLst/>
          </a:prstGeom>
          <a:noFill/>
        </p:spPr>
        <p:txBody>
          <a:bodyPr wrap="square" lIns="18288" tIns="18288" rIns="18288" bIns="18288">
            <a:normAutofit/>
          </a:bodyPr>
          <a:lstStyle/>
          <a:p>
            <a:pPr algn="l"/>
            <a:r>
              <a:rPr sz="1400" b="0" i="0">
                <a:solidFill>
                  <a:srgbClr val="1F2D3D"/>
                </a:solidFill>
                <a:latin typeface="Aptos"/>
              </a:rPr>
              <a:t>Trải nghiệm, kiến thức, kết quả, cách làm và con người thật.</a:t>
            </a:r>
          </a:p>
        </p:txBody>
      </p:sp>
      <p:sp>
        <p:nvSpPr>
          <p:cNvPr id="19" name="TextBox 18"/>
          <p:cNvSpPr txBox="1"/>
          <p:nvPr/>
        </p:nvSpPr>
        <p:spPr>
          <a:xfrm>
            <a:off x="1143000" y="5715000"/>
            <a:ext cx="9875520" cy="365760"/>
          </a:xfrm>
          <a:prstGeom prst="rect">
            <a:avLst/>
          </a:prstGeom>
          <a:noFill/>
        </p:spPr>
        <p:txBody>
          <a:bodyPr wrap="square" lIns="18288" tIns="18288" rIns="18288" bIns="18288">
            <a:normAutofit/>
          </a:bodyPr>
          <a:lstStyle/>
          <a:p>
            <a:pPr algn="ctr"/>
            <a:r>
              <a:rPr sz="1500" b="1" i="0">
                <a:solidFill>
                  <a:srgbClr val="D4AF37"/>
                </a:solidFill>
                <a:latin typeface="Aptos"/>
              </a:rPr>
              <a:t>ĐỪNG BẮT ĐẦU BẰNG LOGO. HÃY BẮT ĐẦU BẰNG THÔNG ĐIỆP.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XÂY KÊNH</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Cấu trúc tối thiểu của một kênh hút ứng viên</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08</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5196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4 THÀNH PHẦN</a:t>
            </a:r>
          </a:p>
        </p:txBody>
      </p:sp>
      <p:sp>
        <p:nvSpPr>
          <p:cNvPr id="14" name="TextBox 13"/>
          <p:cNvSpPr txBox="1"/>
          <p:nvPr/>
        </p:nvSpPr>
        <p:spPr>
          <a:xfrm>
            <a:off x="1335024" y="2148839"/>
            <a:ext cx="4352544" cy="3465576"/>
          </a:xfrm>
          <a:prstGeom prst="rect">
            <a:avLst/>
          </a:prstGeom>
          <a:noFill/>
        </p:spPr>
        <p:txBody>
          <a:bodyPr wrap="square" lIns="18288" tIns="18288" rIns="18288" bIns="18288">
            <a:normAutofit/>
          </a:bodyPr>
          <a:lstStyle/>
          <a:p>
            <a:pPr algn="l"/>
            <a:r>
              <a:rPr sz="1450" b="0" i="0">
                <a:solidFill>
                  <a:srgbClr val="1F2D3D"/>
                </a:solidFill>
                <a:latin typeface="Aptos"/>
              </a:rPr>
              <a:t>1. Tên/ảnh đại diện dễ nhận diện.
2. Bio nói rõ đối tượng + giá trị.
3. 3 video ghim: Tôi là ai / Tôi giúp gì / Bắt đầu từ đâu.
4. CTA nhất quán ở cuối nội dung.</a:t>
            </a:r>
          </a:p>
        </p:txBody>
      </p:sp>
      <p:sp>
        <p:nvSpPr>
          <p:cNvPr id="15" name="Rounded Rectangle 14"/>
          <p:cNvSpPr/>
          <p:nvPr/>
        </p:nvSpPr>
        <p:spPr>
          <a:xfrm>
            <a:off x="6217920" y="1508760"/>
            <a:ext cx="530352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519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B</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3 TRỤ CỘT</a:t>
            </a:r>
          </a:p>
        </p:txBody>
      </p:sp>
      <p:sp>
        <p:nvSpPr>
          <p:cNvPr id="19" name="TextBox 18"/>
          <p:cNvSpPr txBox="1"/>
          <p:nvPr/>
        </p:nvSpPr>
        <p:spPr>
          <a:xfrm>
            <a:off x="6912864" y="2148839"/>
            <a:ext cx="4352544" cy="3465576"/>
          </a:xfrm>
          <a:prstGeom prst="rect">
            <a:avLst/>
          </a:prstGeom>
          <a:noFill/>
        </p:spPr>
        <p:txBody>
          <a:bodyPr wrap="square" lIns="18288" tIns="18288" rIns="18288" bIns="18288">
            <a:normAutofit/>
          </a:bodyPr>
          <a:lstStyle/>
          <a:p>
            <a:pPr algn="l"/>
            <a:r>
              <a:rPr sz="1450" b="0" i="0">
                <a:solidFill>
                  <a:srgbClr val="1F2D3D"/>
                </a:solidFill>
                <a:latin typeface="Aptos"/>
              </a:rPr>
              <a:t>VẤN ĐỀ — chạm nỗi đau, đổi góc nhìn.
GIẢI PHÁP — dạy cách, công cụ, quy trình.
CON NGƯỜI — câu chuyện, trải nghiệm, giá trị sống.</a:t>
            </a:r>
          </a:p>
        </p:txBody>
      </p:sp>
      <p:sp>
        <p:nvSpPr>
          <p:cNvPr id="20" name="TextBox 19"/>
          <p:cNvSpPr txBox="1"/>
          <p:nvPr/>
        </p:nvSpPr>
        <p:spPr>
          <a:xfrm>
            <a:off x="868680" y="5925312"/>
            <a:ext cx="10424160" cy="320040"/>
          </a:xfrm>
          <a:prstGeom prst="rect">
            <a:avLst/>
          </a:prstGeom>
          <a:noFill/>
        </p:spPr>
        <p:txBody>
          <a:bodyPr wrap="square" lIns="18288" tIns="18288" rIns="18288" bIns="18288">
            <a:normAutofit/>
          </a:bodyPr>
          <a:lstStyle/>
          <a:p>
            <a:pPr algn="ctr"/>
            <a:r>
              <a:rPr sz="1350" b="1" i="0">
                <a:solidFill>
                  <a:srgbClr val="08182B"/>
                </a:solidFill>
                <a:latin typeface="Aptos"/>
              </a:rPr>
              <a:t>MỤC TIÊU: VÀO KÊNH LÀ HIỂU NGAY “ĐÂY CÓ PHẢI NƠI DÀNH CHO MÌNH KHÔNG?”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NỘI DUNG</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5 loại nội dung tạo dòng người</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09</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594360" y="1600200"/>
            <a:ext cx="1965960" cy="35204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828800"/>
            <a:ext cx="457200" cy="228600"/>
          </a:xfrm>
          <a:prstGeom prst="rect">
            <a:avLst/>
          </a:prstGeom>
          <a:noFill/>
        </p:spPr>
        <p:txBody>
          <a:bodyPr wrap="square" lIns="18288" tIns="18288" rIns="18288" bIns="18288">
            <a:normAutofit/>
          </a:bodyPr>
          <a:lstStyle/>
          <a:p>
            <a:pPr algn="l"/>
            <a:r>
              <a:rPr sz="1000" b="1" i="0">
                <a:solidFill>
                  <a:srgbClr val="0F5FA6"/>
                </a:solidFill>
                <a:latin typeface="Aptos"/>
              </a:rPr>
              <a:t>01</a:t>
            </a:r>
          </a:p>
        </p:txBody>
      </p:sp>
      <p:sp>
        <p:nvSpPr>
          <p:cNvPr id="12" name="TextBox 11"/>
          <p:cNvSpPr txBox="1"/>
          <p:nvPr/>
        </p:nvSpPr>
        <p:spPr>
          <a:xfrm>
            <a:off x="758952" y="2331720"/>
            <a:ext cx="1645920" cy="640080"/>
          </a:xfrm>
          <a:prstGeom prst="rect">
            <a:avLst/>
          </a:prstGeom>
          <a:noFill/>
        </p:spPr>
        <p:txBody>
          <a:bodyPr wrap="square" lIns="18288" tIns="18288" rIns="18288" bIns="18288">
            <a:normAutofit/>
          </a:bodyPr>
          <a:lstStyle/>
          <a:p>
            <a:pPr algn="l"/>
            <a:r>
              <a:rPr sz="1400" b="1" i="0">
                <a:solidFill>
                  <a:srgbClr val="08182B"/>
                </a:solidFill>
                <a:latin typeface="Aptos"/>
              </a:rPr>
              <a:t>CHẠM NỖI ĐAU</a:t>
            </a:r>
          </a:p>
        </p:txBody>
      </p:sp>
      <p:sp>
        <p:nvSpPr>
          <p:cNvPr id="13" name="TextBox 12"/>
          <p:cNvSpPr txBox="1"/>
          <p:nvPr/>
        </p:nvSpPr>
        <p:spPr>
          <a:xfrm>
            <a:off x="758952" y="3246120"/>
            <a:ext cx="1645920" cy="1188720"/>
          </a:xfrm>
          <a:prstGeom prst="rect">
            <a:avLst/>
          </a:prstGeom>
          <a:noFill/>
        </p:spPr>
        <p:txBody>
          <a:bodyPr wrap="square" lIns="18288" tIns="18288" rIns="18288" bIns="18288">
            <a:normAutofit/>
          </a:bodyPr>
          <a:lstStyle/>
          <a:p>
            <a:pPr algn="l"/>
            <a:r>
              <a:rPr sz="1220" b="0" i="0">
                <a:solidFill>
                  <a:srgbClr val="1F2D3D"/>
                </a:solidFill>
                <a:latin typeface="Aptos"/>
              </a:rPr>
              <a:t>“Bạn rất chăm nhưng tháng nào cũng bắt đầu lại?”</a:t>
            </a:r>
          </a:p>
        </p:txBody>
      </p:sp>
      <p:sp>
        <p:nvSpPr>
          <p:cNvPr id="14" name="Rounded Rectangle 13"/>
          <p:cNvSpPr/>
          <p:nvPr/>
        </p:nvSpPr>
        <p:spPr>
          <a:xfrm>
            <a:off x="2880360" y="1600200"/>
            <a:ext cx="1965960" cy="35204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44952" y="1828800"/>
            <a:ext cx="457200" cy="228600"/>
          </a:xfrm>
          <a:prstGeom prst="rect">
            <a:avLst/>
          </a:prstGeom>
          <a:noFill/>
        </p:spPr>
        <p:txBody>
          <a:bodyPr wrap="square" lIns="18288" tIns="18288" rIns="18288" bIns="18288">
            <a:normAutofit/>
          </a:bodyPr>
          <a:lstStyle/>
          <a:p>
            <a:pPr algn="l"/>
            <a:r>
              <a:rPr sz="1000" b="1" i="0">
                <a:solidFill>
                  <a:srgbClr val="D4AF37"/>
                </a:solidFill>
                <a:latin typeface="Aptos"/>
              </a:rPr>
              <a:t>02</a:t>
            </a:r>
          </a:p>
        </p:txBody>
      </p:sp>
      <p:sp>
        <p:nvSpPr>
          <p:cNvPr id="16" name="TextBox 15"/>
          <p:cNvSpPr txBox="1"/>
          <p:nvPr/>
        </p:nvSpPr>
        <p:spPr>
          <a:xfrm>
            <a:off x="3044952" y="2331720"/>
            <a:ext cx="1645920" cy="640080"/>
          </a:xfrm>
          <a:prstGeom prst="rect">
            <a:avLst/>
          </a:prstGeom>
          <a:noFill/>
        </p:spPr>
        <p:txBody>
          <a:bodyPr wrap="square" lIns="18288" tIns="18288" rIns="18288" bIns="18288">
            <a:normAutofit/>
          </a:bodyPr>
          <a:lstStyle/>
          <a:p>
            <a:pPr algn="l"/>
            <a:r>
              <a:rPr sz="1400" b="1" i="0">
                <a:solidFill>
                  <a:srgbClr val="08182B"/>
                </a:solidFill>
                <a:latin typeface="Aptos"/>
              </a:rPr>
              <a:t>ĐỔI GÓC NHÌN</a:t>
            </a:r>
          </a:p>
        </p:txBody>
      </p:sp>
      <p:sp>
        <p:nvSpPr>
          <p:cNvPr id="17" name="TextBox 16"/>
          <p:cNvSpPr txBox="1"/>
          <p:nvPr/>
        </p:nvSpPr>
        <p:spPr>
          <a:xfrm>
            <a:off x="3044952" y="3246120"/>
            <a:ext cx="1645920" cy="1188720"/>
          </a:xfrm>
          <a:prstGeom prst="rect">
            <a:avLst/>
          </a:prstGeom>
          <a:noFill/>
        </p:spPr>
        <p:txBody>
          <a:bodyPr wrap="square" lIns="18288" tIns="18288" rIns="18288" bIns="18288">
            <a:normAutofit/>
          </a:bodyPr>
          <a:lstStyle/>
          <a:p>
            <a:pPr algn="l"/>
            <a:r>
              <a:rPr sz="1220" b="0" i="0">
                <a:solidFill>
                  <a:srgbClr val="1F2D3D"/>
                </a:solidFill>
                <a:latin typeface="Aptos"/>
              </a:rPr>
              <a:t>“Có khi vấn đề không nằm ở sự chăm chỉ.”</a:t>
            </a:r>
          </a:p>
        </p:txBody>
      </p:sp>
      <p:sp>
        <p:nvSpPr>
          <p:cNvPr id="18" name="Rounded Rectangle 17"/>
          <p:cNvSpPr/>
          <p:nvPr/>
        </p:nvSpPr>
        <p:spPr>
          <a:xfrm>
            <a:off x="5166360" y="1600200"/>
            <a:ext cx="1965960" cy="35204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30952" y="1828800"/>
            <a:ext cx="457200" cy="228600"/>
          </a:xfrm>
          <a:prstGeom prst="rect">
            <a:avLst/>
          </a:prstGeom>
          <a:noFill/>
        </p:spPr>
        <p:txBody>
          <a:bodyPr wrap="square" lIns="18288" tIns="18288" rIns="18288" bIns="18288">
            <a:normAutofit/>
          </a:bodyPr>
          <a:lstStyle/>
          <a:p>
            <a:pPr algn="l"/>
            <a:r>
              <a:rPr sz="1000" b="1" i="0">
                <a:solidFill>
                  <a:srgbClr val="268767"/>
                </a:solidFill>
                <a:latin typeface="Aptos"/>
              </a:rPr>
              <a:t>03</a:t>
            </a:r>
          </a:p>
        </p:txBody>
      </p:sp>
      <p:sp>
        <p:nvSpPr>
          <p:cNvPr id="20" name="TextBox 19"/>
          <p:cNvSpPr txBox="1"/>
          <p:nvPr/>
        </p:nvSpPr>
        <p:spPr>
          <a:xfrm>
            <a:off x="5330952" y="2331720"/>
            <a:ext cx="1645920" cy="640080"/>
          </a:xfrm>
          <a:prstGeom prst="rect">
            <a:avLst/>
          </a:prstGeom>
          <a:noFill/>
        </p:spPr>
        <p:txBody>
          <a:bodyPr wrap="square" lIns="18288" tIns="18288" rIns="18288" bIns="18288">
            <a:normAutofit/>
          </a:bodyPr>
          <a:lstStyle/>
          <a:p>
            <a:pPr algn="l"/>
            <a:r>
              <a:rPr sz="1400" b="1" i="0">
                <a:solidFill>
                  <a:srgbClr val="08182B"/>
                </a:solidFill>
                <a:latin typeface="Aptos"/>
              </a:rPr>
              <a:t>DẠY CÁCH</a:t>
            </a:r>
          </a:p>
        </p:txBody>
      </p:sp>
      <p:sp>
        <p:nvSpPr>
          <p:cNvPr id="21" name="TextBox 20"/>
          <p:cNvSpPr txBox="1"/>
          <p:nvPr/>
        </p:nvSpPr>
        <p:spPr>
          <a:xfrm>
            <a:off x="5330952" y="3246120"/>
            <a:ext cx="1645920" cy="1188720"/>
          </a:xfrm>
          <a:prstGeom prst="rect">
            <a:avLst/>
          </a:prstGeom>
          <a:noFill/>
        </p:spPr>
        <p:txBody>
          <a:bodyPr wrap="square" lIns="18288" tIns="18288" rIns="18288" bIns="18288">
            <a:normAutofit/>
          </a:bodyPr>
          <a:lstStyle/>
          <a:p>
            <a:pPr algn="l"/>
            <a:r>
              <a:rPr sz="1220" b="0" i="0">
                <a:solidFill>
                  <a:srgbClr val="1F2D3D"/>
                </a:solidFill>
                <a:latin typeface="Aptos"/>
              </a:rPr>
              <a:t>Một công cụ / bước làm cụ thể.</a:t>
            </a:r>
          </a:p>
        </p:txBody>
      </p:sp>
      <p:sp>
        <p:nvSpPr>
          <p:cNvPr id="22" name="Rounded Rectangle 21"/>
          <p:cNvSpPr/>
          <p:nvPr/>
        </p:nvSpPr>
        <p:spPr>
          <a:xfrm>
            <a:off x="7452360" y="1600200"/>
            <a:ext cx="1965960" cy="35204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16952" y="1828800"/>
            <a:ext cx="457200" cy="228600"/>
          </a:xfrm>
          <a:prstGeom prst="rect">
            <a:avLst/>
          </a:prstGeom>
          <a:noFill/>
        </p:spPr>
        <p:txBody>
          <a:bodyPr wrap="square" lIns="18288" tIns="18288" rIns="18288" bIns="18288">
            <a:normAutofit/>
          </a:bodyPr>
          <a:lstStyle/>
          <a:p>
            <a:pPr algn="l"/>
            <a:r>
              <a:rPr sz="1000" b="1" i="0">
                <a:solidFill>
                  <a:srgbClr val="0F5FA6"/>
                </a:solidFill>
                <a:latin typeface="Aptos"/>
              </a:rPr>
              <a:t>04</a:t>
            </a:r>
          </a:p>
        </p:txBody>
      </p:sp>
      <p:sp>
        <p:nvSpPr>
          <p:cNvPr id="24" name="TextBox 23"/>
          <p:cNvSpPr txBox="1"/>
          <p:nvPr/>
        </p:nvSpPr>
        <p:spPr>
          <a:xfrm>
            <a:off x="7616952" y="2331720"/>
            <a:ext cx="1645920" cy="640080"/>
          </a:xfrm>
          <a:prstGeom prst="rect">
            <a:avLst/>
          </a:prstGeom>
          <a:noFill/>
        </p:spPr>
        <p:txBody>
          <a:bodyPr wrap="square" lIns="18288" tIns="18288" rIns="18288" bIns="18288">
            <a:normAutofit/>
          </a:bodyPr>
          <a:lstStyle/>
          <a:p>
            <a:pPr algn="l"/>
            <a:r>
              <a:rPr sz="1400" b="1" i="0">
                <a:solidFill>
                  <a:srgbClr val="08182B"/>
                </a:solidFill>
                <a:latin typeface="Aptos"/>
              </a:rPr>
              <a:t>BẰNG CHỨNG</a:t>
            </a:r>
          </a:p>
        </p:txBody>
      </p:sp>
      <p:sp>
        <p:nvSpPr>
          <p:cNvPr id="25" name="TextBox 24"/>
          <p:cNvSpPr txBox="1"/>
          <p:nvPr/>
        </p:nvSpPr>
        <p:spPr>
          <a:xfrm>
            <a:off x="7616952" y="3246120"/>
            <a:ext cx="1645920" cy="1188720"/>
          </a:xfrm>
          <a:prstGeom prst="rect">
            <a:avLst/>
          </a:prstGeom>
          <a:noFill/>
        </p:spPr>
        <p:txBody>
          <a:bodyPr wrap="square" lIns="18288" tIns="18288" rIns="18288" bIns="18288">
            <a:normAutofit/>
          </a:bodyPr>
          <a:lstStyle/>
          <a:p>
            <a:pPr algn="l"/>
            <a:r>
              <a:rPr sz="1220" b="0" i="0">
                <a:solidFill>
                  <a:srgbClr val="1F2D3D"/>
                </a:solidFill>
                <a:latin typeface="Aptos"/>
              </a:rPr>
              <a:t>Câu chuyện, trải nghiệm, trước/sau có thật.</a:t>
            </a:r>
          </a:p>
        </p:txBody>
      </p:sp>
      <p:sp>
        <p:nvSpPr>
          <p:cNvPr id="26" name="Rounded Rectangle 25"/>
          <p:cNvSpPr/>
          <p:nvPr/>
        </p:nvSpPr>
        <p:spPr>
          <a:xfrm>
            <a:off x="9738360" y="1600200"/>
            <a:ext cx="1965960" cy="35204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02952" y="1828800"/>
            <a:ext cx="457200" cy="228600"/>
          </a:xfrm>
          <a:prstGeom prst="rect">
            <a:avLst/>
          </a:prstGeom>
          <a:noFill/>
        </p:spPr>
        <p:txBody>
          <a:bodyPr wrap="square" lIns="18288" tIns="18288" rIns="18288" bIns="18288">
            <a:normAutofit/>
          </a:bodyPr>
          <a:lstStyle/>
          <a:p>
            <a:pPr algn="l"/>
            <a:r>
              <a:rPr sz="1000" b="1" i="0">
                <a:solidFill>
                  <a:srgbClr val="D4AF37"/>
                </a:solidFill>
                <a:latin typeface="Aptos"/>
              </a:rPr>
              <a:t>05</a:t>
            </a:r>
          </a:p>
        </p:txBody>
      </p:sp>
      <p:sp>
        <p:nvSpPr>
          <p:cNvPr id="28" name="TextBox 27"/>
          <p:cNvSpPr txBox="1"/>
          <p:nvPr/>
        </p:nvSpPr>
        <p:spPr>
          <a:xfrm>
            <a:off x="9902952" y="2331720"/>
            <a:ext cx="1645920" cy="640080"/>
          </a:xfrm>
          <a:prstGeom prst="rect">
            <a:avLst/>
          </a:prstGeom>
          <a:noFill/>
        </p:spPr>
        <p:txBody>
          <a:bodyPr wrap="square" lIns="18288" tIns="18288" rIns="18288" bIns="18288">
            <a:normAutofit/>
          </a:bodyPr>
          <a:lstStyle/>
          <a:p>
            <a:pPr algn="l"/>
            <a:r>
              <a:rPr sz="1400" b="1" i="0">
                <a:solidFill>
                  <a:srgbClr val="08182B"/>
                </a:solidFill>
                <a:latin typeface="Aptos"/>
              </a:rPr>
              <a:t>CON NGƯỜI</a:t>
            </a:r>
          </a:p>
        </p:txBody>
      </p:sp>
      <p:sp>
        <p:nvSpPr>
          <p:cNvPr id="29" name="TextBox 28"/>
          <p:cNvSpPr txBox="1"/>
          <p:nvPr/>
        </p:nvSpPr>
        <p:spPr>
          <a:xfrm>
            <a:off x="9902952" y="3246120"/>
            <a:ext cx="1645920" cy="1188720"/>
          </a:xfrm>
          <a:prstGeom prst="rect">
            <a:avLst/>
          </a:prstGeom>
          <a:noFill/>
        </p:spPr>
        <p:txBody>
          <a:bodyPr wrap="square" lIns="18288" tIns="18288" rIns="18288" bIns="18288">
            <a:normAutofit/>
          </a:bodyPr>
          <a:lstStyle/>
          <a:p>
            <a:pPr algn="l"/>
            <a:r>
              <a:rPr sz="1220" b="0" i="0">
                <a:solidFill>
                  <a:srgbClr val="1F2D3D"/>
                </a:solidFill>
                <a:latin typeface="Aptos"/>
              </a:rPr>
              <a:t>Điều bạn tin, đã trải qua, đang xây.</a:t>
            </a:r>
          </a:p>
        </p:txBody>
      </p:sp>
      <p:sp>
        <p:nvSpPr>
          <p:cNvPr id="30" name="TextBox 29"/>
          <p:cNvSpPr txBox="1"/>
          <p:nvPr/>
        </p:nvSpPr>
        <p:spPr>
          <a:xfrm>
            <a:off x="914400" y="5532120"/>
            <a:ext cx="10241280" cy="384048"/>
          </a:xfrm>
          <a:prstGeom prst="rect">
            <a:avLst/>
          </a:prstGeom>
          <a:noFill/>
        </p:spPr>
        <p:txBody>
          <a:bodyPr wrap="square" lIns="18288" tIns="18288" rIns="18288" bIns="18288">
            <a:normAutofit/>
          </a:bodyPr>
          <a:lstStyle/>
          <a:p>
            <a:pPr algn="ctr"/>
            <a:r>
              <a:rPr sz="1500" b="1" i="0">
                <a:solidFill>
                  <a:srgbClr val="08182B"/>
                </a:solidFill>
                <a:latin typeface="Aptos"/>
              </a:rPr>
              <a:t>NGƯỜI TA CẦN: LÝ DO ĐỂ DỪNG LẠI → LÝ DO ĐỂ TIN → LÝ DO ĐỂ QUAY LẠI.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3EE54D-1462-CD7C-E8F7-B146333A8A35}"/>
              </a:ext>
            </a:extLst>
          </p:cNvPr>
          <p:cNvSpPr txBox="1"/>
          <p:nvPr/>
        </p:nvSpPr>
        <p:spPr>
          <a:xfrm>
            <a:off x="1952469" y="1108395"/>
            <a:ext cx="7056620" cy="646331"/>
          </a:xfrm>
          <a:prstGeom prst="rect">
            <a:avLst/>
          </a:prstGeom>
          <a:noFill/>
        </p:spPr>
        <p:txBody>
          <a:bodyPr wrap="square">
            <a:spAutoFit/>
          </a:bodyPr>
          <a:lstStyle/>
          <a:p>
            <a:r>
              <a:rPr lang="vi-VN" b="0" i="0" dirty="0">
                <a:solidFill>
                  <a:srgbClr val="081B3A"/>
                </a:solidFill>
                <a:effectLst/>
                <a:latin typeface="SegoeuiPc"/>
              </a:rPr>
              <a:t>ĐIỂM </a:t>
            </a:r>
            <a:r>
              <a:rPr lang="vi-VN" b="0" i="0" dirty="0">
                <a:solidFill>
                  <a:srgbClr val="DB342E"/>
                </a:solidFill>
                <a:effectLst/>
                <a:latin typeface="SegoeuiPc"/>
              </a:rPr>
              <a:t>GIAO THOA</a:t>
            </a:r>
            <a:r>
              <a:rPr lang="vi-VN" b="0" i="0" dirty="0">
                <a:solidFill>
                  <a:srgbClr val="081B3A"/>
                </a:solidFill>
                <a:effectLst/>
                <a:latin typeface="SegoeuiPc"/>
              </a:rPr>
              <a:t> THỊ TRƯỜNG...CHÍNH LÀ </a:t>
            </a:r>
            <a:r>
              <a:rPr lang="vi-VN" b="0" i="0" dirty="0">
                <a:solidFill>
                  <a:srgbClr val="15A85F"/>
                </a:solidFill>
                <a:effectLst/>
                <a:latin typeface="SegoeuiPc"/>
              </a:rPr>
              <a:t>MỎ VÀNG CHỨA F1</a:t>
            </a:r>
            <a:endParaRPr lang="en-US" b="0" i="0" dirty="0">
              <a:solidFill>
                <a:srgbClr val="15A85F"/>
              </a:solidFill>
              <a:effectLst/>
              <a:latin typeface="SegoeuiPc"/>
            </a:endParaRPr>
          </a:p>
          <a:p>
            <a:endParaRPr lang="en-US" dirty="0"/>
          </a:p>
        </p:txBody>
      </p:sp>
    </p:spTree>
    <p:extLst>
      <p:ext uri="{BB962C8B-B14F-4D97-AF65-F5344CB8AC3E}">
        <p14:creationId xmlns:p14="http://schemas.microsoft.com/office/powerpoint/2010/main" val="2657975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266E0-89DB-8F04-F59C-1BEC3B1C525C}"/>
              </a:ext>
            </a:extLst>
          </p:cNvPr>
          <p:cNvSpPr txBox="1"/>
          <p:nvPr/>
        </p:nvSpPr>
        <p:spPr>
          <a:xfrm>
            <a:off x="3046751" y="3102087"/>
            <a:ext cx="6093500" cy="646331"/>
          </a:xfrm>
          <a:prstGeom prst="rect">
            <a:avLst/>
          </a:prstGeom>
          <a:noFill/>
        </p:spPr>
        <p:txBody>
          <a:bodyPr wrap="square">
            <a:spAutoFit/>
          </a:bodyPr>
          <a:lstStyle/>
          <a:p>
            <a:r>
              <a:rPr lang="vi-VN" b="0" i="0" dirty="0">
                <a:solidFill>
                  <a:srgbClr val="081B3A"/>
                </a:solidFill>
                <a:effectLst/>
                <a:latin typeface="SegoeuiPc"/>
              </a:rPr>
              <a:t>LÀM THẾ NÀO ĐỂ HỌ </a:t>
            </a:r>
            <a:r>
              <a:rPr lang="vi-VN" b="0" i="0" dirty="0">
                <a:solidFill>
                  <a:srgbClr val="15A85F"/>
                </a:solidFill>
                <a:effectLst/>
                <a:latin typeface="SegoeuiPc"/>
              </a:rPr>
              <a:t>NGHĨ VỀ CHÚNG TA</a:t>
            </a:r>
            <a:r>
              <a:rPr lang="vi-VN" b="0" i="0" dirty="0">
                <a:solidFill>
                  <a:srgbClr val="081B3A"/>
                </a:solidFill>
                <a:effectLst/>
                <a:latin typeface="SegoeuiPc"/>
              </a:rPr>
              <a:t> TRƯỚC KHI BẠN XUẤT HIỆN NHƯ MỘT ĐẤNG CỨU THẾ</a:t>
            </a:r>
            <a:endParaRPr lang="en-US" dirty="0"/>
          </a:p>
        </p:txBody>
      </p:sp>
    </p:spTree>
    <p:extLst>
      <p:ext uri="{BB962C8B-B14F-4D97-AF65-F5344CB8AC3E}">
        <p14:creationId xmlns:p14="http://schemas.microsoft.com/office/powerpoint/2010/main" val="316097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EADB33-9265-D14A-C4F2-77825D42931B}"/>
              </a:ext>
            </a:extLst>
          </p:cNvPr>
          <p:cNvSpPr txBox="1"/>
          <p:nvPr/>
        </p:nvSpPr>
        <p:spPr>
          <a:xfrm>
            <a:off x="3046751" y="3240586"/>
            <a:ext cx="6093500" cy="369332"/>
          </a:xfrm>
          <a:prstGeom prst="rect">
            <a:avLst/>
          </a:prstGeom>
          <a:noFill/>
        </p:spPr>
        <p:txBody>
          <a:bodyPr wrap="square">
            <a:spAutoFit/>
          </a:bodyPr>
          <a:lstStyle/>
          <a:p>
            <a:r>
              <a:rPr lang="en-US" b="0" i="0" dirty="0">
                <a:effectLst/>
                <a:latin typeface="SegoeuiPc"/>
              </a:rPr>
              <a:t>😬</a:t>
            </a:r>
            <a:r>
              <a:rPr lang="en-US" b="0" i="0" dirty="0">
                <a:solidFill>
                  <a:srgbClr val="081B3A"/>
                </a:solidFill>
                <a:effectLst/>
                <a:latin typeface="SegoeuiPc"/>
              </a:rPr>
              <a:t> CẦN LẤY NGAY</a:t>
            </a:r>
            <a:r>
              <a:rPr lang="en-US" b="0" i="0" dirty="0">
                <a:solidFill>
                  <a:srgbClr val="15A85F"/>
                </a:solidFill>
                <a:effectLst/>
                <a:latin typeface="SegoeuiPc"/>
              </a:rPr>
              <a:t> GÓC TIẾP CẬN</a:t>
            </a:r>
            <a:r>
              <a:rPr lang="en-US" b="0" i="0" dirty="0">
                <a:solidFill>
                  <a:srgbClr val="081B3A"/>
                </a:solidFill>
                <a:effectLst/>
                <a:latin typeface="SegoeuiPc"/>
              </a:rPr>
              <a:t> MỚI...</a:t>
            </a:r>
            <a:endParaRPr lang="en-US" dirty="0"/>
          </a:p>
        </p:txBody>
      </p:sp>
    </p:spTree>
    <p:extLst>
      <p:ext uri="{BB962C8B-B14F-4D97-AF65-F5344CB8AC3E}">
        <p14:creationId xmlns:p14="http://schemas.microsoft.com/office/powerpoint/2010/main" val="2405552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CÔNG THỨC VIDEO</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30–60 giây: ai cũng làm được, có thể nhân bản</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10</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594360" y="1600200"/>
            <a:ext cx="2092147" cy="685800"/>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1719072"/>
            <a:ext cx="2018995" cy="502920"/>
          </a:xfrm>
          <a:prstGeom prst="rect">
            <a:avLst/>
          </a:prstGeom>
          <a:noFill/>
        </p:spPr>
        <p:txBody>
          <a:bodyPr wrap="square" lIns="18288" tIns="18288" rIns="18288" bIns="18288">
            <a:normAutofit/>
          </a:bodyPr>
          <a:lstStyle/>
          <a:p>
            <a:pPr algn="ctr"/>
            <a:r>
              <a:rPr sz="1120" b="1" i="0">
                <a:solidFill>
                  <a:srgbClr val="FFFFFF"/>
                </a:solidFill>
                <a:latin typeface="Aptos"/>
              </a:rPr>
              <a:t>HOOK</a:t>
            </a:r>
          </a:p>
        </p:txBody>
      </p:sp>
      <p:sp>
        <p:nvSpPr>
          <p:cNvPr id="12" name="Rounded Rectangle 11"/>
          <p:cNvSpPr/>
          <p:nvPr/>
        </p:nvSpPr>
        <p:spPr>
          <a:xfrm>
            <a:off x="2814523" y="1600200"/>
            <a:ext cx="2092147" cy="68580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51099" y="1719072"/>
            <a:ext cx="2018995" cy="502920"/>
          </a:xfrm>
          <a:prstGeom prst="rect">
            <a:avLst/>
          </a:prstGeom>
          <a:noFill/>
        </p:spPr>
        <p:txBody>
          <a:bodyPr wrap="square" lIns="18288" tIns="18288" rIns="18288" bIns="18288">
            <a:normAutofit/>
          </a:bodyPr>
          <a:lstStyle/>
          <a:p>
            <a:pPr algn="ctr"/>
            <a:r>
              <a:rPr sz="1120" b="1" i="0">
                <a:solidFill>
                  <a:srgbClr val="08182B"/>
                </a:solidFill>
                <a:latin typeface="Aptos"/>
              </a:rPr>
              <a:t>NỖI ĐAU / GÓC NHÌN</a:t>
            </a:r>
          </a:p>
        </p:txBody>
      </p:sp>
      <p:sp>
        <p:nvSpPr>
          <p:cNvPr id="14" name="Rounded Rectangle 13"/>
          <p:cNvSpPr/>
          <p:nvPr/>
        </p:nvSpPr>
        <p:spPr>
          <a:xfrm>
            <a:off x="5034686" y="1600200"/>
            <a:ext cx="2092147" cy="68580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71262" y="1719072"/>
            <a:ext cx="2018995" cy="502920"/>
          </a:xfrm>
          <a:prstGeom prst="rect">
            <a:avLst/>
          </a:prstGeom>
          <a:noFill/>
        </p:spPr>
        <p:txBody>
          <a:bodyPr wrap="square" lIns="18288" tIns="18288" rIns="18288" bIns="18288">
            <a:normAutofit/>
          </a:bodyPr>
          <a:lstStyle/>
          <a:p>
            <a:pPr algn="ctr"/>
            <a:r>
              <a:rPr sz="1120" b="1" i="0">
                <a:solidFill>
                  <a:srgbClr val="08182B"/>
                </a:solidFill>
                <a:latin typeface="Aptos"/>
              </a:rPr>
              <a:t>GIÁ TRỊ</a:t>
            </a:r>
          </a:p>
        </p:txBody>
      </p:sp>
      <p:sp>
        <p:nvSpPr>
          <p:cNvPr id="16" name="Rounded Rectangle 15"/>
          <p:cNvSpPr/>
          <p:nvPr/>
        </p:nvSpPr>
        <p:spPr>
          <a:xfrm>
            <a:off x="7254849" y="1600200"/>
            <a:ext cx="2092147" cy="68580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91425" y="1719072"/>
            <a:ext cx="2018995" cy="502920"/>
          </a:xfrm>
          <a:prstGeom prst="rect">
            <a:avLst/>
          </a:prstGeom>
          <a:noFill/>
        </p:spPr>
        <p:txBody>
          <a:bodyPr wrap="square" lIns="18288" tIns="18288" rIns="18288" bIns="18288">
            <a:normAutofit/>
          </a:bodyPr>
          <a:lstStyle/>
          <a:p>
            <a:pPr algn="ctr"/>
            <a:r>
              <a:rPr sz="1120" b="1" i="0">
                <a:solidFill>
                  <a:srgbClr val="08182B"/>
                </a:solidFill>
                <a:latin typeface="Aptos"/>
              </a:rPr>
              <a:t>BẰNG CHỨNG</a:t>
            </a:r>
          </a:p>
        </p:txBody>
      </p:sp>
      <p:sp>
        <p:nvSpPr>
          <p:cNvPr id="18" name="Rounded Rectangle 17"/>
          <p:cNvSpPr/>
          <p:nvPr/>
        </p:nvSpPr>
        <p:spPr>
          <a:xfrm>
            <a:off x="9475012" y="1600200"/>
            <a:ext cx="2092147" cy="685800"/>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11588" y="1719072"/>
            <a:ext cx="2018995" cy="502920"/>
          </a:xfrm>
          <a:prstGeom prst="rect">
            <a:avLst/>
          </a:prstGeom>
          <a:noFill/>
        </p:spPr>
        <p:txBody>
          <a:bodyPr wrap="square" lIns="18288" tIns="18288" rIns="18288" bIns="18288">
            <a:normAutofit/>
          </a:bodyPr>
          <a:lstStyle/>
          <a:p>
            <a:pPr algn="ctr"/>
            <a:r>
              <a:rPr sz="1120" b="1" i="0">
                <a:solidFill>
                  <a:srgbClr val="FFFFFF"/>
                </a:solidFill>
                <a:latin typeface="Aptos"/>
              </a:rPr>
              <a:t>CTA</a:t>
            </a:r>
          </a:p>
        </p:txBody>
      </p:sp>
      <p:sp>
        <p:nvSpPr>
          <p:cNvPr id="20" name="TextBox 19"/>
          <p:cNvSpPr txBox="1"/>
          <p:nvPr/>
        </p:nvSpPr>
        <p:spPr>
          <a:xfrm>
            <a:off x="685800" y="2606040"/>
            <a:ext cx="1783080" cy="274320"/>
          </a:xfrm>
          <a:prstGeom prst="rect">
            <a:avLst/>
          </a:prstGeom>
          <a:noFill/>
        </p:spPr>
        <p:txBody>
          <a:bodyPr wrap="square" lIns="18288" tIns="18288" rIns="18288" bIns="18288">
            <a:normAutofit/>
          </a:bodyPr>
          <a:lstStyle/>
          <a:p>
            <a:pPr algn="ctr"/>
            <a:r>
              <a:rPr sz="1000" b="1" i="0">
                <a:solidFill>
                  <a:srgbClr val="D4AF37"/>
                </a:solidFill>
                <a:latin typeface="Aptos"/>
              </a:rPr>
              <a:t>0–3s</a:t>
            </a:r>
          </a:p>
        </p:txBody>
      </p:sp>
      <p:sp>
        <p:nvSpPr>
          <p:cNvPr id="21" name="TextBox 20"/>
          <p:cNvSpPr txBox="1"/>
          <p:nvPr/>
        </p:nvSpPr>
        <p:spPr>
          <a:xfrm>
            <a:off x="685800" y="2971800"/>
            <a:ext cx="1783080" cy="640080"/>
          </a:xfrm>
          <a:prstGeom prst="rect">
            <a:avLst/>
          </a:prstGeom>
          <a:noFill/>
        </p:spPr>
        <p:txBody>
          <a:bodyPr wrap="square" lIns="18288" tIns="18288" rIns="18288" bIns="18288">
            <a:normAutofit/>
          </a:bodyPr>
          <a:lstStyle/>
          <a:p>
            <a:pPr algn="ctr"/>
            <a:r>
              <a:rPr sz="1200" b="0" i="0">
                <a:solidFill>
                  <a:srgbClr val="1F2D3D"/>
                </a:solidFill>
                <a:latin typeface="Aptos"/>
              </a:rPr>
              <a:t>Khiến họ dừng lại</a:t>
            </a:r>
          </a:p>
        </p:txBody>
      </p:sp>
      <p:sp>
        <p:nvSpPr>
          <p:cNvPr id="22" name="TextBox 21"/>
          <p:cNvSpPr txBox="1"/>
          <p:nvPr/>
        </p:nvSpPr>
        <p:spPr>
          <a:xfrm>
            <a:off x="2926080" y="2606040"/>
            <a:ext cx="1783080" cy="274320"/>
          </a:xfrm>
          <a:prstGeom prst="rect">
            <a:avLst/>
          </a:prstGeom>
          <a:noFill/>
        </p:spPr>
        <p:txBody>
          <a:bodyPr wrap="square" lIns="18288" tIns="18288" rIns="18288" bIns="18288">
            <a:normAutofit/>
          </a:bodyPr>
          <a:lstStyle/>
          <a:p>
            <a:pPr algn="ctr"/>
            <a:r>
              <a:rPr sz="1000" b="1" i="0">
                <a:solidFill>
                  <a:srgbClr val="D4AF37"/>
                </a:solidFill>
                <a:latin typeface="Aptos"/>
              </a:rPr>
              <a:t>3–12s</a:t>
            </a:r>
          </a:p>
        </p:txBody>
      </p:sp>
      <p:sp>
        <p:nvSpPr>
          <p:cNvPr id="23" name="TextBox 22"/>
          <p:cNvSpPr txBox="1"/>
          <p:nvPr/>
        </p:nvSpPr>
        <p:spPr>
          <a:xfrm>
            <a:off x="2926080" y="2971800"/>
            <a:ext cx="1783080" cy="640080"/>
          </a:xfrm>
          <a:prstGeom prst="rect">
            <a:avLst/>
          </a:prstGeom>
          <a:noFill/>
        </p:spPr>
        <p:txBody>
          <a:bodyPr wrap="square" lIns="18288" tIns="18288" rIns="18288" bIns="18288">
            <a:normAutofit/>
          </a:bodyPr>
          <a:lstStyle/>
          <a:p>
            <a:pPr algn="ctr"/>
            <a:r>
              <a:rPr sz="1200" b="0" i="0">
                <a:solidFill>
                  <a:srgbClr val="1F2D3D"/>
                </a:solidFill>
                <a:latin typeface="Aptos"/>
              </a:rPr>
              <a:t>Gọi đúng tình huống</a:t>
            </a:r>
          </a:p>
        </p:txBody>
      </p:sp>
      <p:sp>
        <p:nvSpPr>
          <p:cNvPr id="24" name="TextBox 23"/>
          <p:cNvSpPr txBox="1"/>
          <p:nvPr/>
        </p:nvSpPr>
        <p:spPr>
          <a:xfrm>
            <a:off x="5166360" y="2606040"/>
            <a:ext cx="1783080" cy="274320"/>
          </a:xfrm>
          <a:prstGeom prst="rect">
            <a:avLst/>
          </a:prstGeom>
          <a:noFill/>
        </p:spPr>
        <p:txBody>
          <a:bodyPr wrap="square" lIns="18288" tIns="18288" rIns="18288" bIns="18288">
            <a:normAutofit/>
          </a:bodyPr>
          <a:lstStyle/>
          <a:p>
            <a:pPr algn="ctr"/>
            <a:r>
              <a:rPr sz="1000" b="1" i="0">
                <a:solidFill>
                  <a:srgbClr val="D4AF37"/>
                </a:solidFill>
                <a:latin typeface="Aptos"/>
              </a:rPr>
              <a:t>12–40s</a:t>
            </a:r>
          </a:p>
        </p:txBody>
      </p:sp>
      <p:sp>
        <p:nvSpPr>
          <p:cNvPr id="25" name="TextBox 24"/>
          <p:cNvSpPr txBox="1"/>
          <p:nvPr/>
        </p:nvSpPr>
        <p:spPr>
          <a:xfrm>
            <a:off x="5166360" y="2971800"/>
            <a:ext cx="1783080" cy="640080"/>
          </a:xfrm>
          <a:prstGeom prst="rect">
            <a:avLst/>
          </a:prstGeom>
          <a:noFill/>
        </p:spPr>
        <p:txBody>
          <a:bodyPr wrap="square" lIns="18288" tIns="18288" rIns="18288" bIns="18288">
            <a:normAutofit/>
          </a:bodyPr>
          <a:lstStyle/>
          <a:p>
            <a:pPr algn="ctr"/>
            <a:r>
              <a:rPr sz="1200" b="0" i="0">
                <a:solidFill>
                  <a:srgbClr val="1F2D3D"/>
                </a:solidFill>
                <a:latin typeface="Aptos"/>
              </a:rPr>
              <a:t>Cho điều áp dụng được</a:t>
            </a:r>
          </a:p>
        </p:txBody>
      </p:sp>
      <p:sp>
        <p:nvSpPr>
          <p:cNvPr id="26" name="TextBox 25"/>
          <p:cNvSpPr txBox="1"/>
          <p:nvPr/>
        </p:nvSpPr>
        <p:spPr>
          <a:xfrm>
            <a:off x="7406640" y="2606040"/>
            <a:ext cx="1783080" cy="274320"/>
          </a:xfrm>
          <a:prstGeom prst="rect">
            <a:avLst/>
          </a:prstGeom>
          <a:noFill/>
        </p:spPr>
        <p:txBody>
          <a:bodyPr wrap="square" lIns="18288" tIns="18288" rIns="18288" bIns="18288">
            <a:normAutofit/>
          </a:bodyPr>
          <a:lstStyle/>
          <a:p>
            <a:pPr algn="ctr"/>
            <a:r>
              <a:rPr sz="1000" b="1" i="0">
                <a:solidFill>
                  <a:srgbClr val="D4AF37"/>
                </a:solidFill>
                <a:latin typeface="Aptos"/>
              </a:rPr>
              <a:t>40–50s</a:t>
            </a:r>
          </a:p>
        </p:txBody>
      </p:sp>
      <p:sp>
        <p:nvSpPr>
          <p:cNvPr id="27" name="TextBox 26"/>
          <p:cNvSpPr txBox="1"/>
          <p:nvPr/>
        </p:nvSpPr>
        <p:spPr>
          <a:xfrm>
            <a:off x="7406640" y="2971800"/>
            <a:ext cx="1783080" cy="640080"/>
          </a:xfrm>
          <a:prstGeom prst="rect">
            <a:avLst/>
          </a:prstGeom>
          <a:noFill/>
        </p:spPr>
        <p:txBody>
          <a:bodyPr wrap="square" lIns="18288" tIns="18288" rIns="18288" bIns="18288">
            <a:normAutofit/>
          </a:bodyPr>
          <a:lstStyle/>
          <a:p>
            <a:pPr algn="ctr"/>
            <a:r>
              <a:rPr sz="1200" b="0" i="0">
                <a:solidFill>
                  <a:srgbClr val="1F2D3D"/>
                </a:solidFill>
                <a:latin typeface="Aptos"/>
              </a:rPr>
              <a:t>Tăng độ tin cậy</a:t>
            </a:r>
          </a:p>
        </p:txBody>
      </p:sp>
      <p:sp>
        <p:nvSpPr>
          <p:cNvPr id="28" name="TextBox 27"/>
          <p:cNvSpPr txBox="1"/>
          <p:nvPr/>
        </p:nvSpPr>
        <p:spPr>
          <a:xfrm>
            <a:off x="9646920" y="2606040"/>
            <a:ext cx="1783080" cy="274320"/>
          </a:xfrm>
          <a:prstGeom prst="rect">
            <a:avLst/>
          </a:prstGeom>
          <a:noFill/>
        </p:spPr>
        <p:txBody>
          <a:bodyPr wrap="square" lIns="18288" tIns="18288" rIns="18288" bIns="18288">
            <a:normAutofit/>
          </a:bodyPr>
          <a:lstStyle/>
          <a:p>
            <a:pPr algn="ctr"/>
            <a:r>
              <a:rPr sz="1000" b="1" i="0">
                <a:solidFill>
                  <a:srgbClr val="D4AF37"/>
                </a:solidFill>
                <a:latin typeface="Aptos"/>
              </a:rPr>
              <a:t>50–60s</a:t>
            </a:r>
          </a:p>
        </p:txBody>
      </p:sp>
      <p:sp>
        <p:nvSpPr>
          <p:cNvPr id="29" name="TextBox 28"/>
          <p:cNvSpPr txBox="1"/>
          <p:nvPr/>
        </p:nvSpPr>
        <p:spPr>
          <a:xfrm>
            <a:off x="9646920" y="2971800"/>
            <a:ext cx="1783080" cy="640080"/>
          </a:xfrm>
          <a:prstGeom prst="rect">
            <a:avLst/>
          </a:prstGeom>
          <a:noFill/>
        </p:spPr>
        <p:txBody>
          <a:bodyPr wrap="square" lIns="18288" tIns="18288" rIns="18288" bIns="18288">
            <a:normAutofit/>
          </a:bodyPr>
          <a:lstStyle/>
          <a:p>
            <a:pPr algn="ctr"/>
            <a:r>
              <a:rPr sz="1200" b="0" i="0">
                <a:solidFill>
                  <a:srgbClr val="1F2D3D"/>
                </a:solidFill>
                <a:latin typeface="Aptos"/>
              </a:rPr>
              <a:t>Mời bước tiếp theo</a:t>
            </a:r>
          </a:p>
        </p:txBody>
      </p:sp>
      <p:sp>
        <p:nvSpPr>
          <p:cNvPr id="30" name="Rounded Rectangle 29"/>
          <p:cNvSpPr/>
          <p:nvPr/>
        </p:nvSpPr>
        <p:spPr>
          <a:xfrm>
            <a:off x="1143000" y="4114800"/>
            <a:ext cx="9875520" cy="960120"/>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17320" y="4407408"/>
            <a:ext cx="9326880" cy="347472"/>
          </a:xfrm>
          <a:prstGeom prst="rect">
            <a:avLst/>
          </a:prstGeom>
          <a:noFill/>
        </p:spPr>
        <p:txBody>
          <a:bodyPr wrap="square" lIns="18288" tIns="18288" rIns="18288" bIns="18288">
            <a:normAutofit/>
          </a:bodyPr>
          <a:lstStyle/>
          <a:p>
            <a:pPr algn="ctr"/>
            <a:r>
              <a:rPr sz="1300" b="1" i="0">
                <a:solidFill>
                  <a:srgbClr val="D4AF37"/>
                </a:solidFill>
                <a:latin typeface="Aptos"/>
              </a:rPr>
              <a:t>BÍ MẬT #2  •  NHÂN BẢN CÔNG THỨC, KHÔNG CẦN NHÂN BẢN “NĂNG KHIẾU SÁNG TẠO”.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HOOK</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12 mẫu mở đầu để người mới có thể quay ngay</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11</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658368" y="1399032"/>
            <a:ext cx="292608" cy="2926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1</a:t>
            </a:r>
          </a:p>
        </p:txBody>
      </p:sp>
      <p:sp>
        <p:nvSpPr>
          <p:cNvPr id="11" name="TextBox 10"/>
          <p:cNvSpPr txBox="1"/>
          <p:nvPr/>
        </p:nvSpPr>
        <p:spPr>
          <a:xfrm>
            <a:off x="1097280" y="1371600"/>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Bạn rất chăm nhưng kết quả vẫn đứng yên?</a:t>
            </a:r>
          </a:p>
        </p:txBody>
      </p:sp>
      <p:sp>
        <p:nvSpPr>
          <p:cNvPr id="12" name="Oval 11"/>
          <p:cNvSpPr/>
          <p:nvPr/>
        </p:nvSpPr>
        <p:spPr>
          <a:xfrm>
            <a:off x="6190488" y="1399032"/>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2</a:t>
            </a:r>
          </a:p>
        </p:txBody>
      </p:sp>
      <p:sp>
        <p:nvSpPr>
          <p:cNvPr id="13" name="TextBox 12"/>
          <p:cNvSpPr txBox="1"/>
          <p:nvPr/>
        </p:nvSpPr>
        <p:spPr>
          <a:xfrm>
            <a:off x="6629400" y="1371600"/>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Nếu đang tuyển người theo cách cũ, hãy thử nhìn lại điều này.</a:t>
            </a:r>
          </a:p>
        </p:txBody>
      </p:sp>
      <p:sp>
        <p:nvSpPr>
          <p:cNvPr id="14" name="Oval 13"/>
          <p:cNvSpPr/>
          <p:nvPr/>
        </p:nvSpPr>
        <p:spPr>
          <a:xfrm>
            <a:off x="658368" y="2157984"/>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3</a:t>
            </a:r>
          </a:p>
        </p:txBody>
      </p:sp>
      <p:sp>
        <p:nvSpPr>
          <p:cNvPr id="15" name="TextBox 14"/>
          <p:cNvSpPr txBox="1"/>
          <p:nvPr/>
        </p:nvSpPr>
        <p:spPr>
          <a:xfrm>
            <a:off x="1097280" y="2130552"/>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3 dấu hiệu cho thấy bạn đang tìm ứng viên sai cách.</a:t>
            </a:r>
          </a:p>
        </p:txBody>
      </p:sp>
      <p:sp>
        <p:nvSpPr>
          <p:cNvPr id="16" name="Oval 15"/>
          <p:cNvSpPr/>
          <p:nvPr/>
        </p:nvSpPr>
        <p:spPr>
          <a:xfrm>
            <a:off x="6190488" y="2157984"/>
            <a:ext cx="292608" cy="2926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4</a:t>
            </a:r>
          </a:p>
        </p:txBody>
      </p:sp>
      <p:sp>
        <p:nvSpPr>
          <p:cNvPr id="17" name="TextBox 16"/>
          <p:cNvSpPr txBox="1"/>
          <p:nvPr/>
        </p:nvSpPr>
        <p:spPr>
          <a:xfrm>
            <a:off x="6629400" y="2130552"/>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Đừng vội mời người khác trước khi làm bước này.</a:t>
            </a:r>
          </a:p>
        </p:txBody>
      </p:sp>
      <p:sp>
        <p:nvSpPr>
          <p:cNvPr id="18" name="Oval 17"/>
          <p:cNvSpPr/>
          <p:nvPr/>
        </p:nvSpPr>
        <p:spPr>
          <a:xfrm>
            <a:off x="658368" y="2916936"/>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5</a:t>
            </a:r>
          </a:p>
        </p:txBody>
      </p:sp>
      <p:sp>
        <p:nvSpPr>
          <p:cNvPr id="19" name="TextBox 18"/>
          <p:cNvSpPr txBox="1"/>
          <p:nvPr/>
        </p:nvSpPr>
        <p:spPr>
          <a:xfrm>
            <a:off x="1097280" y="2889504"/>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Người phù hợp thường không xuất hiện từ một tin nhắn.</a:t>
            </a:r>
          </a:p>
        </p:txBody>
      </p:sp>
      <p:sp>
        <p:nvSpPr>
          <p:cNvPr id="20" name="Oval 19"/>
          <p:cNvSpPr/>
          <p:nvPr/>
        </p:nvSpPr>
        <p:spPr>
          <a:xfrm>
            <a:off x="6190488" y="2916936"/>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6</a:t>
            </a:r>
          </a:p>
        </p:txBody>
      </p:sp>
      <p:sp>
        <p:nvSpPr>
          <p:cNvPr id="21" name="TextBox 20"/>
          <p:cNvSpPr txBox="1"/>
          <p:nvPr/>
        </p:nvSpPr>
        <p:spPr>
          <a:xfrm>
            <a:off x="6629400" y="2889504"/>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Bạn không thiếu người. Có thể bạn thiếu một kênh.</a:t>
            </a:r>
          </a:p>
        </p:txBody>
      </p:sp>
      <p:sp>
        <p:nvSpPr>
          <p:cNvPr id="22" name="Oval 21"/>
          <p:cNvSpPr/>
          <p:nvPr/>
        </p:nvSpPr>
        <p:spPr>
          <a:xfrm>
            <a:off x="658368" y="3675887"/>
            <a:ext cx="292608" cy="2926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7</a:t>
            </a:r>
          </a:p>
        </p:txBody>
      </p:sp>
      <p:sp>
        <p:nvSpPr>
          <p:cNvPr id="23" name="TextBox 22"/>
          <p:cNvSpPr txBox="1"/>
          <p:nvPr/>
        </p:nvSpPr>
        <p:spPr>
          <a:xfrm>
            <a:off x="1097280" y="3648456"/>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Một video đúng người có thể thay cho rất nhiều lời mời.</a:t>
            </a:r>
          </a:p>
        </p:txBody>
      </p:sp>
      <p:sp>
        <p:nvSpPr>
          <p:cNvPr id="24" name="Oval 23"/>
          <p:cNvSpPr/>
          <p:nvPr/>
        </p:nvSpPr>
        <p:spPr>
          <a:xfrm>
            <a:off x="6190488" y="3675887"/>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8</a:t>
            </a:r>
          </a:p>
        </p:txBody>
      </p:sp>
      <p:sp>
        <p:nvSpPr>
          <p:cNvPr id="25" name="TextBox 24"/>
          <p:cNvSpPr txBox="1"/>
          <p:nvPr/>
        </p:nvSpPr>
        <p:spPr>
          <a:xfrm>
            <a:off x="6629400" y="3648456"/>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Nếu tôi bắt đầu lại từ con số 0, tôi sẽ làm việc này trước.</a:t>
            </a:r>
          </a:p>
        </p:txBody>
      </p:sp>
      <p:sp>
        <p:nvSpPr>
          <p:cNvPr id="26" name="Oval 25"/>
          <p:cNvSpPr/>
          <p:nvPr/>
        </p:nvSpPr>
        <p:spPr>
          <a:xfrm>
            <a:off x="658368" y="4434840"/>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9</a:t>
            </a:r>
          </a:p>
        </p:txBody>
      </p:sp>
      <p:sp>
        <p:nvSpPr>
          <p:cNvPr id="27" name="TextBox 26"/>
          <p:cNvSpPr txBox="1"/>
          <p:nvPr/>
        </p:nvSpPr>
        <p:spPr>
          <a:xfrm>
            <a:off x="1097280" y="4407408"/>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Điều gì khiến một người lạ chủ động nhắn cho bạn?</a:t>
            </a:r>
          </a:p>
        </p:txBody>
      </p:sp>
      <p:sp>
        <p:nvSpPr>
          <p:cNvPr id="28" name="Oval 27"/>
          <p:cNvSpPr/>
          <p:nvPr/>
        </p:nvSpPr>
        <p:spPr>
          <a:xfrm>
            <a:off x="6190488" y="4434840"/>
            <a:ext cx="292608" cy="29260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10</a:t>
            </a:r>
          </a:p>
        </p:txBody>
      </p:sp>
      <p:sp>
        <p:nvSpPr>
          <p:cNvPr id="29" name="TextBox 28"/>
          <p:cNvSpPr txBox="1"/>
          <p:nvPr/>
        </p:nvSpPr>
        <p:spPr>
          <a:xfrm>
            <a:off x="6629400" y="4407408"/>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Đừng biến kênh cá nhân thành tờ rơi tuyển dụng.</a:t>
            </a:r>
          </a:p>
        </p:txBody>
      </p:sp>
      <p:sp>
        <p:nvSpPr>
          <p:cNvPr id="30" name="Oval 29"/>
          <p:cNvSpPr/>
          <p:nvPr/>
        </p:nvSpPr>
        <p:spPr>
          <a:xfrm>
            <a:off x="658368" y="5193792"/>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11</a:t>
            </a:r>
          </a:p>
        </p:txBody>
      </p:sp>
      <p:sp>
        <p:nvSpPr>
          <p:cNvPr id="31" name="TextBox 30"/>
          <p:cNvSpPr txBox="1"/>
          <p:nvPr/>
        </p:nvSpPr>
        <p:spPr>
          <a:xfrm>
            <a:off x="1097280" y="5166359"/>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Muốn có ứng viên chủ động? Hãy trả lời câu hỏi này.</a:t>
            </a:r>
          </a:p>
        </p:txBody>
      </p:sp>
      <p:sp>
        <p:nvSpPr>
          <p:cNvPr id="32" name="Oval 31"/>
          <p:cNvSpPr/>
          <p:nvPr/>
        </p:nvSpPr>
        <p:spPr>
          <a:xfrm>
            <a:off x="6190488" y="5193792"/>
            <a:ext cx="292608" cy="29260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latin typeface="Aptos"/>
              </a:rPr>
              <a:t>12</a:t>
            </a:r>
          </a:p>
        </p:txBody>
      </p:sp>
      <p:sp>
        <p:nvSpPr>
          <p:cNvPr id="33" name="TextBox 32"/>
          <p:cNvSpPr txBox="1"/>
          <p:nvPr/>
        </p:nvSpPr>
        <p:spPr>
          <a:xfrm>
            <a:off x="6629400" y="5166359"/>
            <a:ext cx="4892040" cy="438912"/>
          </a:xfrm>
          <a:prstGeom prst="rect">
            <a:avLst/>
          </a:prstGeom>
          <a:noFill/>
        </p:spPr>
        <p:txBody>
          <a:bodyPr wrap="square" lIns="18288" tIns="18288" rIns="18288" bIns="18288">
            <a:normAutofit/>
          </a:bodyPr>
          <a:lstStyle/>
          <a:p>
            <a:pPr algn="l"/>
            <a:r>
              <a:rPr sz="1180" b="0" i="0">
                <a:solidFill>
                  <a:srgbClr val="1F2D3D"/>
                </a:solidFill>
                <a:latin typeface="Aptos"/>
              </a:rPr>
              <a:t>Thử thách không phải để câu người; nó để họ trải nghiệm.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KỊCH BẢN</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Mẫu 60 giây — điền là quay</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12</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85800" y="1371600"/>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417320"/>
            <a:ext cx="1234439" cy="201168"/>
          </a:xfrm>
          <a:prstGeom prst="rect">
            <a:avLst/>
          </a:prstGeom>
          <a:noFill/>
        </p:spPr>
        <p:txBody>
          <a:bodyPr wrap="square" lIns="18288" tIns="18288" rIns="18288" bIns="18288">
            <a:normAutofit/>
          </a:bodyPr>
          <a:lstStyle/>
          <a:p>
            <a:pPr algn="ctr"/>
            <a:r>
              <a:rPr sz="950" b="1" i="0">
                <a:solidFill>
                  <a:srgbClr val="D4AF37"/>
                </a:solidFill>
                <a:latin typeface="Aptos"/>
              </a:rPr>
              <a:t>HOOK</a:t>
            </a:r>
          </a:p>
        </p:txBody>
      </p:sp>
      <p:sp>
        <p:nvSpPr>
          <p:cNvPr id="12" name="TextBox 11"/>
          <p:cNvSpPr txBox="1"/>
          <p:nvPr/>
        </p:nvSpPr>
        <p:spPr>
          <a:xfrm>
            <a:off x="2240280" y="1380744"/>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[Nói thẳng vấn đề của ứng viên]</a:t>
            </a:r>
          </a:p>
        </p:txBody>
      </p:sp>
      <p:sp>
        <p:nvSpPr>
          <p:cNvPr id="13" name="Rounded Rectangle 12"/>
          <p:cNvSpPr/>
          <p:nvPr/>
        </p:nvSpPr>
        <p:spPr>
          <a:xfrm>
            <a:off x="685800" y="2084832"/>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130552"/>
            <a:ext cx="1234439" cy="201168"/>
          </a:xfrm>
          <a:prstGeom prst="rect">
            <a:avLst/>
          </a:prstGeom>
          <a:noFill/>
        </p:spPr>
        <p:txBody>
          <a:bodyPr wrap="square" lIns="18288" tIns="18288" rIns="18288" bIns="18288">
            <a:normAutofit/>
          </a:bodyPr>
          <a:lstStyle/>
          <a:p>
            <a:pPr algn="ctr"/>
            <a:r>
              <a:rPr sz="950" b="1" i="0">
                <a:solidFill>
                  <a:srgbClr val="0F5FA6"/>
                </a:solidFill>
                <a:latin typeface="Aptos"/>
              </a:rPr>
              <a:t>GỌI TÊN</a:t>
            </a:r>
          </a:p>
        </p:txBody>
      </p:sp>
      <p:sp>
        <p:nvSpPr>
          <p:cNvPr id="15" name="TextBox 14"/>
          <p:cNvSpPr txBox="1"/>
          <p:nvPr/>
        </p:nvSpPr>
        <p:spPr>
          <a:xfrm>
            <a:off x="2240280" y="2093976"/>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Nếu anh/chị đang [tình huống], rất có thể đang gặp đúng vấn đề này…</a:t>
            </a:r>
          </a:p>
        </p:txBody>
      </p:sp>
      <p:sp>
        <p:nvSpPr>
          <p:cNvPr id="16" name="Rounded Rectangle 15"/>
          <p:cNvSpPr/>
          <p:nvPr/>
        </p:nvSpPr>
        <p:spPr>
          <a:xfrm>
            <a:off x="685800" y="2798064"/>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843784"/>
            <a:ext cx="1234439" cy="201168"/>
          </a:xfrm>
          <a:prstGeom prst="rect">
            <a:avLst/>
          </a:prstGeom>
          <a:noFill/>
        </p:spPr>
        <p:txBody>
          <a:bodyPr wrap="square" lIns="18288" tIns="18288" rIns="18288" bIns="18288">
            <a:normAutofit/>
          </a:bodyPr>
          <a:lstStyle/>
          <a:p>
            <a:pPr algn="ctr"/>
            <a:r>
              <a:rPr sz="950" b="1" i="0">
                <a:solidFill>
                  <a:srgbClr val="0F5FA6"/>
                </a:solidFill>
                <a:latin typeface="Aptos"/>
              </a:rPr>
              <a:t>GÓC NHÌN</a:t>
            </a:r>
          </a:p>
        </p:txBody>
      </p:sp>
      <p:sp>
        <p:nvSpPr>
          <p:cNvPr id="18" name="TextBox 17"/>
          <p:cNvSpPr txBox="1"/>
          <p:nvPr/>
        </p:nvSpPr>
        <p:spPr>
          <a:xfrm>
            <a:off x="2240280" y="2807208"/>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Điểm nhiều người bỏ qua là…</a:t>
            </a:r>
          </a:p>
        </p:txBody>
      </p:sp>
      <p:sp>
        <p:nvSpPr>
          <p:cNvPr id="19" name="Rounded Rectangle 18"/>
          <p:cNvSpPr/>
          <p:nvPr/>
        </p:nvSpPr>
        <p:spPr>
          <a:xfrm>
            <a:off x="685800" y="3511296"/>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557015"/>
            <a:ext cx="1234439" cy="201168"/>
          </a:xfrm>
          <a:prstGeom prst="rect">
            <a:avLst/>
          </a:prstGeom>
          <a:noFill/>
        </p:spPr>
        <p:txBody>
          <a:bodyPr wrap="square" lIns="18288" tIns="18288" rIns="18288" bIns="18288">
            <a:normAutofit/>
          </a:bodyPr>
          <a:lstStyle/>
          <a:p>
            <a:pPr algn="ctr"/>
            <a:r>
              <a:rPr sz="950" b="1" i="0">
                <a:solidFill>
                  <a:srgbClr val="0F5FA6"/>
                </a:solidFill>
                <a:latin typeface="Aptos"/>
              </a:rPr>
              <a:t>CÁCH LÀM</a:t>
            </a:r>
          </a:p>
        </p:txBody>
      </p:sp>
      <p:sp>
        <p:nvSpPr>
          <p:cNvPr id="21" name="TextBox 20"/>
          <p:cNvSpPr txBox="1"/>
          <p:nvPr/>
        </p:nvSpPr>
        <p:spPr>
          <a:xfrm>
            <a:off x="2240280" y="3520439"/>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Hãy thử 3 bước: 1… 2… 3…</a:t>
            </a:r>
          </a:p>
        </p:txBody>
      </p:sp>
      <p:sp>
        <p:nvSpPr>
          <p:cNvPr id="22" name="Rounded Rectangle 21"/>
          <p:cNvSpPr/>
          <p:nvPr/>
        </p:nvSpPr>
        <p:spPr>
          <a:xfrm>
            <a:off x="685800" y="4224528"/>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270248"/>
            <a:ext cx="1234439" cy="201168"/>
          </a:xfrm>
          <a:prstGeom prst="rect">
            <a:avLst/>
          </a:prstGeom>
          <a:noFill/>
        </p:spPr>
        <p:txBody>
          <a:bodyPr wrap="square" lIns="18288" tIns="18288" rIns="18288" bIns="18288">
            <a:normAutofit/>
          </a:bodyPr>
          <a:lstStyle/>
          <a:p>
            <a:pPr algn="ctr"/>
            <a:r>
              <a:rPr sz="950" b="1" i="0">
                <a:solidFill>
                  <a:srgbClr val="0F5FA6"/>
                </a:solidFill>
                <a:latin typeface="Aptos"/>
              </a:rPr>
              <a:t>BẰNG CHỨNG</a:t>
            </a:r>
          </a:p>
        </p:txBody>
      </p:sp>
      <p:sp>
        <p:nvSpPr>
          <p:cNvPr id="24" name="TextBox 23"/>
          <p:cNvSpPr txBox="1"/>
          <p:nvPr/>
        </p:nvSpPr>
        <p:spPr>
          <a:xfrm>
            <a:off x="2240280" y="4233672"/>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Trong quá trình làm, tôi nhận ra…</a:t>
            </a:r>
          </a:p>
        </p:txBody>
      </p:sp>
      <p:sp>
        <p:nvSpPr>
          <p:cNvPr id="25" name="Rounded Rectangle 24"/>
          <p:cNvSpPr/>
          <p:nvPr/>
        </p:nvSpPr>
        <p:spPr>
          <a:xfrm>
            <a:off x="685800" y="4937760"/>
            <a:ext cx="132588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983480"/>
            <a:ext cx="1234439" cy="201168"/>
          </a:xfrm>
          <a:prstGeom prst="rect">
            <a:avLst/>
          </a:prstGeom>
          <a:noFill/>
        </p:spPr>
        <p:txBody>
          <a:bodyPr wrap="square" lIns="18288" tIns="18288" rIns="18288" bIns="18288">
            <a:normAutofit/>
          </a:bodyPr>
          <a:lstStyle/>
          <a:p>
            <a:pPr algn="ctr"/>
            <a:r>
              <a:rPr sz="950" b="1" i="0">
                <a:solidFill>
                  <a:srgbClr val="D4AF37"/>
                </a:solidFill>
                <a:latin typeface="Aptos"/>
              </a:rPr>
              <a:t>CTA</a:t>
            </a:r>
          </a:p>
        </p:txBody>
      </p:sp>
      <p:sp>
        <p:nvSpPr>
          <p:cNvPr id="27" name="TextBox 26"/>
          <p:cNvSpPr txBox="1"/>
          <p:nvPr/>
        </p:nvSpPr>
        <p:spPr>
          <a:xfrm>
            <a:off x="2240280" y="4946904"/>
            <a:ext cx="9052560" cy="457200"/>
          </a:xfrm>
          <a:prstGeom prst="rect">
            <a:avLst/>
          </a:prstGeom>
          <a:noFill/>
        </p:spPr>
        <p:txBody>
          <a:bodyPr wrap="square" lIns="18288" tIns="18288" rIns="18288" bIns="18288">
            <a:normAutofit/>
          </a:bodyPr>
          <a:lstStyle/>
          <a:p>
            <a:pPr algn="l"/>
            <a:r>
              <a:rPr sz="1300" b="0" i="0">
                <a:solidFill>
                  <a:srgbClr val="1F2D3D"/>
                </a:solidFill>
                <a:latin typeface="Aptos"/>
              </a:rPr>
              <a:t>Nếu muốn nhận [tài nguyên/chương trình], hãy [từ khóa/bình luận/inbox].</a:t>
            </a:r>
          </a:p>
        </p:txBody>
      </p:sp>
      <p:sp>
        <p:nvSpPr>
          <p:cNvPr id="28" name="TextBox 27"/>
          <p:cNvSpPr txBox="1"/>
          <p:nvPr/>
        </p:nvSpPr>
        <p:spPr>
          <a:xfrm>
            <a:off x="1051560" y="5833872"/>
            <a:ext cx="9966960" cy="320040"/>
          </a:xfrm>
          <a:prstGeom prst="rect">
            <a:avLst/>
          </a:prstGeom>
          <a:noFill/>
        </p:spPr>
        <p:txBody>
          <a:bodyPr wrap="square" lIns="18288" tIns="18288" rIns="18288" bIns="18288">
            <a:normAutofit/>
          </a:bodyPr>
          <a:lstStyle/>
          <a:p>
            <a:pPr algn="ctr"/>
            <a:r>
              <a:rPr sz="1400" b="1" i="0">
                <a:solidFill>
                  <a:srgbClr val="08182B"/>
                </a:solidFill>
                <a:latin typeface="Aptos"/>
              </a:rPr>
              <a:t>NÓI NHƯ ĐANG GIẢI THÍCH CHO MỘT NGƯỜI THẬT — KHÔNG CẦN VIẾT VĂN.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NHÂN BẢN</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1 chủ đề → 10 video</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13</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594360" y="15544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691639"/>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01</a:t>
            </a:r>
          </a:p>
        </p:txBody>
      </p:sp>
      <p:sp>
        <p:nvSpPr>
          <p:cNvPr id="12" name="TextBox 11"/>
          <p:cNvSpPr txBox="1"/>
          <p:nvPr/>
        </p:nvSpPr>
        <p:spPr>
          <a:xfrm>
            <a:off x="758952" y="20574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NỖI ĐAU</a:t>
            </a:r>
          </a:p>
        </p:txBody>
      </p:sp>
      <p:sp>
        <p:nvSpPr>
          <p:cNvPr id="13" name="TextBox 12"/>
          <p:cNvSpPr txBox="1"/>
          <p:nvPr/>
        </p:nvSpPr>
        <p:spPr>
          <a:xfrm>
            <a:off x="758952" y="24688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Vì sao…</a:t>
            </a:r>
          </a:p>
        </p:txBody>
      </p:sp>
      <p:sp>
        <p:nvSpPr>
          <p:cNvPr id="14" name="Rounded Rectangle 13"/>
          <p:cNvSpPr/>
          <p:nvPr/>
        </p:nvSpPr>
        <p:spPr>
          <a:xfrm>
            <a:off x="2880360" y="15544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44952" y="1691639"/>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02</a:t>
            </a:r>
          </a:p>
        </p:txBody>
      </p:sp>
      <p:sp>
        <p:nvSpPr>
          <p:cNvPr id="16" name="TextBox 15"/>
          <p:cNvSpPr txBox="1"/>
          <p:nvPr/>
        </p:nvSpPr>
        <p:spPr>
          <a:xfrm>
            <a:off x="3044952" y="20574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SAI LẦM</a:t>
            </a:r>
          </a:p>
        </p:txBody>
      </p:sp>
      <p:sp>
        <p:nvSpPr>
          <p:cNvPr id="17" name="TextBox 16"/>
          <p:cNvSpPr txBox="1"/>
          <p:nvPr/>
        </p:nvSpPr>
        <p:spPr>
          <a:xfrm>
            <a:off x="3044952" y="24688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3 lỗi…</a:t>
            </a:r>
          </a:p>
        </p:txBody>
      </p:sp>
      <p:sp>
        <p:nvSpPr>
          <p:cNvPr id="18" name="Rounded Rectangle 17"/>
          <p:cNvSpPr/>
          <p:nvPr/>
        </p:nvSpPr>
        <p:spPr>
          <a:xfrm>
            <a:off x="5166360" y="15544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30952" y="1691639"/>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03</a:t>
            </a:r>
          </a:p>
        </p:txBody>
      </p:sp>
      <p:sp>
        <p:nvSpPr>
          <p:cNvPr id="20" name="TextBox 19"/>
          <p:cNvSpPr txBox="1"/>
          <p:nvPr/>
        </p:nvSpPr>
        <p:spPr>
          <a:xfrm>
            <a:off x="5330952" y="20574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GÓC NHÌN</a:t>
            </a:r>
          </a:p>
        </p:txBody>
      </p:sp>
      <p:sp>
        <p:nvSpPr>
          <p:cNvPr id="21" name="TextBox 20"/>
          <p:cNvSpPr txBox="1"/>
          <p:nvPr/>
        </p:nvSpPr>
        <p:spPr>
          <a:xfrm>
            <a:off x="5330952" y="24688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Thật ra…</a:t>
            </a:r>
          </a:p>
        </p:txBody>
      </p:sp>
      <p:sp>
        <p:nvSpPr>
          <p:cNvPr id="22" name="Rounded Rectangle 21"/>
          <p:cNvSpPr/>
          <p:nvPr/>
        </p:nvSpPr>
        <p:spPr>
          <a:xfrm>
            <a:off x="7452360" y="15544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16952" y="1691639"/>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04</a:t>
            </a:r>
          </a:p>
        </p:txBody>
      </p:sp>
      <p:sp>
        <p:nvSpPr>
          <p:cNvPr id="24" name="TextBox 23"/>
          <p:cNvSpPr txBox="1"/>
          <p:nvPr/>
        </p:nvSpPr>
        <p:spPr>
          <a:xfrm>
            <a:off x="7616952" y="20574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HƯỚNG DẪN</a:t>
            </a:r>
          </a:p>
        </p:txBody>
      </p:sp>
      <p:sp>
        <p:nvSpPr>
          <p:cNvPr id="25" name="TextBox 24"/>
          <p:cNvSpPr txBox="1"/>
          <p:nvPr/>
        </p:nvSpPr>
        <p:spPr>
          <a:xfrm>
            <a:off x="7616952" y="24688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Làm thế nào…</a:t>
            </a:r>
          </a:p>
        </p:txBody>
      </p:sp>
      <p:sp>
        <p:nvSpPr>
          <p:cNvPr id="26" name="Rounded Rectangle 25"/>
          <p:cNvSpPr/>
          <p:nvPr/>
        </p:nvSpPr>
        <p:spPr>
          <a:xfrm>
            <a:off x="9738360" y="15544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02952" y="1691639"/>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05</a:t>
            </a:r>
          </a:p>
        </p:txBody>
      </p:sp>
      <p:sp>
        <p:nvSpPr>
          <p:cNvPr id="28" name="TextBox 27"/>
          <p:cNvSpPr txBox="1"/>
          <p:nvPr/>
        </p:nvSpPr>
        <p:spPr>
          <a:xfrm>
            <a:off x="9902952" y="20574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CHECKLIST</a:t>
            </a:r>
          </a:p>
        </p:txBody>
      </p:sp>
      <p:sp>
        <p:nvSpPr>
          <p:cNvPr id="29" name="TextBox 28"/>
          <p:cNvSpPr txBox="1"/>
          <p:nvPr/>
        </p:nvSpPr>
        <p:spPr>
          <a:xfrm>
            <a:off x="9902952" y="24688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Hãy kiểm tra…</a:t>
            </a:r>
          </a:p>
        </p:txBody>
      </p:sp>
      <p:sp>
        <p:nvSpPr>
          <p:cNvPr id="30" name="Rounded Rectangle 29"/>
          <p:cNvSpPr/>
          <p:nvPr/>
        </p:nvSpPr>
        <p:spPr>
          <a:xfrm>
            <a:off x="594360" y="36118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8952" y="3749040"/>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06</a:t>
            </a:r>
          </a:p>
        </p:txBody>
      </p:sp>
      <p:sp>
        <p:nvSpPr>
          <p:cNvPr id="32" name="TextBox 31"/>
          <p:cNvSpPr txBox="1"/>
          <p:nvPr/>
        </p:nvSpPr>
        <p:spPr>
          <a:xfrm>
            <a:off x="758952" y="41148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CÂU CHUYỆN</a:t>
            </a:r>
          </a:p>
        </p:txBody>
      </p:sp>
      <p:sp>
        <p:nvSpPr>
          <p:cNvPr id="33" name="TextBox 32"/>
          <p:cNvSpPr txBox="1"/>
          <p:nvPr/>
        </p:nvSpPr>
        <p:spPr>
          <a:xfrm>
            <a:off x="758952" y="45262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Tôi từng…</a:t>
            </a:r>
          </a:p>
        </p:txBody>
      </p:sp>
      <p:sp>
        <p:nvSpPr>
          <p:cNvPr id="34" name="Rounded Rectangle 33"/>
          <p:cNvSpPr/>
          <p:nvPr/>
        </p:nvSpPr>
        <p:spPr>
          <a:xfrm>
            <a:off x="2880360" y="36118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044952" y="3749040"/>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07</a:t>
            </a:r>
          </a:p>
        </p:txBody>
      </p:sp>
      <p:sp>
        <p:nvSpPr>
          <p:cNvPr id="36" name="TextBox 35"/>
          <p:cNvSpPr txBox="1"/>
          <p:nvPr/>
        </p:nvSpPr>
        <p:spPr>
          <a:xfrm>
            <a:off x="3044952" y="41148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CASE</a:t>
            </a:r>
          </a:p>
        </p:txBody>
      </p:sp>
      <p:sp>
        <p:nvSpPr>
          <p:cNvPr id="37" name="TextBox 36"/>
          <p:cNvSpPr txBox="1"/>
          <p:nvPr/>
        </p:nvSpPr>
        <p:spPr>
          <a:xfrm>
            <a:off x="3044952" y="45262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Một trường hợp…</a:t>
            </a:r>
          </a:p>
        </p:txBody>
      </p:sp>
      <p:sp>
        <p:nvSpPr>
          <p:cNvPr id="38" name="Rounded Rectangle 37"/>
          <p:cNvSpPr/>
          <p:nvPr/>
        </p:nvSpPr>
        <p:spPr>
          <a:xfrm>
            <a:off x="5166360" y="36118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30952" y="3749040"/>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08</a:t>
            </a:r>
          </a:p>
        </p:txBody>
      </p:sp>
      <p:sp>
        <p:nvSpPr>
          <p:cNvPr id="40" name="TextBox 39"/>
          <p:cNvSpPr txBox="1"/>
          <p:nvPr/>
        </p:nvSpPr>
        <p:spPr>
          <a:xfrm>
            <a:off x="5330952" y="41148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PHẢN BIỆN</a:t>
            </a:r>
          </a:p>
        </p:txBody>
      </p:sp>
      <p:sp>
        <p:nvSpPr>
          <p:cNvPr id="41" name="TextBox 40"/>
          <p:cNvSpPr txBox="1"/>
          <p:nvPr/>
        </p:nvSpPr>
        <p:spPr>
          <a:xfrm>
            <a:off x="5330952" y="45262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Không phải cứ…</a:t>
            </a:r>
          </a:p>
        </p:txBody>
      </p:sp>
      <p:sp>
        <p:nvSpPr>
          <p:cNvPr id="42" name="Rounded Rectangle 41"/>
          <p:cNvSpPr/>
          <p:nvPr/>
        </p:nvSpPr>
        <p:spPr>
          <a:xfrm>
            <a:off x="7452360" y="36118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16952" y="3749040"/>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09</a:t>
            </a:r>
          </a:p>
        </p:txBody>
      </p:sp>
      <p:sp>
        <p:nvSpPr>
          <p:cNvPr id="44" name="TextBox 43"/>
          <p:cNvSpPr txBox="1"/>
          <p:nvPr/>
        </p:nvSpPr>
        <p:spPr>
          <a:xfrm>
            <a:off x="7616952" y="41148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SO SÁNH</a:t>
            </a:r>
          </a:p>
        </p:txBody>
      </p:sp>
      <p:sp>
        <p:nvSpPr>
          <p:cNvPr id="45" name="TextBox 44"/>
          <p:cNvSpPr txBox="1"/>
          <p:nvPr/>
        </p:nvSpPr>
        <p:spPr>
          <a:xfrm>
            <a:off x="7616952" y="45262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Cách A vs B…</a:t>
            </a:r>
          </a:p>
        </p:txBody>
      </p:sp>
      <p:sp>
        <p:nvSpPr>
          <p:cNvPr id="46" name="Rounded Rectangle 45"/>
          <p:cNvSpPr/>
          <p:nvPr/>
        </p:nvSpPr>
        <p:spPr>
          <a:xfrm>
            <a:off x="9738360" y="3611880"/>
            <a:ext cx="196596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902952" y="3749040"/>
            <a:ext cx="411480" cy="228600"/>
          </a:xfrm>
          <a:prstGeom prst="rect">
            <a:avLst/>
          </a:prstGeom>
          <a:noFill/>
        </p:spPr>
        <p:txBody>
          <a:bodyPr wrap="square" lIns="18288" tIns="18288" rIns="18288" bIns="18288">
            <a:normAutofit/>
          </a:bodyPr>
          <a:lstStyle/>
          <a:p>
            <a:pPr algn="l"/>
            <a:r>
              <a:rPr sz="1000" b="1" i="0">
                <a:solidFill>
                  <a:srgbClr val="D4AF37"/>
                </a:solidFill>
                <a:latin typeface="Aptos"/>
              </a:rPr>
              <a:t>10</a:t>
            </a:r>
          </a:p>
        </p:txBody>
      </p:sp>
      <p:sp>
        <p:nvSpPr>
          <p:cNvPr id="48" name="TextBox 47"/>
          <p:cNvSpPr txBox="1"/>
          <p:nvPr/>
        </p:nvSpPr>
        <p:spPr>
          <a:xfrm>
            <a:off x="9902952" y="4114800"/>
            <a:ext cx="1627632" cy="347472"/>
          </a:xfrm>
          <a:prstGeom prst="rect">
            <a:avLst/>
          </a:prstGeom>
          <a:noFill/>
        </p:spPr>
        <p:txBody>
          <a:bodyPr wrap="square" lIns="18288" tIns="18288" rIns="18288" bIns="18288">
            <a:normAutofit/>
          </a:bodyPr>
          <a:lstStyle/>
          <a:p>
            <a:pPr algn="l"/>
            <a:r>
              <a:rPr sz="1350" b="1" i="0">
                <a:solidFill>
                  <a:srgbClr val="08182B"/>
                </a:solidFill>
                <a:latin typeface="Aptos"/>
              </a:rPr>
              <a:t>CTA</a:t>
            </a:r>
          </a:p>
        </p:txBody>
      </p:sp>
      <p:sp>
        <p:nvSpPr>
          <p:cNvPr id="49" name="TextBox 48"/>
          <p:cNvSpPr txBox="1"/>
          <p:nvPr/>
        </p:nvSpPr>
        <p:spPr>
          <a:xfrm>
            <a:off x="9902952" y="4526280"/>
            <a:ext cx="1627632" cy="320040"/>
          </a:xfrm>
          <a:prstGeom prst="rect">
            <a:avLst/>
          </a:prstGeom>
          <a:noFill/>
        </p:spPr>
        <p:txBody>
          <a:bodyPr wrap="square" lIns="18288" tIns="18288" rIns="18288" bIns="18288">
            <a:normAutofit/>
          </a:bodyPr>
          <a:lstStyle/>
          <a:p>
            <a:pPr algn="l"/>
            <a:r>
              <a:rPr sz="1200" b="0" i="0">
                <a:solidFill>
                  <a:srgbClr val="1F2D3D"/>
                </a:solidFill>
                <a:latin typeface="Aptos"/>
              </a:rPr>
              <a:t>Nếu bạn muốn…</a:t>
            </a:r>
          </a:p>
        </p:txBody>
      </p:sp>
      <p:sp>
        <p:nvSpPr>
          <p:cNvPr id="50" name="TextBox 49"/>
          <p:cNvSpPr txBox="1"/>
          <p:nvPr/>
        </p:nvSpPr>
        <p:spPr>
          <a:xfrm>
            <a:off x="1005840" y="5669280"/>
            <a:ext cx="10058400" cy="365760"/>
          </a:xfrm>
          <a:prstGeom prst="rect">
            <a:avLst/>
          </a:prstGeom>
          <a:noFill/>
        </p:spPr>
        <p:txBody>
          <a:bodyPr wrap="square" lIns="18288" tIns="18288" rIns="18288" bIns="18288">
            <a:normAutofit/>
          </a:bodyPr>
          <a:lstStyle/>
          <a:p>
            <a:pPr algn="ctr"/>
            <a:r>
              <a:rPr sz="1500" b="1" i="0">
                <a:solidFill>
                  <a:srgbClr val="08182B"/>
                </a:solidFill>
                <a:latin typeface="Aptos"/>
              </a:rPr>
              <a:t>NHÂN BẢN HỆ THỐNG, KHÔNG NHÂN BẢN SỰ NHÀM CHÁN.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SẢN XUẤT</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Quy trình quay để ai cũng có thể làm</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14</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5196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TRƯỚC KHI QUAY</a:t>
            </a:r>
          </a:p>
        </p:txBody>
      </p:sp>
      <p:sp>
        <p:nvSpPr>
          <p:cNvPr id="14" name="TextBox 13"/>
          <p:cNvSpPr txBox="1"/>
          <p:nvPr/>
        </p:nvSpPr>
        <p:spPr>
          <a:xfrm>
            <a:off x="1335024" y="2148839"/>
            <a:ext cx="4352544" cy="3465576"/>
          </a:xfrm>
          <a:prstGeom prst="rect">
            <a:avLst/>
          </a:prstGeom>
          <a:noFill/>
        </p:spPr>
        <p:txBody>
          <a:bodyPr wrap="square" lIns="18288" tIns="18288" rIns="18288" bIns="18288">
            <a:normAutofit/>
          </a:bodyPr>
          <a:lstStyle/>
          <a:p>
            <a:pPr algn="l"/>
            <a:r>
              <a:rPr sz="1450" b="0" i="0">
                <a:solidFill>
                  <a:srgbClr val="1F2D3D"/>
                </a:solidFill>
                <a:latin typeface="Aptos"/>
              </a:rPr>
              <a:t>• Chọn 1 người cụ thể để nói.
• Viết 1 hook + 3 ý chính.
• Điện thoại ngang tầm mắt.
• Ánh sáng trước mặt, âm thanh rõ.
• Quay từng đoạn; không cần hoàn hảo.</a:t>
            </a:r>
          </a:p>
        </p:txBody>
      </p:sp>
      <p:sp>
        <p:nvSpPr>
          <p:cNvPr id="15" name="Rounded Rectangle 14"/>
          <p:cNvSpPr/>
          <p:nvPr/>
        </p:nvSpPr>
        <p:spPr>
          <a:xfrm>
            <a:off x="6217920" y="1508760"/>
            <a:ext cx="5303520" cy="42519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519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B</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SAU KHI QUAY</a:t>
            </a:r>
          </a:p>
        </p:txBody>
      </p:sp>
      <p:sp>
        <p:nvSpPr>
          <p:cNvPr id="19" name="TextBox 18"/>
          <p:cNvSpPr txBox="1"/>
          <p:nvPr/>
        </p:nvSpPr>
        <p:spPr>
          <a:xfrm>
            <a:off x="6912864" y="2148839"/>
            <a:ext cx="4352544" cy="3465576"/>
          </a:xfrm>
          <a:prstGeom prst="rect">
            <a:avLst/>
          </a:prstGeom>
          <a:noFill/>
        </p:spPr>
        <p:txBody>
          <a:bodyPr wrap="square" lIns="18288" tIns="18288" rIns="18288" bIns="18288">
            <a:normAutofit/>
          </a:bodyPr>
          <a:lstStyle/>
          <a:p>
            <a:pPr algn="l"/>
            <a:r>
              <a:rPr sz="1450" b="0" i="0">
                <a:solidFill>
                  <a:srgbClr val="1F2D3D"/>
                </a:solidFill>
                <a:latin typeface="Aptos"/>
              </a:rPr>
              <a:t>• Cắt khoảng lặng.
• Thêm phụ đề rõ, ít chữ.
• Một video = một thông điệp.
• Ảnh bìa = một câu hỏi/vấn đề.
• Đăng → ghi nhận phản hồi → cải tiến.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KẾ HOẠCH</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Tỷ lệ nội dung 30 ngày</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15</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85800" y="1645920"/>
            <a:ext cx="2971800" cy="731520"/>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856231"/>
            <a:ext cx="2971800" cy="274320"/>
          </a:xfrm>
          <a:prstGeom prst="rect">
            <a:avLst/>
          </a:prstGeom>
          <a:noFill/>
        </p:spPr>
        <p:txBody>
          <a:bodyPr wrap="square" lIns="18288" tIns="18288" rIns="18288" bIns="18288">
            <a:normAutofit/>
          </a:bodyPr>
          <a:lstStyle/>
          <a:p>
            <a:pPr algn="ctr"/>
            <a:r>
              <a:rPr sz="1500" b="1" i="0">
                <a:solidFill>
                  <a:srgbClr val="FFFFFF"/>
                </a:solidFill>
                <a:latin typeface="Aptos"/>
              </a:rPr>
              <a:t>30%</a:t>
            </a:r>
          </a:p>
        </p:txBody>
      </p:sp>
      <p:sp>
        <p:nvSpPr>
          <p:cNvPr id="12" name="Rounded Rectangle 11"/>
          <p:cNvSpPr/>
          <p:nvPr/>
        </p:nvSpPr>
        <p:spPr>
          <a:xfrm>
            <a:off x="3767328" y="1645920"/>
            <a:ext cx="2468880" cy="73152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856231"/>
            <a:ext cx="2468880" cy="274320"/>
          </a:xfrm>
          <a:prstGeom prst="rect">
            <a:avLst/>
          </a:prstGeom>
          <a:noFill/>
        </p:spPr>
        <p:txBody>
          <a:bodyPr wrap="square" lIns="18288" tIns="18288" rIns="18288" bIns="18288">
            <a:normAutofit/>
          </a:bodyPr>
          <a:lstStyle/>
          <a:p>
            <a:pPr algn="ctr"/>
            <a:r>
              <a:rPr sz="1500" b="1" i="0">
                <a:solidFill>
                  <a:srgbClr val="FFFFFF"/>
                </a:solidFill>
                <a:latin typeface="Aptos"/>
              </a:rPr>
              <a:t>25%</a:t>
            </a:r>
          </a:p>
        </p:txBody>
      </p:sp>
      <p:sp>
        <p:nvSpPr>
          <p:cNvPr id="14" name="Rounded Rectangle 13"/>
          <p:cNvSpPr/>
          <p:nvPr/>
        </p:nvSpPr>
        <p:spPr>
          <a:xfrm>
            <a:off x="6345936" y="1645920"/>
            <a:ext cx="1965960" cy="731520"/>
          </a:xfrm>
          <a:prstGeom prst="round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5936" y="1856231"/>
            <a:ext cx="1965960" cy="274320"/>
          </a:xfrm>
          <a:prstGeom prst="rect">
            <a:avLst/>
          </a:prstGeom>
          <a:noFill/>
        </p:spPr>
        <p:txBody>
          <a:bodyPr wrap="square" lIns="18288" tIns="18288" rIns="18288" bIns="18288">
            <a:normAutofit/>
          </a:bodyPr>
          <a:lstStyle/>
          <a:p>
            <a:pPr algn="ctr"/>
            <a:r>
              <a:rPr sz="1500" b="1" i="0">
                <a:solidFill>
                  <a:srgbClr val="FFFFFF"/>
                </a:solidFill>
                <a:latin typeface="Aptos"/>
              </a:rPr>
              <a:t>20%</a:t>
            </a:r>
          </a:p>
        </p:txBody>
      </p:sp>
      <p:sp>
        <p:nvSpPr>
          <p:cNvPr id="16" name="Rounded Rectangle 15"/>
          <p:cNvSpPr/>
          <p:nvPr/>
        </p:nvSpPr>
        <p:spPr>
          <a:xfrm>
            <a:off x="8421624" y="1645920"/>
            <a:ext cx="1481328" cy="731520"/>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21624" y="1856231"/>
            <a:ext cx="1481328" cy="274320"/>
          </a:xfrm>
          <a:prstGeom prst="rect">
            <a:avLst/>
          </a:prstGeom>
          <a:noFill/>
        </p:spPr>
        <p:txBody>
          <a:bodyPr wrap="square" lIns="18288" tIns="18288" rIns="18288" bIns="18288">
            <a:normAutofit/>
          </a:bodyPr>
          <a:lstStyle/>
          <a:p>
            <a:pPr algn="ctr"/>
            <a:r>
              <a:rPr sz="1500" b="1" i="0">
                <a:solidFill>
                  <a:srgbClr val="FFFFFF"/>
                </a:solidFill>
                <a:latin typeface="Aptos"/>
              </a:rPr>
              <a:t>15%</a:t>
            </a:r>
          </a:p>
        </p:txBody>
      </p:sp>
      <p:sp>
        <p:nvSpPr>
          <p:cNvPr id="18" name="Rounded Rectangle 17"/>
          <p:cNvSpPr/>
          <p:nvPr/>
        </p:nvSpPr>
        <p:spPr>
          <a:xfrm>
            <a:off x="10012680" y="1645920"/>
            <a:ext cx="987552" cy="73152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12680" y="1856231"/>
            <a:ext cx="987552" cy="274320"/>
          </a:xfrm>
          <a:prstGeom prst="rect">
            <a:avLst/>
          </a:prstGeom>
          <a:noFill/>
        </p:spPr>
        <p:txBody>
          <a:bodyPr wrap="square" lIns="18288" tIns="18288" rIns="18288" bIns="18288">
            <a:normAutofit/>
          </a:bodyPr>
          <a:lstStyle/>
          <a:p>
            <a:pPr algn="ctr"/>
            <a:r>
              <a:rPr sz="1500" b="1" i="0">
                <a:solidFill>
                  <a:srgbClr val="FFFFFF"/>
                </a:solidFill>
                <a:latin typeface="Aptos"/>
              </a:rPr>
              <a:t>10%</a:t>
            </a:r>
          </a:p>
        </p:txBody>
      </p:sp>
      <p:sp>
        <p:nvSpPr>
          <p:cNvPr id="20" name="Rounded Rectangle 19"/>
          <p:cNvSpPr/>
          <p:nvPr/>
        </p:nvSpPr>
        <p:spPr>
          <a:xfrm>
            <a:off x="777240" y="2834640"/>
            <a:ext cx="155448" cy="15544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78992" y="2807208"/>
            <a:ext cx="5760720" cy="274320"/>
          </a:xfrm>
          <a:prstGeom prst="rect">
            <a:avLst/>
          </a:prstGeom>
          <a:noFill/>
        </p:spPr>
        <p:txBody>
          <a:bodyPr wrap="square" lIns="18288" tIns="18288" rIns="18288" bIns="18288">
            <a:normAutofit/>
          </a:bodyPr>
          <a:lstStyle/>
          <a:p>
            <a:pPr algn="l"/>
            <a:r>
              <a:rPr sz="1300" b="1" i="0">
                <a:solidFill>
                  <a:srgbClr val="1F2D3D"/>
                </a:solidFill>
                <a:latin typeface="Aptos"/>
              </a:rPr>
              <a:t>NỖI ĐAU &amp; GÓC NHÌN</a:t>
            </a:r>
          </a:p>
        </p:txBody>
      </p:sp>
      <p:sp>
        <p:nvSpPr>
          <p:cNvPr id="22" name="Rounded Rectangle 21"/>
          <p:cNvSpPr/>
          <p:nvPr/>
        </p:nvSpPr>
        <p:spPr>
          <a:xfrm>
            <a:off x="777240" y="3410712"/>
            <a:ext cx="155448" cy="155448"/>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78992" y="3383280"/>
            <a:ext cx="5760720" cy="274320"/>
          </a:xfrm>
          <a:prstGeom prst="rect">
            <a:avLst/>
          </a:prstGeom>
          <a:noFill/>
        </p:spPr>
        <p:txBody>
          <a:bodyPr wrap="square" lIns="18288" tIns="18288" rIns="18288" bIns="18288">
            <a:normAutofit/>
          </a:bodyPr>
          <a:lstStyle/>
          <a:p>
            <a:pPr algn="l"/>
            <a:r>
              <a:rPr sz="1300" b="1" i="0">
                <a:solidFill>
                  <a:srgbClr val="1F2D3D"/>
                </a:solidFill>
                <a:latin typeface="Aptos"/>
              </a:rPr>
              <a:t>HƯỚNG DẪN</a:t>
            </a:r>
          </a:p>
        </p:txBody>
      </p:sp>
      <p:sp>
        <p:nvSpPr>
          <p:cNvPr id="24" name="Rounded Rectangle 23"/>
          <p:cNvSpPr/>
          <p:nvPr/>
        </p:nvSpPr>
        <p:spPr>
          <a:xfrm>
            <a:off x="777240" y="3986784"/>
            <a:ext cx="155448" cy="155448"/>
          </a:xfrm>
          <a:prstGeom prst="round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8992" y="3959352"/>
            <a:ext cx="5760720" cy="274320"/>
          </a:xfrm>
          <a:prstGeom prst="rect">
            <a:avLst/>
          </a:prstGeom>
          <a:noFill/>
        </p:spPr>
        <p:txBody>
          <a:bodyPr wrap="square" lIns="18288" tIns="18288" rIns="18288" bIns="18288">
            <a:normAutofit/>
          </a:bodyPr>
          <a:lstStyle/>
          <a:p>
            <a:pPr algn="l"/>
            <a:r>
              <a:rPr sz="1300" b="1" i="0">
                <a:solidFill>
                  <a:srgbClr val="1F2D3D"/>
                </a:solidFill>
                <a:latin typeface="Aptos"/>
              </a:rPr>
              <a:t>CÂU CHUYỆN &amp; TRẢI NGHIỆM</a:t>
            </a:r>
          </a:p>
        </p:txBody>
      </p:sp>
      <p:sp>
        <p:nvSpPr>
          <p:cNvPr id="26" name="Rounded Rectangle 25"/>
          <p:cNvSpPr/>
          <p:nvPr/>
        </p:nvSpPr>
        <p:spPr>
          <a:xfrm>
            <a:off x="777240" y="4562856"/>
            <a:ext cx="155448" cy="15544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8992" y="4535424"/>
            <a:ext cx="5760720" cy="274320"/>
          </a:xfrm>
          <a:prstGeom prst="rect">
            <a:avLst/>
          </a:prstGeom>
          <a:noFill/>
        </p:spPr>
        <p:txBody>
          <a:bodyPr wrap="square" lIns="18288" tIns="18288" rIns="18288" bIns="18288">
            <a:normAutofit/>
          </a:bodyPr>
          <a:lstStyle/>
          <a:p>
            <a:pPr algn="l"/>
            <a:r>
              <a:rPr sz="1300" b="1" i="0">
                <a:solidFill>
                  <a:srgbClr val="1F2D3D"/>
                </a:solidFill>
                <a:latin typeface="Aptos"/>
              </a:rPr>
              <a:t>BẰNG CHỨNG / CASE</a:t>
            </a:r>
          </a:p>
        </p:txBody>
      </p:sp>
      <p:sp>
        <p:nvSpPr>
          <p:cNvPr id="28" name="Rounded Rectangle 27"/>
          <p:cNvSpPr/>
          <p:nvPr/>
        </p:nvSpPr>
        <p:spPr>
          <a:xfrm>
            <a:off x="777240" y="5138928"/>
            <a:ext cx="155448" cy="155448"/>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78992" y="5111496"/>
            <a:ext cx="5760720" cy="274320"/>
          </a:xfrm>
          <a:prstGeom prst="rect">
            <a:avLst/>
          </a:prstGeom>
          <a:noFill/>
        </p:spPr>
        <p:txBody>
          <a:bodyPr wrap="square" lIns="18288" tIns="18288" rIns="18288" bIns="18288">
            <a:normAutofit/>
          </a:bodyPr>
          <a:lstStyle/>
          <a:p>
            <a:pPr algn="l"/>
            <a:r>
              <a:rPr sz="1300" b="1" i="0">
                <a:solidFill>
                  <a:srgbClr val="1F2D3D"/>
                </a:solidFill>
                <a:latin typeface="Aptos"/>
              </a:rPr>
              <a:t>LỜI MỜI TÌM HIỂU</a:t>
            </a:r>
          </a:p>
        </p:txBody>
      </p:sp>
      <p:sp>
        <p:nvSpPr>
          <p:cNvPr id="30" name="Rounded Rectangle 29"/>
          <p:cNvSpPr/>
          <p:nvPr/>
        </p:nvSpPr>
        <p:spPr>
          <a:xfrm>
            <a:off x="6995160" y="2743200"/>
            <a:ext cx="4297680" cy="15087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0" y="3063240"/>
            <a:ext cx="3657600" cy="731520"/>
          </a:xfrm>
          <a:prstGeom prst="rect">
            <a:avLst/>
          </a:prstGeom>
          <a:noFill/>
        </p:spPr>
        <p:txBody>
          <a:bodyPr wrap="square" lIns="18288" tIns="18288" rIns="18288" bIns="18288">
            <a:normAutofit/>
          </a:bodyPr>
          <a:lstStyle/>
          <a:p>
            <a:pPr algn="ctr"/>
            <a:r>
              <a:rPr sz="1800" b="1" i="0">
                <a:solidFill>
                  <a:srgbClr val="08182B"/>
                </a:solidFill>
                <a:latin typeface="Aptos"/>
              </a:rPr>
              <a:t>ĐỪNG BIẾN KÊNH THÀNH
MỘT TỜ RƠI BÁN HÀNG.</a:t>
            </a:r>
          </a:p>
        </p:txBody>
      </p:sp>
      <p:sp>
        <p:nvSpPr>
          <p:cNvPr id="32" name="TextBox 31"/>
          <p:cNvSpPr txBox="1"/>
          <p:nvPr/>
        </p:nvSpPr>
        <p:spPr>
          <a:xfrm>
            <a:off x="7132320" y="4434840"/>
            <a:ext cx="3977639" cy="731520"/>
          </a:xfrm>
          <a:prstGeom prst="rect">
            <a:avLst/>
          </a:prstGeom>
          <a:noFill/>
        </p:spPr>
        <p:txBody>
          <a:bodyPr wrap="square" lIns="18288" tIns="18288" rIns="18288" bIns="18288">
            <a:normAutofit/>
          </a:bodyPr>
          <a:lstStyle/>
          <a:p>
            <a:pPr algn="ctr"/>
            <a:r>
              <a:rPr sz="1250" b="0" i="1">
                <a:solidFill>
                  <a:srgbClr val="667686"/>
                </a:solidFill>
                <a:latin typeface="Aptos"/>
              </a:rPr>
              <a:t>Tỷ lệ là khung chiến lược để bắt đầu; sau 2–4 tuần điều chỉnh theo dữ liệu thực tế.</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E8D1D7-F656-76B9-21FC-BCDCE8FFE673}"/>
              </a:ext>
            </a:extLst>
          </p:cNvPr>
          <p:cNvSpPr txBox="1"/>
          <p:nvPr/>
        </p:nvSpPr>
        <p:spPr>
          <a:xfrm>
            <a:off x="3046751" y="3240586"/>
            <a:ext cx="6093500" cy="369332"/>
          </a:xfrm>
          <a:prstGeom prst="rect">
            <a:avLst/>
          </a:prstGeom>
          <a:noFill/>
        </p:spPr>
        <p:txBody>
          <a:bodyPr wrap="square">
            <a:spAutoFit/>
          </a:bodyPr>
          <a:lstStyle/>
          <a:p>
            <a:r>
              <a:rPr lang="vi-VN" b="0" i="0" dirty="0">
                <a:solidFill>
                  <a:srgbClr val="081B3A"/>
                </a:solidFill>
                <a:effectLst/>
                <a:latin typeface="SegoeuiPc"/>
              </a:rPr>
              <a:t>BÍ MẬT THIẾT KẾ MỒI </a:t>
            </a:r>
            <a:r>
              <a:rPr lang="vi-VN" b="0" i="0" dirty="0">
                <a:solidFill>
                  <a:srgbClr val="15A85F"/>
                </a:solidFill>
                <a:effectLst/>
                <a:latin typeface="SegoeuiPc"/>
              </a:rPr>
              <a:t>HÚT F1 TÀU KIM CƯƠNG </a:t>
            </a:r>
            <a:endParaRPr lang="en-US" dirty="0"/>
          </a:p>
        </p:txBody>
      </p:sp>
    </p:spTree>
    <p:extLst>
      <p:ext uri="{BB962C8B-B14F-4D97-AF65-F5344CB8AC3E}">
        <p14:creationId xmlns:p14="http://schemas.microsoft.com/office/powerpoint/2010/main" val="2095294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“THẢ MỒI”</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Thả mồi đúng — không phải câu người, mà tạo trải nghiệm</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16</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97680"/>
          </a:xfrm>
          <a:prstGeom prst="rect">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MỒI SAI</a:t>
            </a:r>
          </a:p>
        </p:txBody>
      </p:sp>
      <p:sp>
        <p:nvSpPr>
          <p:cNvPr id="14" name="TextBox 13"/>
          <p:cNvSpPr txBox="1"/>
          <p:nvPr/>
        </p:nvSpPr>
        <p:spPr>
          <a:xfrm>
            <a:off x="1335024" y="2148839"/>
            <a:ext cx="4352544" cy="3511296"/>
          </a:xfrm>
          <a:prstGeom prst="rect">
            <a:avLst/>
          </a:prstGeom>
          <a:noFill/>
        </p:spPr>
        <p:txBody>
          <a:bodyPr wrap="square" lIns="18288" tIns="18288" rIns="18288" bIns="18288">
            <a:normAutofit/>
          </a:bodyPr>
          <a:lstStyle/>
          <a:p>
            <a:pPr algn="l"/>
            <a:r>
              <a:rPr sz="1500" b="0" i="0">
                <a:solidFill>
                  <a:srgbClr val="1F2D3D"/>
                </a:solidFill>
                <a:latin typeface="Aptos"/>
              </a:rPr>
              <a:t>Hứa hẹn quá mức.
Che giấu mục đích.
Tạo FOMO / áp lực.
Thu thông tin rồi spam.</a:t>
            </a:r>
          </a:p>
        </p:txBody>
      </p:sp>
      <p:sp>
        <p:nvSpPr>
          <p:cNvPr id="15" name="Rounded Rectangle 14"/>
          <p:cNvSpPr/>
          <p:nvPr/>
        </p:nvSpPr>
        <p:spPr>
          <a:xfrm>
            <a:off x="621792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976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MỒI ĐÚNG</a:t>
            </a:r>
          </a:p>
        </p:txBody>
      </p:sp>
      <p:sp>
        <p:nvSpPr>
          <p:cNvPr id="19" name="TextBox 18"/>
          <p:cNvSpPr txBox="1"/>
          <p:nvPr/>
        </p:nvSpPr>
        <p:spPr>
          <a:xfrm>
            <a:off x="6912864" y="2148839"/>
            <a:ext cx="4352544" cy="3511296"/>
          </a:xfrm>
          <a:prstGeom prst="rect">
            <a:avLst/>
          </a:prstGeom>
          <a:noFill/>
        </p:spPr>
        <p:txBody>
          <a:bodyPr wrap="square" lIns="18288" tIns="18288" rIns="18288" bIns="18288">
            <a:normAutofit/>
          </a:bodyPr>
          <a:lstStyle/>
          <a:p>
            <a:pPr algn="l"/>
            <a:r>
              <a:rPr sz="1400" b="0" i="0">
                <a:solidFill>
                  <a:srgbClr val="1F2D3D"/>
                </a:solidFill>
                <a:latin typeface="Aptos"/>
              </a:rPr>
              <a:t>Một trải nghiệm ngắn.
Một kết quả rõ.
Thông tin minh bạch.
Người tham gia tự nguyện.
Ví dụ: thử thách 5–7 ngày • workshop 60 phút • checklist 7 bước • mini training.</a:t>
            </a:r>
          </a:p>
        </p:txBody>
      </p:sp>
      <p:sp>
        <p:nvSpPr>
          <p:cNvPr id="20" name="TextBox 19"/>
          <p:cNvSpPr txBox="1"/>
          <p:nvPr/>
        </p:nvSpPr>
        <p:spPr>
          <a:xfrm>
            <a:off x="914400" y="5925312"/>
            <a:ext cx="10424160" cy="320040"/>
          </a:xfrm>
          <a:prstGeom prst="rect">
            <a:avLst/>
          </a:prstGeom>
          <a:noFill/>
        </p:spPr>
        <p:txBody>
          <a:bodyPr wrap="square" lIns="18288" tIns="18288" rIns="18288" bIns="18288">
            <a:normAutofit/>
          </a:bodyPr>
          <a:lstStyle/>
          <a:p>
            <a:pPr algn="ctr"/>
            <a:r>
              <a:rPr sz="1350" b="1" i="0">
                <a:solidFill>
                  <a:srgbClr val="D4AF37"/>
                </a:solidFill>
                <a:latin typeface="Aptos"/>
              </a:rPr>
              <a:t>BÍ MẬT #3  •  MỒI ĐÚNG = NGƯỜI PHÙ HỢP CÓ LÝ DO BƯỚC VÀO, TỰ NGUYỆN VÀO.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THỬ THÁCH</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7 ngày: từ người xem → người trải nghiệm</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17</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960120"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1</a:t>
            </a:r>
          </a:p>
        </p:txBody>
      </p:sp>
      <p:sp>
        <p:nvSpPr>
          <p:cNvPr id="11" name="TextBox 10"/>
          <p:cNvSpPr txBox="1"/>
          <p:nvPr/>
        </p:nvSpPr>
        <p:spPr>
          <a:xfrm>
            <a:off x="502920"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NHÌN LẠI</a:t>
            </a:r>
          </a:p>
        </p:txBody>
      </p:sp>
      <p:sp>
        <p:nvSpPr>
          <p:cNvPr id="12" name="TextBox 11"/>
          <p:cNvSpPr txBox="1"/>
          <p:nvPr/>
        </p:nvSpPr>
        <p:spPr>
          <a:xfrm>
            <a:off x="502920"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Tự đánh giá hiện trạng</a:t>
            </a:r>
          </a:p>
        </p:txBody>
      </p:sp>
      <p:sp>
        <p:nvSpPr>
          <p:cNvPr id="13" name="Oval 12"/>
          <p:cNvSpPr/>
          <p:nvPr/>
        </p:nvSpPr>
        <p:spPr>
          <a:xfrm>
            <a:off x="2624328"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2</a:t>
            </a:r>
          </a:p>
        </p:txBody>
      </p:sp>
      <p:sp>
        <p:nvSpPr>
          <p:cNvPr id="14" name="TextBox 13"/>
          <p:cNvSpPr txBox="1"/>
          <p:nvPr/>
        </p:nvSpPr>
        <p:spPr>
          <a:xfrm>
            <a:off x="2167128"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ĐỔI GÓC NHÌN</a:t>
            </a:r>
          </a:p>
        </p:txBody>
      </p:sp>
      <p:sp>
        <p:nvSpPr>
          <p:cNvPr id="15" name="TextBox 14"/>
          <p:cNvSpPr txBox="1"/>
          <p:nvPr/>
        </p:nvSpPr>
        <p:spPr>
          <a:xfrm>
            <a:off x="2167128"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Học một nguyên lý</a:t>
            </a:r>
          </a:p>
        </p:txBody>
      </p:sp>
      <p:sp>
        <p:nvSpPr>
          <p:cNvPr id="16" name="Oval 15"/>
          <p:cNvSpPr/>
          <p:nvPr/>
        </p:nvSpPr>
        <p:spPr>
          <a:xfrm>
            <a:off x="4288536"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3</a:t>
            </a:r>
          </a:p>
        </p:txBody>
      </p:sp>
      <p:sp>
        <p:nvSpPr>
          <p:cNvPr id="17" name="TextBox 16"/>
          <p:cNvSpPr txBox="1"/>
          <p:nvPr/>
        </p:nvSpPr>
        <p:spPr>
          <a:xfrm>
            <a:off x="3831336"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LÀM THỬ</a:t>
            </a:r>
          </a:p>
        </p:txBody>
      </p:sp>
      <p:sp>
        <p:nvSpPr>
          <p:cNvPr id="18" name="TextBox 17"/>
          <p:cNvSpPr txBox="1"/>
          <p:nvPr/>
        </p:nvSpPr>
        <p:spPr>
          <a:xfrm>
            <a:off x="3831336"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Một nhiệm vụ nhỏ</a:t>
            </a:r>
          </a:p>
        </p:txBody>
      </p:sp>
      <p:sp>
        <p:nvSpPr>
          <p:cNvPr id="19" name="Oval 18"/>
          <p:cNvSpPr/>
          <p:nvPr/>
        </p:nvSpPr>
        <p:spPr>
          <a:xfrm>
            <a:off x="5952744"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4</a:t>
            </a:r>
          </a:p>
        </p:txBody>
      </p:sp>
      <p:sp>
        <p:nvSpPr>
          <p:cNvPr id="20" name="TextBox 19"/>
          <p:cNvSpPr txBox="1"/>
          <p:nvPr/>
        </p:nvSpPr>
        <p:spPr>
          <a:xfrm>
            <a:off x="5495544"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CHIA SẺ</a:t>
            </a:r>
          </a:p>
        </p:txBody>
      </p:sp>
      <p:sp>
        <p:nvSpPr>
          <p:cNvPr id="21" name="TextBox 20"/>
          <p:cNvSpPr txBox="1"/>
          <p:nvPr/>
        </p:nvSpPr>
        <p:spPr>
          <a:xfrm>
            <a:off x="5495544"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Phản hồi / case</a:t>
            </a:r>
          </a:p>
        </p:txBody>
      </p:sp>
      <p:sp>
        <p:nvSpPr>
          <p:cNvPr id="22" name="Oval 21"/>
          <p:cNvSpPr/>
          <p:nvPr/>
        </p:nvSpPr>
        <p:spPr>
          <a:xfrm>
            <a:off x="7616952"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5</a:t>
            </a:r>
          </a:p>
        </p:txBody>
      </p:sp>
      <p:sp>
        <p:nvSpPr>
          <p:cNvPr id="23" name="TextBox 22"/>
          <p:cNvSpPr txBox="1"/>
          <p:nvPr/>
        </p:nvSpPr>
        <p:spPr>
          <a:xfrm>
            <a:off x="7159752"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CÔNG CỤ</a:t>
            </a:r>
          </a:p>
        </p:txBody>
      </p:sp>
      <p:sp>
        <p:nvSpPr>
          <p:cNvPr id="24" name="TextBox 23"/>
          <p:cNvSpPr txBox="1"/>
          <p:nvPr/>
        </p:nvSpPr>
        <p:spPr>
          <a:xfrm>
            <a:off x="7159752"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Một framework</a:t>
            </a:r>
          </a:p>
        </p:txBody>
      </p:sp>
      <p:sp>
        <p:nvSpPr>
          <p:cNvPr id="25" name="Oval 24"/>
          <p:cNvSpPr/>
          <p:nvPr/>
        </p:nvSpPr>
        <p:spPr>
          <a:xfrm>
            <a:off x="9281160"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6</a:t>
            </a:r>
          </a:p>
        </p:txBody>
      </p:sp>
      <p:sp>
        <p:nvSpPr>
          <p:cNvPr id="26" name="TextBox 25"/>
          <p:cNvSpPr txBox="1"/>
          <p:nvPr/>
        </p:nvSpPr>
        <p:spPr>
          <a:xfrm>
            <a:off x="8823960"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ỨNG DỤNG</a:t>
            </a:r>
          </a:p>
        </p:txBody>
      </p:sp>
      <p:sp>
        <p:nvSpPr>
          <p:cNvPr id="27" name="TextBox 26"/>
          <p:cNvSpPr txBox="1"/>
          <p:nvPr/>
        </p:nvSpPr>
        <p:spPr>
          <a:xfrm>
            <a:off x="8823960"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Đưa vào thực tế</a:t>
            </a:r>
          </a:p>
        </p:txBody>
      </p:sp>
      <p:sp>
        <p:nvSpPr>
          <p:cNvPr id="28" name="Oval 27"/>
          <p:cNvSpPr/>
          <p:nvPr/>
        </p:nvSpPr>
        <p:spPr>
          <a:xfrm>
            <a:off x="10945368"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7</a:t>
            </a:r>
          </a:p>
        </p:txBody>
      </p:sp>
      <p:sp>
        <p:nvSpPr>
          <p:cNvPr id="29" name="TextBox 28"/>
          <p:cNvSpPr txBox="1"/>
          <p:nvPr/>
        </p:nvSpPr>
        <p:spPr>
          <a:xfrm>
            <a:off x="10488168" y="2267712"/>
            <a:ext cx="1508760" cy="548640"/>
          </a:xfrm>
          <a:prstGeom prst="rect">
            <a:avLst/>
          </a:prstGeom>
          <a:noFill/>
        </p:spPr>
        <p:txBody>
          <a:bodyPr wrap="square" lIns="18288" tIns="18288" rIns="18288" bIns="18288">
            <a:normAutofit/>
          </a:bodyPr>
          <a:lstStyle/>
          <a:p>
            <a:pPr algn="ctr"/>
            <a:r>
              <a:rPr sz="1180" b="1" i="0">
                <a:solidFill>
                  <a:srgbClr val="08182B"/>
                </a:solidFill>
                <a:latin typeface="Aptos"/>
              </a:rPr>
              <a:t>ĐỊNH HƯỚNG</a:t>
            </a:r>
          </a:p>
        </p:txBody>
      </p:sp>
      <p:sp>
        <p:nvSpPr>
          <p:cNvPr id="30" name="TextBox 29"/>
          <p:cNvSpPr txBox="1"/>
          <p:nvPr/>
        </p:nvSpPr>
        <p:spPr>
          <a:xfrm>
            <a:off x="10488168" y="2971800"/>
            <a:ext cx="1508760" cy="731520"/>
          </a:xfrm>
          <a:prstGeom prst="rect">
            <a:avLst/>
          </a:prstGeom>
          <a:noFill/>
        </p:spPr>
        <p:txBody>
          <a:bodyPr wrap="square" lIns="18288" tIns="18288" rIns="18288" bIns="18288">
            <a:normAutofit/>
          </a:bodyPr>
          <a:lstStyle/>
          <a:p>
            <a:pPr algn="ctr"/>
            <a:r>
              <a:rPr sz="1080" b="0" i="0">
                <a:solidFill>
                  <a:srgbClr val="1F2D3D"/>
                </a:solidFill>
                <a:latin typeface="Aptos"/>
              </a:rPr>
              <a:t>Chọn bước tiếp theo</a:t>
            </a:r>
          </a:p>
        </p:txBody>
      </p:sp>
      <p:sp>
        <p:nvSpPr>
          <p:cNvPr id="31" name="TextBox 30"/>
          <p:cNvSpPr txBox="1"/>
          <p:nvPr/>
        </p:nvSpPr>
        <p:spPr>
          <a:xfrm>
            <a:off x="914400" y="4709160"/>
            <a:ext cx="10332720" cy="594360"/>
          </a:xfrm>
          <a:prstGeom prst="rect">
            <a:avLst/>
          </a:prstGeom>
          <a:noFill/>
        </p:spPr>
        <p:txBody>
          <a:bodyPr wrap="square" lIns="18288" tIns="18288" rIns="18288" bIns="18288">
            <a:normAutofit/>
          </a:bodyPr>
          <a:lstStyle/>
          <a:p>
            <a:pPr algn="ctr"/>
            <a:r>
              <a:rPr sz="1600" b="1" i="0">
                <a:solidFill>
                  <a:srgbClr val="08182B"/>
                </a:solidFill>
                <a:latin typeface="Aptos"/>
              </a:rPr>
              <a:t>THỬ THÁCH KHÔNG PHẢI ĐỂ “CÂU NGƯỜI”. NÓ LÀ CẦU NỐI ĐỂ NGƯỜI PHÙ HỢP TỰ TRẢI NGHIỆM.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PHỄU</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Hành trình từ người xem → ứng viên tiềm năng</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27632"/>
            <a:ext cx="10607040" cy="530352"/>
          </a:xfrm>
          <a:prstGeom prst="rect">
            <a:avLst/>
          </a:prstGeom>
          <a:noFill/>
        </p:spPr>
        <p:txBody>
          <a:bodyPr wrap="square" lIns="18288" tIns="18288" rIns="18288" bIns="18288" anchor="t">
            <a:spAutoFit/>
          </a:bodyPr>
          <a:lstStyle/>
          <a:p>
            <a:pPr algn="l"/>
            <a:r>
              <a:rPr sz="1600" b="0" dirty="0" err="1">
                <a:solidFill>
                  <a:srgbClr val="5B6876"/>
                </a:solidFill>
                <a:latin typeface="Aptos"/>
              </a:rPr>
              <a:t>Mỗi</a:t>
            </a:r>
            <a:r>
              <a:rPr sz="1600" b="0" dirty="0">
                <a:solidFill>
                  <a:srgbClr val="5B6876"/>
                </a:solidFill>
                <a:latin typeface="Aptos"/>
              </a:rPr>
              <a:t> </a:t>
            </a:r>
            <a:r>
              <a:rPr sz="1600" b="0" dirty="0" err="1">
                <a:solidFill>
                  <a:srgbClr val="5B6876"/>
                </a:solidFill>
                <a:latin typeface="Aptos"/>
              </a:rPr>
              <a:t>bước</a:t>
            </a:r>
            <a:r>
              <a:rPr sz="1600" b="0" dirty="0">
                <a:solidFill>
                  <a:srgbClr val="5B6876"/>
                </a:solidFill>
                <a:latin typeface="Aptos"/>
              </a:rPr>
              <a:t> </a:t>
            </a:r>
            <a:r>
              <a:rPr sz="1600" b="0" dirty="0" err="1">
                <a:solidFill>
                  <a:srgbClr val="5B6876"/>
                </a:solidFill>
                <a:latin typeface="Aptos"/>
              </a:rPr>
              <a:t>có</a:t>
            </a:r>
            <a:r>
              <a:rPr sz="1600" b="0" dirty="0">
                <a:solidFill>
                  <a:srgbClr val="5B6876"/>
                </a:solidFill>
                <a:latin typeface="Aptos"/>
              </a:rPr>
              <a:t> </a:t>
            </a:r>
            <a:r>
              <a:rPr sz="1600" b="0" dirty="0" err="1">
                <a:solidFill>
                  <a:srgbClr val="5B6876"/>
                </a:solidFill>
                <a:latin typeface="Aptos"/>
              </a:rPr>
              <a:t>một</a:t>
            </a:r>
            <a:r>
              <a:rPr sz="1600" b="0" dirty="0">
                <a:solidFill>
                  <a:srgbClr val="5B6876"/>
                </a:solidFill>
                <a:latin typeface="Aptos"/>
              </a:rPr>
              <a:t> </a:t>
            </a:r>
            <a:r>
              <a:rPr sz="1600" b="0" dirty="0" err="1">
                <a:solidFill>
                  <a:srgbClr val="5B6876"/>
                </a:solidFill>
                <a:latin typeface="Aptos"/>
              </a:rPr>
              <a:t>mục</a:t>
            </a:r>
            <a:r>
              <a:rPr sz="1600" b="0" dirty="0">
                <a:solidFill>
                  <a:srgbClr val="5B6876"/>
                </a:solidFill>
                <a:latin typeface="Aptos"/>
              </a:rPr>
              <a:t> </a:t>
            </a:r>
            <a:r>
              <a:rPr sz="1600" b="0" dirty="0" err="1">
                <a:solidFill>
                  <a:srgbClr val="5B6876"/>
                </a:solidFill>
                <a:latin typeface="Aptos"/>
              </a:rPr>
              <a:t>tiêu</a:t>
            </a:r>
            <a:r>
              <a:rPr sz="1600" b="0" dirty="0">
                <a:solidFill>
                  <a:srgbClr val="5B6876"/>
                </a:solidFill>
                <a:latin typeface="Aptos"/>
              </a:rPr>
              <a:t>; </a:t>
            </a:r>
            <a:r>
              <a:rPr sz="1600" b="0" dirty="0" err="1">
                <a:solidFill>
                  <a:srgbClr val="5B6876"/>
                </a:solidFill>
                <a:latin typeface="Aptos"/>
              </a:rPr>
              <a:t>không</a:t>
            </a:r>
            <a:r>
              <a:rPr sz="1600" b="0" dirty="0">
                <a:solidFill>
                  <a:srgbClr val="5B6876"/>
                </a:solidFill>
                <a:latin typeface="Aptos"/>
              </a:rPr>
              <a:t> </a:t>
            </a:r>
            <a:r>
              <a:rPr sz="1600" b="0" dirty="0" err="1">
                <a:solidFill>
                  <a:srgbClr val="5B6876"/>
                </a:solidFill>
                <a:latin typeface="Aptos"/>
              </a:rPr>
              <a:t>cố</a:t>
            </a:r>
            <a:r>
              <a:rPr sz="1600" b="0" dirty="0">
                <a:solidFill>
                  <a:srgbClr val="5B6876"/>
                </a:solidFill>
                <a:latin typeface="Aptos"/>
              </a:rPr>
              <a:t> </a:t>
            </a:r>
            <a:r>
              <a:rPr sz="1600" b="0" dirty="0" err="1">
                <a:solidFill>
                  <a:srgbClr val="5B6876"/>
                </a:solidFill>
                <a:latin typeface="Aptos"/>
              </a:rPr>
              <a:t>chốt</a:t>
            </a:r>
            <a:r>
              <a:rPr sz="1600" b="0" dirty="0">
                <a:solidFill>
                  <a:srgbClr val="5B6876"/>
                </a:solidFill>
                <a:latin typeface="Aptos"/>
              </a:rPr>
              <a:t> ở </a:t>
            </a:r>
            <a:r>
              <a:rPr sz="1600" b="0" dirty="0" err="1">
                <a:solidFill>
                  <a:srgbClr val="5B6876"/>
                </a:solidFill>
                <a:latin typeface="Aptos"/>
              </a:rPr>
              <a:t>bước</a:t>
            </a:r>
            <a:r>
              <a:rPr sz="1600" b="0" dirty="0">
                <a:solidFill>
                  <a:srgbClr val="5B6876"/>
                </a:solidFill>
                <a:latin typeface="Aptos"/>
              </a:rPr>
              <a:t> </a:t>
            </a:r>
            <a:r>
              <a:rPr sz="1600" b="0" dirty="0" err="1">
                <a:solidFill>
                  <a:srgbClr val="5B6876"/>
                </a:solidFill>
                <a:latin typeface="Aptos"/>
              </a:rPr>
              <a:t>đầu</a:t>
            </a:r>
            <a:r>
              <a:rPr sz="1600" b="0" dirty="0">
                <a:solidFill>
                  <a:srgbClr val="5B6876"/>
                </a:solidFill>
                <a:latin typeface="Aptos"/>
              </a:rPr>
              <a:t>.</a:t>
            </a:r>
          </a:p>
        </p:txBody>
      </p:sp>
      <p:sp>
        <p:nvSpPr>
          <p:cNvPr id="6" name="TextBox 5"/>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7" name="TextBox 6"/>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19</a:t>
            </a:r>
          </a:p>
        </p:txBody>
      </p:sp>
      <p:sp>
        <p:nvSpPr>
          <p:cNvPr id="8" name="Rounded Rectangle 7"/>
          <p:cNvSpPr/>
          <p:nvPr/>
        </p:nvSpPr>
        <p:spPr>
          <a:xfrm>
            <a:off x="5181447" y="1828800"/>
            <a:ext cx="1828800" cy="502920"/>
          </a:xfrm>
          <a:prstGeom prst="roundRect">
            <a:avLst>
              <a:gd name="adj" fmla="val 8000"/>
            </a:avLst>
          </a:prstGeom>
          <a:solidFill>
            <a:srgbClr val="EBF4FC"/>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46039" y="1920240"/>
            <a:ext cx="1143000" cy="274320"/>
          </a:xfrm>
          <a:prstGeom prst="rect">
            <a:avLst/>
          </a:prstGeom>
          <a:noFill/>
        </p:spPr>
        <p:txBody>
          <a:bodyPr wrap="square" lIns="18288" tIns="18288" rIns="18288" bIns="18288" anchor="t">
            <a:spAutoFit/>
          </a:bodyPr>
          <a:lstStyle/>
          <a:p>
            <a:pPr algn="l"/>
            <a:r>
              <a:rPr sz="1300" b="1" dirty="0">
                <a:solidFill>
                  <a:srgbClr val="124673"/>
                </a:solidFill>
                <a:latin typeface="Aptos"/>
              </a:rPr>
              <a:t>1. XEM</a:t>
            </a:r>
          </a:p>
        </p:txBody>
      </p:sp>
      <p:sp>
        <p:nvSpPr>
          <p:cNvPr id="10" name="TextBox 9"/>
          <p:cNvSpPr txBox="1"/>
          <p:nvPr/>
        </p:nvSpPr>
        <p:spPr>
          <a:xfrm>
            <a:off x="6351879" y="1920240"/>
            <a:ext cx="502920" cy="274320"/>
          </a:xfrm>
          <a:prstGeom prst="rect">
            <a:avLst/>
          </a:prstGeom>
          <a:noFill/>
        </p:spPr>
        <p:txBody>
          <a:bodyPr wrap="square" lIns="18288" tIns="18288" rIns="18288" bIns="18288" anchor="t">
            <a:spAutoFit/>
          </a:bodyPr>
          <a:lstStyle/>
          <a:p>
            <a:pPr algn="l"/>
            <a:r>
              <a:rPr sz="1200" b="0">
                <a:solidFill>
                  <a:srgbClr val="1E2A37"/>
                </a:solidFill>
                <a:latin typeface="Aptos"/>
              </a:rPr>
              <a:t>Video / bài viết</a:t>
            </a:r>
          </a:p>
        </p:txBody>
      </p:sp>
      <p:sp>
        <p:nvSpPr>
          <p:cNvPr id="11" name="Rounded Rectangle 10"/>
          <p:cNvSpPr/>
          <p:nvPr/>
        </p:nvSpPr>
        <p:spPr>
          <a:xfrm>
            <a:off x="4989423" y="2450592"/>
            <a:ext cx="2212848" cy="502920"/>
          </a:xfrm>
          <a:prstGeom prst="roundRect">
            <a:avLst>
              <a:gd name="adj" fmla="val 8000"/>
            </a:avLst>
          </a:prstGeom>
          <a:solidFill>
            <a:srgbClr val="EBF4FC"/>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44283" y="2487168"/>
            <a:ext cx="886968" cy="437043"/>
          </a:xfrm>
          <a:prstGeom prst="rect">
            <a:avLst/>
          </a:prstGeom>
          <a:noFill/>
        </p:spPr>
        <p:txBody>
          <a:bodyPr wrap="square" lIns="18288" tIns="18288" rIns="18288" bIns="18288" anchor="t">
            <a:spAutoFit/>
          </a:bodyPr>
          <a:lstStyle/>
          <a:p>
            <a:pPr algn="l"/>
            <a:r>
              <a:rPr sz="1300" b="1" dirty="0">
                <a:solidFill>
                  <a:srgbClr val="124673"/>
                </a:solidFill>
                <a:latin typeface="Aptos"/>
              </a:rPr>
              <a:t>2. QUAN TÂM</a:t>
            </a:r>
          </a:p>
        </p:txBody>
      </p:sp>
      <p:sp>
        <p:nvSpPr>
          <p:cNvPr id="13" name="TextBox 12"/>
          <p:cNvSpPr txBox="1"/>
          <p:nvPr/>
        </p:nvSpPr>
        <p:spPr>
          <a:xfrm>
            <a:off x="6159855" y="2542032"/>
            <a:ext cx="886968" cy="274320"/>
          </a:xfrm>
          <a:prstGeom prst="rect">
            <a:avLst/>
          </a:prstGeom>
          <a:noFill/>
        </p:spPr>
        <p:txBody>
          <a:bodyPr wrap="square" lIns="18288" tIns="18288" rIns="18288" bIns="18288" anchor="t">
            <a:spAutoFit/>
          </a:bodyPr>
          <a:lstStyle/>
          <a:p>
            <a:pPr algn="l"/>
            <a:r>
              <a:rPr sz="1200" b="0" dirty="0">
                <a:solidFill>
                  <a:srgbClr val="1E2A37"/>
                </a:solidFill>
                <a:latin typeface="Aptos"/>
              </a:rPr>
              <a:t>Theo </a:t>
            </a:r>
            <a:r>
              <a:rPr sz="1200" b="0" dirty="0" err="1">
                <a:solidFill>
                  <a:srgbClr val="1E2A37"/>
                </a:solidFill>
                <a:latin typeface="Aptos"/>
              </a:rPr>
              <a:t>dõi</a:t>
            </a:r>
            <a:r>
              <a:rPr sz="1200" b="0" dirty="0">
                <a:solidFill>
                  <a:srgbClr val="1E2A37"/>
                </a:solidFill>
                <a:latin typeface="Aptos"/>
              </a:rPr>
              <a:t> / </a:t>
            </a:r>
            <a:r>
              <a:rPr sz="1200" b="0" dirty="0" err="1">
                <a:solidFill>
                  <a:srgbClr val="1E2A37"/>
                </a:solidFill>
                <a:latin typeface="Aptos"/>
              </a:rPr>
              <a:t>bình</a:t>
            </a:r>
            <a:r>
              <a:rPr sz="1200" b="0" dirty="0">
                <a:solidFill>
                  <a:srgbClr val="1E2A37"/>
                </a:solidFill>
                <a:latin typeface="Aptos"/>
              </a:rPr>
              <a:t> </a:t>
            </a:r>
            <a:r>
              <a:rPr sz="1200" b="0" dirty="0" err="1">
                <a:solidFill>
                  <a:srgbClr val="1E2A37"/>
                </a:solidFill>
                <a:latin typeface="Aptos"/>
              </a:rPr>
              <a:t>luận</a:t>
            </a:r>
            <a:endParaRPr sz="1200" b="0" dirty="0">
              <a:solidFill>
                <a:srgbClr val="1E2A37"/>
              </a:solidFill>
              <a:latin typeface="Aptos"/>
            </a:endParaRPr>
          </a:p>
        </p:txBody>
      </p:sp>
      <p:sp>
        <p:nvSpPr>
          <p:cNvPr id="14" name="Rounded Rectangle 13"/>
          <p:cNvSpPr/>
          <p:nvPr/>
        </p:nvSpPr>
        <p:spPr>
          <a:xfrm>
            <a:off x="4797399" y="3072384"/>
            <a:ext cx="2596896" cy="502920"/>
          </a:xfrm>
          <a:prstGeom prst="roundRect">
            <a:avLst>
              <a:gd name="adj" fmla="val 8000"/>
            </a:avLst>
          </a:prstGeom>
          <a:solidFill>
            <a:srgbClr val="EBF4FC"/>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61991" y="3163824"/>
            <a:ext cx="1005840" cy="437043"/>
          </a:xfrm>
          <a:prstGeom prst="rect">
            <a:avLst/>
          </a:prstGeom>
          <a:noFill/>
        </p:spPr>
        <p:txBody>
          <a:bodyPr wrap="square" lIns="18288" tIns="18288" rIns="18288" bIns="18288" anchor="t">
            <a:spAutoFit/>
          </a:bodyPr>
          <a:lstStyle/>
          <a:p>
            <a:pPr algn="l"/>
            <a:r>
              <a:rPr sz="1300" b="1" dirty="0">
                <a:solidFill>
                  <a:srgbClr val="124673"/>
                </a:solidFill>
                <a:latin typeface="Aptos"/>
              </a:rPr>
              <a:t>3. BƯỚC VÀO</a:t>
            </a:r>
          </a:p>
        </p:txBody>
      </p:sp>
      <p:sp>
        <p:nvSpPr>
          <p:cNvPr id="16" name="TextBox 15"/>
          <p:cNvSpPr txBox="1"/>
          <p:nvPr/>
        </p:nvSpPr>
        <p:spPr>
          <a:xfrm>
            <a:off x="5967831" y="3163824"/>
            <a:ext cx="1271016" cy="274320"/>
          </a:xfrm>
          <a:prstGeom prst="rect">
            <a:avLst/>
          </a:prstGeom>
          <a:noFill/>
        </p:spPr>
        <p:txBody>
          <a:bodyPr wrap="square" lIns="18288" tIns="18288" rIns="18288" bIns="18288" anchor="t">
            <a:spAutoFit/>
          </a:bodyPr>
          <a:lstStyle/>
          <a:p>
            <a:pPr algn="l"/>
            <a:r>
              <a:rPr sz="1200" b="0">
                <a:solidFill>
                  <a:srgbClr val="1E2A37"/>
                </a:solidFill>
                <a:latin typeface="Aptos"/>
              </a:rPr>
              <a:t>Nhận tài nguyên / đăng ký</a:t>
            </a:r>
          </a:p>
        </p:txBody>
      </p:sp>
      <p:sp>
        <p:nvSpPr>
          <p:cNvPr id="17" name="Rounded Rectangle 16"/>
          <p:cNvSpPr/>
          <p:nvPr/>
        </p:nvSpPr>
        <p:spPr>
          <a:xfrm>
            <a:off x="4605375" y="3694176"/>
            <a:ext cx="2980944" cy="502920"/>
          </a:xfrm>
          <a:prstGeom prst="roundRect">
            <a:avLst>
              <a:gd name="adj" fmla="val 8000"/>
            </a:avLst>
          </a:prstGeom>
          <a:solidFill>
            <a:srgbClr val="EBF4FC"/>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69967" y="3785615"/>
            <a:ext cx="1143000" cy="274320"/>
          </a:xfrm>
          <a:prstGeom prst="rect">
            <a:avLst/>
          </a:prstGeom>
          <a:noFill/>
        </p:spPr>
        <p:txBody>
          <a:bodyPr wrap="square" lIns="18288" tIns="18288" rIns="18288" bIns="18288" anchor="t">
            <a:spAutoFit/>
          </a:bodyPr>
          <a:lstStyle/>
          <a:p>
            <a:pPr algn="l"/>
            <a:r>
              <a:rPr sz="1300" b="1">
                <a:solidFill>
                  <a:srgbClr val="124673"/>
                </a:solidFill>
                <a:latin typeface="Aptos"/>
              </a:rPr>
              <a:t>4. TRẢI NGHIỆM</a:t>
            </a:r>
          </a:p>
        </p:txBody>
      </p:sp>
      <p:sp>
        <p:nvSpPr>
          <p:cNvPr id="19" name="TextBox 18"/>
          <p:cNvSpPr txBox="1"/>
          <p:nvPr/>
        </p:nvSpPr>
        <p:spPr>
          <a:xfrm>
            <a:off x="5775807" y="3785615"/>
            <a:ext cx="1655063" cy="274320"/>
          </a:xfrm>
          <a:prstGeom prst="rect">
            <a:avLst/>
          </a:prstGeom>
          <a:noFill/>
        </p:spPr>
        <p:txBody>
          <a:bodyPr wrap="square" lIns="18288" tIns="18288" rIns="18288" bIns="18288" anchor="t">
            <a:spAutoFit/>
          </a:bodyPr>
          <a:lstStyle/>
          <a:p>
            <a:pPr algn="l"/>
            <a:r>
              <a:rPr sz="1200" b="0">
                <a:solidFill>
                  <a:srgbClr val="1E2A37"/>
                </a:solidFill>
                <a:latin typeface="Aptos"/>
              </a:rPr>
              <a:t>Thử thách / workshop</a:t>
            </a:r>
          </a:p>
        </p:txBody>
      </p:sp>
      <p:sp>
        <p:nvSpPr>
          <p:cNvPr id="20" name="Rounded Rectangle 19"/>
          <p:cNvSpPr/>
          <p:nvPr/>
        </p:nvSpPr>
        <p:spPr>
          <a:xfrm>
            <a:off x="4413351" y="4315968"/>
            <a:ext cx="3364991" cy="502920"/>
          </a:xfrm>
          <a:prstGeom prst="roundRect">
            <a:avLst>
              <a:gd name="adj" fmla="val 8000"/>
            </a:avLst>
          </a:prstGeom>
          <a:solidFill>
            <a:srgbClr val="EBF4FC"/>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7943" y="4407408"/>
            <a:ext cx="1143000" cy="274320"/>
          </a:xfrm>
          <a:prstGeom prst="rect">
            <a:avLst/>
          </a:prstGeom>
          <a:noFill/>
        </p:spPr>
        <p:txBody>
          <a:bodyPr wrap="square" lIns="18288" tIns="18288" rIns="18288" bIns="18288" anchor="t">
            <a:spAutoFit/>
          </a:bodyPr>
          <a:lstStyle/>
          <a:p>
            <a:pPr algn="l"/>
            <a:r>
              <a:rPr sz="1300" b="1">
                <a:solidFill>
                  <a:srgbClr val="124673"/>
                </a:solidFill>
                <a:latin typeface="Aptos"/>
              </a:rPr>
              <a:t>5. TÌM HIỂU</a:t>
            </a:r>
          </a:p>
        </p:txBody>
      </p:sp>
      <p:sp>
        <p:nvSpPr>
          <p:cNvPr id="22" name="TextBox 21"/>
          <p:cNvSpPr txBox="1"/>
          <p:nvPr/>
        </p:nvSpPr>
        <p:spPr>
          <a:xfrm>
            <a:off x="5583783" y="4407408"/>
            <a:ext cx="2039111" cy="274320"/>
          </a:xfrm>
          <a:prstGeom prst="rect">
            <a:avLst/>
          </a:prstGeom>
          <a:noFill/>
        </p:spPr>
        <p:txBody>
          <a:bodyPr wrap="square" lIns="18288" tIns="18288" rIns="18288" bIns="18288" anchor="t">
            <a:spAutoFit/>
          </a:bodyPr>
          <a:lstStyle/>
          <a:p>
            <a:pPr algn="l"/>
            <a:r>
              <a:rPr sz="1200" b="0">
                <a:solidFill>
                  <a:srgbClr val="1E2A37"/>
                </a:solidFill>
                <a:latin typeface="Aptos"/>
              </a:rPr>
              <a:t>Trao đổi theo nhu cầu</a:t>
            </a:r>
          </a:p>
        </p:txBody>
      </p:sp>
      <p:sp>
        <p:nvSpPr>
          <p:cNvPr id="23" name="Rounded Rectangle 22"/>
          <p:cNvSpPr/>
          <p:nvPr/>
        </p:nvSpPr>
        <p:spPr>
          <a:xfrm>
            <a:off x="4221327" y="4937760"/>
            <a:ext cx="3749039" cy="502920"/>
          </a:xfrm>
          <a:prstGeom prst="roundRect">
            <a:avLst>
              <a:gd name="adj" fmla="val 8000"/>
            </a:avLst>
          </a:prstGeom>
          <a:solidFill>
            <a:srgbClr val="FAF6E4"/>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5919" y="5029200"/>
            <a:ext cx="1143000" cy="274320"/>
          </a:xfrm>
          <a:prstGeom prst="rect">
            <a:avLst/>
          </a:prstGeom>
          <a:noFill/>
        </p:spPr>
        <p:txBody>
          <a:bodyPr wrap="square" lIns="18288" tIns="18288" rIns="18288" bIns="18288" anchor="t">
            <a:spAutoFit/>
          </a:bodyPr>
          <a:lstStyle/>
          <a:p>
            <a:pPr algn="l"/>
            <a:r>
              <a:rPr sz="1300" b="1">
                <a:solidFill>
                  <a:srgbClr val="124673"/>
                </a:solidFill>
                <a:latin typeface="Aptos"/>
              </a:rPr>
              <a:t>6. LỰA CHỌN</a:t>
            </a:r>
          </a:p>
        </p:txBody>
      </p:sp>
      <p:sp>
        <p:nvSpPr>
          <p:cNvPr id="25" name="TextBox 24"/>
          <p:cNvSpPr txBox="1"/>
          <p:nvPr/>
        </p:nvSpPr>
        <p:spPr>
          <a:xfrm>
            <a:off x="5583783" y="5006993"/>
            <a:ext cx="1810512" cy="221599"/>
          </a:xfrm>
          <a:prstGeom prst="rect">
            <a:avLst/>
          </a:prstGeom>
          <a:noFill/>
        </p:spPr>
        <p:txBody>
          <a:bodyPr wrap="square" lIns="18288" tIns="18288" rIns="18288" bIns="18288" anchor="t">
            <a:spAutoFit/>
          </a:bodyPr>
          <a:lstStyle/>
          <a:p>
            <a:pPr algn="l"/>
            <a:r>
              <a:rPr sz="1200" b="0" dirty="0">
                <a:solidFill>
                  <a:srgbClr val="1E2A37"/>
                </a:solidFill>
                <a:latin typeface="Aptos"/>
              </a:rPr>
              <a:t>Tham </a:t>
            </a:r>
            <a:r>
              <a:rPr sz="1200" b="0" dirty="0" err="1">
                <a:solidFill>
                  <a:srgbClr val="1E2A37"/>
                </a:solidFill>
                <a:latin typeface="Aptos"/>
              </a:rPr>
              <a:t>gia</a:t>
            </a:r>
            <a:r>
              <a:rPr sz="1200" b="0" dirty="0">
                <a:solidFill>
                  <a:srgbClr val="1E2A37"/>
                </a:solidFill>
                <a:latin typeface="Aptos"/>
              </a:rPr>
              <a:t> </a:t>
            </a:r>
            <a:r>
              <a:rPr sz="1200" b="0" dirty="0" err="1">
                <a:solidFill>
                  <a:srgbClr val="1E2A37"/>
                </a:solidFill>
                <a:latin typeface="Aptos"/>
              </a:rPr>
              <a:t>khi</a:t>
            </a:r>
            <a:r>
              <a:rPr sz="1200" b="0" dirty="0">
                <a:solidFill>
                  <a:srgbClr val="1E2A37"/>
                </a:solidFill>
                <a:latin typeface="Aptos"/>
              </a:rPr>
              <a:t> </a:t>
            </a:r>
            <a:r>
              <a:rPr sz="1200" b="0" dirty="0" err="1">
                <a:solidFill>
                  <a:srgbClr val="1E2A37"/>
                </a:solidFill>
                <a:latin typeface="Aptos"/>
              </a:rPr>
              <a:t>phù</a:t>
            </a:r>
            <a:r>
              <a:rPr sz="1200" b="0" dirty="0">
                <a:solidFill>
                  <a:srgbClr val="1E2A37"/>
                </a:solidFill>
                <a:latin typeface="Aptos"/>
              </a:rPr>
              <a:t> </a:t>
            </a:r>
            <a:r>
              <a:rPr sz="1200" b="0" dirty="0" err="1">
                <a:solidFill>
                  <a:srgbClr val="1E2A37"/>
                </a:solidFill>
                <a:latin typeface="Aptos"/>
              </a:rPr>
              <a:t>hợp</a:t>
            </a:r>
            <a:endParaRPr sz="1200" b="0" dirty="0">
              <a:solidFill>
                <a:srgbClr val="1E2A37"/>
              </a:solidFill>
              <a:latin typeface="Apto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DÒNG NGƯỜI</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Tìm người ở đâu?</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18</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976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NƠI CÓ CÂU HỎI</a:t>
            </a:r>
          </a:p>
        </p:txBody>
      </p:sp>
      <p:sp>
        <p:nvSpPr>
          <p:cNvPr id="14" name="TextBox 13"/>
          <p:cNvSpPr txBox="1"/>
          <p:nvPr/>
        </p:nvSpPr>
        <p:spPr>
          <a:xfrm>
            <a:off x="1335024" y="2148839"/>
            <a:ext cx="4352544" cy="3511296"/>
          </a:xfrm>
          <a:prstGeom prst="rect">
            <a:avLst/>
          </a:prstGeom>
          <a:noFill/>
        </p:spPr>
        <p:txBody>
          <a:bodyPr wrap="square" lIns="18288" tIns="18288" rIns="18288" bIns="18288">
            <a:normAutofit/>
          </a:bodyPr>
          <a:lstStyle/>
          <a:p>
            <a:pPr algn="l"/>
            <a:r>
              <a:rPr sz="1450" b="0" i="0">
                <a:solidFill>
                  <a:srgbClr val="1F2D3D"/>
                </a:solidFill>
                <a:latin typeface="Aptos"/>
              </a:rPr>
              <a:t>• Nơi họ đang đặt câu hỏi.
• Nơi họ chia sẻ nỗi đau.
• Nơi họ tìm giải pháp.
• Nơi họ theo dõi người cùng vấn đề.
• Cộng đồng chuyên môn của họ.</a:t>
            </a:r>
          </a:p>
        </p:txBody>
      </p:sp>
      <p:sp>
        <p:nvSpPr>
          <p:cNvPr id="15" name="Rounded Rectangle 14"/>
          <p:cNvSpPr/>
          <p:nvPr/>
        </p:nvSpPr>
        <p:spPr>
          <a:xfrm>
            <a:off x="621792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976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B</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NƠI CÓ TÍN HIỆU</a:t>
            </a:r>
          </a:p>
        </p:txBody>
      </p:sp>
      <p:sp>
        <p:nvSpPr>
          <p:cNvPr id="19" name="TextBox 18"/>
          <p:cNvSpPr txBox="1"/>
          <p:nvPr/>
        </p:nvSpPr>
        <p:spPr>
          <a:xfrm>
            <a:off x="6912864" y="2148839"/>
            <a:ext cx="4352544" cy="3511296"/>
          </a:xfrm>
          <a:prstGeom prst="rect">
            <a:avLst/>
          </a:prstGeom>
          <a:noFill/>
        </p:spPr>
        <p:txBody>
          <a:bodyPr wrap="square" lIns="18288" tIns="18288" rIns="18288" bIns="18288">
            <a:normAutofit/>
          </a:bodyPr>
          <a:lstStyle/>
          <a:p>
            <a:pPr algn="l"/>
            <a:r>
              <a:rPr sz="1450" b="0" i="0" dirty="0">
                <a:solidFill>
                  <a:srgbClr val="1F2D3D"/>
                </a:solidFill>
                <a:latin typeface="Aptos"/>
              </a:rPr>
              <a:t>• </a:t>
            </a:r>
            <a:r>
              <a:rPr sz="1450" b="0" i="0" dirty="0" err="1">
                <a:solidFill>
                  <a:srgbClr val="1F2D3D"/>
                </a:solidFill>
                <a:latin typeface="Aptos"/>
              </a:rPr>
              <a:t>Người</a:t>
            </a:r>
            <a:r>
              <a:rPr sz="1450" b="0" i="0" dirty="0">
                <a:solidFill>
                  <a:srgbClr val="1F2D3D"/>
                </a:solidFill>
                <a:latin typeface="Aptos"/>
              </a:rPr>
              <a:t> </a:t>
            </a:r>
            <a:r>
              <a:rPr sz="1450" b="0" i="0" dirty="0" err="1">
                <a:solidFill>
                  <a:srgbClr val="1F2D3D"/>
                </a:solidFill>
                <a:latin typeface="Aptos"/>
              </a:rPr>
              <a:t>chủ</a:t>
            </a:r>
            <a:r>
              <a:rPr sz="1450" b="0" i="0" dirty="0">
                <a:solidFill>
                  <a:srgbClr val="1F2D3D"/>
                </a:solidFill>
                <a:latin typeface="Aptos"/>
              </a:rPr>
              <a:t> </a:t>
            </a:r>
            <a:r>
              <a:rPr sz="1450" b="0" i="0" dirty="0" err="1">
                <a:solidFill>
                  <a:srgbClr val="1F2D3D"/>
                </a:solidFill>
                <a:latin typeface="Aptos"/>
              </a:rPr>
              <a:t>động</a:t>
            </a:r>
            <a:r>
              <a:rPr sz="1450" b="0" i="0" dirty="0">
                <a:solidFill>
                  <a:srgbClr val="1F2D3D"/>
                </a:solidFill>
                <a:latin typeface="Aptos"/>
              </a:rPr>
              <a:t> </a:t>
            </a:r>
            <a:r>
              <a:rPr sz="1450" b="0" i="0" dirty="0" err="1">
                <a:solidFill>
                  <a:srgbClr val="1F2D3D"/>
                </a:solidFill>
                <a:latin typeface="Aptos"/>
              </a:rPr>
              <a:t>hỏi</a:t>
            </a:r>
            <a:r>
              <a:rPr sz="1450" b="0" i="0" dirty="0">
                <a:solidFill>
                  <a:srgbClr val="1F2D3D"/>
                </a:solidFill>
                <a:latin typeface="Aptos"/>
              </a:rPr>
              <a:t> </a:t>
            </a:r>
            <a:r>
              <a:rPr sz="1450" b="0" i="0" dirty="0" err="1">
                <a:solidFill>
                  <a:srgbClr val="1F2D3D"/>
                </a:solidFill>
                <a:latin typeface="Aptos"/>
              </a:rPr>
              <a:t>thêm</a:t>
            </a:r>
            <a:r>
              <a:rPr sz="1450" b="0" i="0" dirty="0">
                <a:solidFill>
                  <a:srgbClr val="1F2D3D"/>
                </a:solidFill>
                <a:latin typeface="Aptos"/>
              </a:rPr>
              <a:t>.
• </a:t>
            </a:r>
            <a:r>
              <a:rPr sz="1450" b="0" i="0" dirty="0" err="1">
                <a:solidFill>
                  <a:srgbClr val="1F2D3D"/>
                </a:solidFill>
                <a:latin typeface="Aptos"/>
              </a:rPr>
              <a:t>Người</a:t>
            </a:r>
            <a:r>
              <a:rPr sz="1450" b="0" i="0" dirty="0">
                <a:solidFill>
                  <a:srgbClr val="1F2D3D"/>
                </a:solidFill>
                <a:latin typeface="Aptos"/>
              </a:rPr>
              <a:t> </a:t>
            </a:r>
            <a:r>
              <a:rPr sz="1450" b="0" i="0" dirty="0" err="1">
                <a:solidFill>
                  <a:srgbClr val="1F2D3D"/>
                </a:solidFill>
                <a:latin typeface="Aptos"/>
              </a:rPr>
              <a:t>lưu</a:t>
            </a:r>
            <a:r>
              <a:rPr sz="1450" b="0" i="0" dirty="0">
                <a:solidFill>
                  <a:srgbClr val="1F2D3D"/>
                </a:solidFill>
                <a:latin typeface="Aptos"/>
              </a:rPr>
              <a:t> / chia </a:t>
            </a:r>
            <a:r>
              <a:rPr sz="1450" b="0" i="0" dirty="0" err="1">
                <a:solidFill>
                  <a:srgbClr val="1F2D3D"/>
                </a:solidFill>
                <a:latin typeface="Aptos"/>
              </a:rPr>
              <a:t>sẻ</a:t>
            </a:r>
            <a:r>
              <a:rPr sz="1450" b="0" i="0" dirty="0">
                <a:solidFill>
                  <a:srgbClr val="1F2D3D"/>
                </a:solidFill>
                <a:latin typeface="Aptos"/>
              </a:rPr>
              <a:t> </a:t>
            </a:r>
            <a:r>
              <a:rPr sz="1450" b="0" i="0" dirty="0" err="1">
                <a:solidFill>
                  <a:srgbClr val="1F2D3D"/>
                </a:solidFill>
                <a:latin typeface="Aptos"/>
              </a:rPr>
              <a:t>nội</a:t>
            </a:r>
            <a:r>
              <a:rPr sz="1450" b="0" i="0" dirty="0">
                <a:solidFill>
                  <a:srgbClr val="1F2D3D"/>
                </a:solidFill>
                <a:latin typeface="Aptos"/>
              </a:rPr>
              <a:t> dung.
• </a:t>
            </a:r>
            <a:r>
              <a:rPr sz="1450" b="0" i="0" dirty="0" err="1">
                <a:solidFill>
                  <a:srgbClr val="1F2D3D"/>
                </a:solidFill>
                <a:latin typeface="Aptos"/>
              </a:rPr>
              <a:t>Người</a:t>
            </a:r>
            <a:r>
              <a:rPr sz="1450" b="0" i="0" dirty="0">
                <a:solidFill>
                  <a:srgbClr val="1F2D3D"/>
                </a:solidFill>
                <a:latin typeface="Aptos"/>
              </a:rPr>
              <a:t> </a:t>
            </a:r>
            <a:r>
              <a:rPr sz="1450" b="0" i="0" dirty="0" err="1">
                <a:solidFill>
                  <a:srgbClr val="1F2D3D"/>
                </a:solidFill>
                <a:latin typeface="Aptos"/>
              </a:rPr>
              <a:t>nhận</a:t>
            </a:r>
            <a:r>
              <a:rPr sz="1450" b="0" i="0" dirty="0">
                <a:solidFill>
                  <a:srgbClr val="1F2D3D"/>
                </a:solidFill>
                <a:latin typeface="Aptos"/>
              </a:rPr>
              <a:t> </a:t>
            </a:r>
            <a:r>
              <a:rPr sz="1450" b="0" i="0" dirty="0" err="1">
                <a:solidFill>
                  <a:srgbClr val="1F2D3D"/>
                </a:solidFill>
                <a:latin typeface="Aptos"/>
              </a:rPr>
              <a:t>tài</a:t>
            </a:r>
            <a:r>
              <a:rPr sz="1450" b="0" i="0" dirty="0">
                <a:solidFill>
                  <a:srgbClr val="1F2D3D"/>
                </a:solidFill>
                <a:latin typeface="Aptos"/>
              </a:rPr>
              <a:t> </a:t>
            </a:r>
            <a:r>
              <a:rPr sz="1450" b="0" i="0" dirty="0" err="1">
                <a:solidFill>
                  <a:srgbClr val="1F2D3D"/>
                </a:solidFill>
                <a:latin typeface="Aptos"/>
              </a:rPr>
              <a:t>nguyên</a:t>
            </a:r>
            <a:r>
              <a:rPr sz="1450" b="0" i="0" dirty="0">
                <a:solidFill>
                  <a:srgbClr val="1F2D3D"/>
                </a:solidFill>
                <a:latin typeface="Aptos"/>
              </a:rPr>
              <a:t>.
• </a:t>
            </a:r>
            <a:r>
              <a:rPr sz="1450" b="0" i="0" dirty="0" err="1">
                <a:solidFill>
                  <a:srgbClr val="1F2D3D"/>
                </a:solidFill>
                <a:latin typeface="Aptos"/>
              </a:rPr>
              <a:t>Người</a:t>
            </a:r>
            <a:r>
              <a:rPr sz="1450" b="0" i="0" dirty="0">
                <a:solidFill>
                  <a:srgbClr val="1F2D3D"/>
                </a:solidFill>
                <a:latin typeface="Aptos"/>
              </a:rPr>
              <a:t> </a:t>
            </a:r>
            <a:r>
              <a:rPr sz="1450" b="0" i="0" dirty="0" err="1">
                <a:solidFill>
                  <a:srgbClr val="1F2D3D"/>
                </a:solidFill>
                <a:latin typeface="Aptos"/>
              </a:rPr>
              <a:t>tham</a:t>
            </a:r>
            <a:r>
              <a:rPr sz="1450" b="0" i="0" dirty="0">
                <a:solidFill>
                  <a:srgbClr val="1F2D3D"/>
                </a:solidFill>
                <a:latin typeface="Aptos"/>
              </a:rPr>
              <a:t> </a:t>
            </a:r>
            <a:r>
              <a:rPr sz="1450" b="0" i="0" dirty="0" err="1">
                <a:solidFill>
                  <a:srgbClr val="1F2D3D"/>
                </a:solidFill>
                <a:latin typeface="Aptos"/>
              </a:rPr>
              <a:t>gia</a:t>
            </a:r>
            <a:r>
              <a:rPr sz="1450" b="0" i="0" dirty="0">
                <a:solidFill>
                  <a:srgbClr val="1F2D3D"/>
                </a:solidFill>
                <a:latin typeface="Aptos"/>
              </a:rPr>
              <a:t> </a:t>
            </a:r>
            <a:r>
              <a:rPr sz="1450" b="0" i="0" dirty="0" err="1">
                <a:solidFill>
                  <a:srgbClr val="1F2D3D"/>
                </a:solidFill>
                <a:latin typeface="Aptos"/>
              </a:rPr>
              <a:t>thử</a:t>
            </a:r>
            <a:r>
              <a:rPr sz="1450" b="0" i="0" dirty="0">
                <a:solidFill>
                  <a:srgbClr val="1F2D3D"/>
                </a:solidFill>
                <a:latin typeface="Aptos"/>
              </a:rPr>
              <a:t> </a:t>
            </a:r>
            <a:r>
              <a:rPr sz="1450" b="0" i="0" dirty="0" err="1">
                <a:solidFill>
                  <a:srgbClr val="1F2D3D"/>
                </a:solidFill>
                <a:latin typeface="Aptos"/>
              </a:rPr>
              <a:t>thách</a:t>
            </a:r>
            <a:r>
              <a:rPr sz="1450" b="0" i="0" dirty="0">
                <a:solidFill>
                  <a:srgbClr val="1F2D3D"/>
                </a:solidFill>
                <a:latin typeface="Aptos"/>
              </a:rPr>
              <a:t> / workshop.
</a:t>
            </a:r>
            <a:r>
              <a:rPr sz="1450" b="0" i="0" dirty="0" err="1">
                <a:solidFill>
                  <a:srgbClr val="1F2D3D"/>
                </a:solidFill>
                <a:latin typeface="Aptos"/>
              </a:rPr>
              <a:t>Đừng</a:t>
            </a:r>
            <a:r>
              <a:rPr sz="1450" b="0" i="0" dirty="0">
                <a:solidFill>
                  <a:srgbClr val="1F2D3D"/>
                </a:solidFill>
                <a:latin typeface="Aptos"/>
              </a:rPr>
              <a:t> </a:t>
            </a:r>
            <a:r>
              <a:rPr sz="1450" b="0" i="0" dirty="0" err="1">
                <a:solidFill>
                  <a:srgbClr val="1F2D3D"/>
                </a:solidFill>
                <a:latin typeface="Aptos"/>
              </a:rPr>
              <a:t>săn</a:t>
            </a:r>
            <a:r>
              <a:rPr sz="1450" b="0" i="0" dirty="0">
                <a:solidFill>
                  <a:srgbClr val="1F2D3D"/>
                </a:solidFill>
                <a:latin typeface="Aptos"/>
              </a:rPr>
              <a:t> </a:t>
            </a:r>
            <a:r>
              <a:rPr sz="1450" b="0" i="0" dirty="0" err="1">
                <a:solidFill>
                  <a:srgbClr val="1F2D3D"/>
                </a:solidFill>
                <a:latin typeface="Aptos"/>
              </a:rPr>
              <a:t>danh</a:t>
            </a:r>
            <a:r>
              <a:rPr sz="1450" b="0" i="0" dirty="0">
                <a:solidFill>
                  <a:srgbClr val="1F2D3D"/>
                </a:solidFill>
                <a:latin typeface="Aptos"/>
              </a:rPr>
              <a:t> </a:t>
            </a:r>
            <a:r>
              <a:rPr sz="1450" b="0" i="0" dirty="0" err="1">
                <a:solidFill>
                  <a:srgbClr val="1F2D3D"/>
                </a:solidFill>
                <a:latin typeface="Aptos"/>
              </a:rPr>
              <a:t>sách</a:t>
            </a:r>
            <a:r>
              <a:rPr sz="1450" b="0" i="0" dirty="0">
                <a:solidFill>
                  <a:srgbClr val="1F2D3D"/>
                </a:solidFill>
                <a:latin typeface="Aptos"/>
              </a:rPr>
              <a:t>. </a:t>
            </a:r>
            <a:r>
              <a:rPr sz="1450" b="0" i="0" dirty="0" err="1">
                <a:solidFill>
                  <a:srgbClr val="1F2D3D"/>
                </a:solidFill>
                <a:latin typeface="Aptos"/>
              </a:rPr>
              <a:t>Hãy</a:t>
            </a:r>
            <a:r>
              <a:rPr sz="1450" b="0" i="0" dirty="0">
                <a:solidFill>
                  <a:srgbClr val="1F2D3D"/>
                </a:solidFill>
                <a:latin typeface="Aptos"/>
              </a:rPr>
              <a:t> </a:t>
            </a:r>
            <a:r>
              <a:rPr sz="1450" b="0" i="0" dirty="0" err="1">
                <a:solidFill>
                  <a:srgbClr val="1F2D3D"/>
                </a:solidFill>
                <a:latin typeface="Aptos"/>
              </a:rPr>
              <a:t>đi</a:t>
            </a:r>
            <a:r>
              <a:rPr sz="1450" b="0" i="0" dirty="0">
                <a:solidFill>
                  <a:srgbClr val="1F2D3D"/>
                </a:solidFill>
                <a:latin typeface="Aptos"/>
              </a:rPr>
              <a:t> </a:t>
            </a:r>
            <a:r>
              <a:rPr sz="1450" b="0" i="0" dirty="0" err="1">
                <a:solidFill>
                  <a:srgbClr val="1F2D3D"/>
                </a:solidFill>
                <a:latin typeface="Aptos"/>
              </a:rPr>
              <a:t>tìm</a:t>
            </a:r>
            <a:r>
              <a:rPr sz="1450" b="0" i="0" dirty="0">
                <a:solidFill>
                  <a:srgbClr val="1F2D3D"/>
                </a:solidFill>
                <a:latin typeface="Aptos"/>
              </a:rPr>
              <a:t> </a:t>
            </a:r>
            <a:r>
              <a:rPr sz="1450" b="0" i="0" dirty="0" err="1">
                <a:solidFill>
                  <a:srgbClr val="1F2D3D"/>
                </a:solidFill>
                <a:latin typeface="Aptos"/>
              </a:rPr>
              <a:t>nơi</a:t>
            </a:r>
            <a:r>
              <a:rPr sz="1450" b="0" i="0" dirty="0">
                <a:solidFill>
                  <a:srgbClr val="1F2D3D"/>
                </a:solidFill>
                <a:latin typeface="Aptos"/>
              </a:rPr>
              <a:t> </a:t>
            </a:r>
            <a:r>
              <a:rPr sz="1450" b="0" i="0" dirty="0" err="1">
                <a:solidFill>
                  <a:srgbClr val="1F2D3D"/>
                </a:solidFill>
                <a:latin typeface="Aptos"/>
              </a:rPr>
              <a:t>nhu</a:t>
            </a:r>
            <a:r>
              <a:rPr sz="1450" b="0" i="0" dirty="0">
                <a:solidFill>
                  <a:srgbClr val="1F2D3D"/>
                </a:solidFill>
                <a:latin typeface="Aptos"/>
              </a:rPr>
              <a:t> </a:t>
            </a:r>
            <a:r>
              <a:rPr sz="1450" b="0" i="0" dirty="0" err="1">
                <a:solidFill>
                  <a:srgbClr val="1F2D3D"/>
                </a:solidFill>
                <a:latin typeface="Aptos"/>
              </a:rPr>
              <a:t>cầu</a:t>
            </a:r>
            <a:r>
              <a:rPr sz="1450" b="0" i="0" dirty="0">
                <a:solidFill>
                  <a:srgbClr val="1F2D3D"/>
                </a:solidFill>
                <a:latin typeface="Aptos"/>
              </a:rPr>
              <a:t> </a:t>
            </a:r>
            <a:r>
              <a:rPr sz="1450" b="0" i="0" dirty="0" err="1">
                <a:solidFill>
                  <a:srgbClr val="1F2D3D"/>
                </a:solidFill>
                <a:latin typeface="Aptos"/>
              </a:rPr>
              <a:t>đang</a:t>
            </a:r>
            <a:r>
              <a:rPr sz="1450" b="0" i="0" dirty="0">
                <a:solidFill>
                  <a:srgbClr val="1F2D3D"/>
                </a:solidFill>
                <a:latin typeface="Aptos"/>
              </a:rPr>
              <a:t> </a:t>
            </a:r>
            <a:r>
              <a:rPr sz="1450" b="0" i="0" dirty="0" err="1">
                <a:solidFill>
                  <a:srgbClr val="1F2D3D"/>
                </a:solidFill>
                <a:latin typeface="Aptos"/>
              </a:rPr>
              <a:t>tồn</a:t>
            </a:r>
            <a:r>
              <a:rPr sz="1450" b="0" i="0" dirty="0">
                <a:solidFill>
                  <a:srgbClr val="1F2D3D"/>
                </a:solidFill>
                <a:latin typeface="Aptos"/>
              </a:rPr>
              <a:t> </a:t>
            </a:r>
            <a:r>
              <a:rPr sz="1450" b="0" i="0" dirty="0" err="1">
                <a:solidFill>
                  <a:srgbClr val="1F2D3D"/>
                </a:solidFill>
                <a:latin typeface="Aptos"/>
              </a:rPr>
              <a:t>tại</a:t>
            </a:r>
            <a:r>
              <a:rPr sz="1450" b="0" i="0" dirty="0">
                <a:solidFill>
                  <a:srgbClr val="1F2D3D"/>
                </a:solidFill>
                <a:latin typeface="Aptos"/>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4048"/>
            <a:ext cx="2560320" cy="256032"/>
          </a:xfrm>
          <a:prstGeom prst="rect">
            <a:avLst/>
          </a:prstGeom>
          <a:noFill/>
        </p:spPr>
        <p:txBody>
          <a:bodyPr wrap="square" lIns="18288" tIns="18288" rIns="18288" bIns="18288" anchor="t">
            <a:spAutoFit/>
          </a:bodyPr>
          <a:lstStyle/>
          <a:p>
            <a:pPr algn="l"/>
            <a:r>
              <a:rPr sz="1000" b="1">
                <a:solidFill>
                  <a:srgbClr val="D6AE30"/>
                </a:solidFill>
                <a:latin typeface="Aptos"/>
              </a:rPr>
              <a:t>CHUYỂN ĐỔI</a:t>
            </a:r>
          </a:p>
        </p:txBody>
      </p:sp>
      <p:sp>
        <p:nvSpPr>
          <p:cNvPr id="3" name="TextBox 2"/>
          <p:cNvSpPr txBox="1"/>
          <p:nvPr/>
        </p:nvSpPr>
        <p:spPr>
          <a:xfrm>
            <a:off x="685800" y="713232"/>
            <a:ext cx="10789920" cy="640080"/>
          </a:xfrm>
          <a:prstGeom prst="rect">
            <a:avLst/>
          </a:prstGeom>
          <a:noFill/>
        </p:spPr>
        <p:txBody>
          <a:bodyPr wrap="square" lIns="18288" tIns="18288" rIns="18288" bIns="18288" anchor="t">
            <a:spAutoFit/>
          </a:bodyPr>
          <a:lstStyle/>
          <a:p>
            <a:pPr algn="l"/>
            <a:r>
              <a:rPr sz="3000" b="1">
                <a:solidFill>
                  <a:srgbClr val="124673"/>
                </a:solidFill>
                <a:latin typeface="Aptos"/>
              </a:rPr>
              <a:t>Từ lượt xem → người quan tâm</a:t>
            </a:r>
          </a:p>
        </p:txBody>
      </p:sp>
      <p:sp>
        <p:nvSpPr>
          <p:cNvPr id="4" name="Rectangle 3"/>
          <p:cNvSpPr/>
          <p:nvPr/>
        </p:nvSpPr>
        <p:spPr>
          <a:xfrm>
            <a:off x="685800" y="1417320"/>
            <a:ext cx="731520" cy="54864"/>
          </a:xfrm>
          <a:prstGeom prst="rect">
            <a:avLst/>
          </a:prstGeom>
          <a:solidFill>
            <a:srgbClr val="D6AE30"/>
          </a:solidFill>
          <a:ln>
            <a:solidFill>
              <a:srgbClr val="D6A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27632"/>
            <a:ext cx="10607040" cy="530352"/>
          </a:xfrm>
          <a:prstGeom prst="rect">
            <a:avLst/>
          </a:prstGeom>
          <a:noFill/>
        </p:spPr>
        <p:txBody>
          <a:bodyPr wrap="square" lIns="18288" tIns="18288" rIns="18288" bIns="18288" anchor="t">
            <a:spAutoFit/>
          </a:bodyPr>
          <a:lstStyle/>
          <a:p>
            <a:pPr algn="l"/>
            <a:r>
              <a:rPr sz="1600" b="0" dirty="0" err="1">
                <a:solidFill>
                  <a:srgbClr val="5B6876"/>
                </a:solidFill>
                <a:latin typeface="Aptos"/>
              </a:rPr>
              <a:t>Mục</a:t>
            </a:r>
            <a:r>
              <a:rPr sz="1600" b="0" dirty="0">
                <a:solidFill>
                  <a:srgbClr val="5B6876"/>
                </a:solidFill>
                <a:latin typeface="Aptos"/>
              </a:rPr>
              <a:t> </a:t>
            </a:r>
            <a:r>
              <a:rPr sz="1600" b="0" dirty="0" err="1">
                <a:solidFill>
                  <a:srgbClr val="5B6876"/>
                </a:solidFill>
                <a:latin typeface="Aptos"/>
              </a:rPr>
              <a:t>tiêu</a:t>
            </a:r>
            <a:r>
              <a:rPr sz="1600" b="0" dirty="0">
                <a:solidFill>
                  <a:srgbClr val="5B6876"/>
                </a:solidFill>
                <a:latin typeface="Aptos"/>
              </a:rPr>
              <a:t> </a:t>
            </a:r>
            <a:r>
              <a:rPr sz="1600" b="0" dirty="0" err="1">
                <a:solidFill>
                  <a:srgbClr val="5B6876"/>
                </a:solidFill>
                <a:latin typeface="Aptos"/>
              </a:rPr>
              <a:t>đầu</a:t>
            </a:r>
            <a:r>
              <a:rPr sz="1600" b="0" dirty="0">
                <a:solidFill>
                  <a:srgbClr val="5B6876"/>
                </a:solidFill>
                <a:latin typeface="Aptos"/>
              </a:rPr>
              <a:t> </a:t>
            </a:r>
            <a:r>
              <a:rPr sz="1600" b="0" dirty="0" err="1">
                <a:solidFill>
                  <a:srgbClr val="5B6876"/>
                </a:solidFill>
                <a:latin typeface="Aptos"/>
              </a:rPr>
              <a:t>tiên</a:t>
            </a:r>
            <a:r>
              <a:rPr sz="1600" b="0" dirty="0">
                <a:solidFill>
                  <a:srgbClr val="5B6876"/>
                </a:solidFill>
                <a:latin typeface="Aptos"/>
              </a:rPr>
              <a:t> </a:t>
            </a:r>
            <a:r>
              <a:rPr sz="1600" b="0" dirty="0" err="1">
                <a:solidFill>
                  <a:srgbClr val="5B6876"/>
                </a:solidFill>
                <a:latin typeface="Aptos"/>
              </a:rPr>
              <a:t>là</a:t>
            </a:r>
            <a:r>
              <a:rPr sz="1600" b="0" dirty="0">
                <a:solidFill>
                  <a:srgbClr val="5B6876"/>
                </a:solidFill>
                <a:latin typeface="Aptos"/>
              </a:rPr>
              <a:t> </a:t>
            </a:r>
            <a:r>
              <a:rPr sz="1600" b="0" dirty="0" err="1">
                <a:solidFill>
                  <a:srgbClr val="5B6876"/>
                </a:solidFill>
                <a:latin typeface="Aptos"/>
              </a:rPr>
              <a:t>tạo</a:t>
            </a:r>
            <a:r>
              <a:rPr sz="1600" b="0" dirty="0">
                <a:solidFill>
                  <a:srgbClr val="5B6876"/>
                </a:solidFill>
                <a:latin typeface="Aptos"/>
              </a:rPr>
              <a:t> </a:t>
            </a:r>
            <a:r>
              <a:rPr sz="1600" b="0" dirty="0" err="1">
                <a:solidFill>
                  <a:srgbClr val="5B6876"/>
                </a:solidFill>
                <a:latin typeface="Aptos"/>
              </a:rPr>
              <a:t>một</a:t>
            </a:r>
            <a:r>
              <a:rPr sz="1600" b="0" dirty="0">
                <a:solidFill>
                  <a:srgbClr val="5B6876"/>
                </a:solidFill>
                <a:latin typeface="Aptos"/>
              </a:rPr>
              <a:t> </a:t>
            </a:r>
            <a:r>
              <a:rPr sz="1600" b="0" dirty="0" err="1">
                <a:solidFill>
                  <a:srgbClr val="5B6876"/>
                </a:solidFill>
                <a:latin typeface="Aptos"/>
              </a:rPr>
              <a:t>bước</a:t>
            </a:r>
            <a:r>
              <a:rPr sz="1600" b="0" dirty="0">
                <a:solidFill>
                  <a:srgbClr val="5B6876"/>
                </a:solidFill>
                <a:latin typeface="Aptos"/>
              </a:rPr>
              <a:t> </a:t>
            </a:r>
            <a:r>
              <a:rPr sz="1600" b="0" dirty="0" err="1">
                <a:solidFill>
                  <a:srgbClr val="5B6876"/>
                </a:solidFill>
                <a:latin typeface="Aptos"/>
              </a:rPr>
              <a:t>tiếp</a:t>
            </a:r>
            <a:r>
              <a:rPr sz="1600" b="0" dirty="0">
                <a:solidFill>
                  <a:srgbClr val="5B6876"/>
                </a:solidFill>
                <a:latin typeface="Aptos"/>
              </a:rPr>
              <a:t> </a:t>
            </a:r>
            <a:r>
              <a:rPr sz="1600" b="0" dirty="0" err="1">
                <a:solidFill>
                  <a:srgbClr val="5B6876"/>
                </a:solidFill>
                <a:latin typeface="Aptos"/>
              </a:rPr>
              <a:t>theo</a:t>
            </a:r>
            <a:r>
              <a:rPr sz="1600" b="0" dirty="0">
                <a:solidFill>
                  <a:srgbClr val="5B6876"/>
                </a:solidFill>
                <a:latin typeface="Aptos"/>
              </a:rPr>
              <a:t> </a:t>
            </a:r>
            <a:r>
              <a:rPr sz="1600" b="0" dirty="0" err="1">
                <a:solidFill>
                  <a:srgbClr val="5B6876"/>
                </a:solidFill>
                <a:latin typeface="Aptos"/>
              </a:rPr>
              <a:t>tự</a:t>
            </a:r>
            <a:r>
              <a:rPr sz="1600" b="0" dirty="0">
                <a:solidFill>
                  <a:srgbClr val="5B6876"/>
                </a:solidFill>
                <a:latin typeface="Aptos"/>
              </a:rPr>
              <a:t> </a:t>
            </a:r>
            <a:r>
              <a:rPr sz="1600" b="0" dirty="0" err="1">
                <a:solidFill>
                  <a:srgbClr val="5B6876"/>
                </a:solidFill>
                <a:latin typeface="Aptos"/>
              </a:rPr>
              <a:t>nguyện</a:t>
            </a:r>
            <a:r>
              <a:rPr sz="1600" b="0" dirty="0">
                <a:solidFill>
                  <a:srgbClr val="5B6876"/>
                </a:solidFill>
                <a:latin typeface="Aptos"/>
              </a:rPr>
              <a:t>.</a:t>
            </a:r>
          </a:p>
        </p:txBody>
      </p:sp>
      <p:sp>
        <p:nvSpPr>
          <p:cNvPr id="6" name="TextBox 5"/>
          <p:cNvSpPr txBox="1"/>
          <p:nvPr/>
        </p:nvSpPr>
        <p:spPr>
          <a:xfrm>
            <a:off x="640080" y="6519672"/>
            <a:ext cx="6217920" cy="182880"/>
          </a:xfrm>
          <a:prstGeom prst="rect">
            <a:avLst/>
          </a:prstGeom>
          <a:noFill/>
        </p:spPr>
        <p:txBody>
          <a:bodyPr wrap="square" lIns="18288" tIns="18288" rIns="18288" bIns="18288" anchor="t">
            <a:spAutoFit/>
          </a:bodyPr>
          <a:lstStyle/>
          <a:p>
            <a:pPr algn="l"/>
            <a:r>
              <a:rPr sz="800" b="0">
                <a:solidFill>
                  <a:srgbClr val="5B6876"/>
                </a:solidFill>
                <a:latin typeface="Aptos"/>
              </a:rPr>
              <a:t>HÚT ỨNG VIÊN TỪ XÂY KÊNH  •  ĐÀO TẠO THỰC CHIẾN</a:t>
            </a:r>
          </a:p>
        </p:txBody>
      </p:sp>
      <p:sp>
        <p:nvSpPr>
          <p:cNvPr id="7" name="TextBox 6"/>
          <p:cNvSpPr txBox="1"/>
          <p:nvPr/>
        </p:nvSpPr>
        <p:spPr>
          <a:xfrm>
            <a:off x="11109960" y="6492240"/>
            <a:ext cx="411480" cy="201168"/>
          </a:xfrm>
          <a:prstGeom prst="rect">
            <a:avLst/>
          </a:prstGeom>
          <a:noFill/>
        </p:spPr>
        <p:txBody>
          <a:bodyPr wrap="square" lIns="18288" tIns="18288" rIns="18288" bIns="18288" anchor="t">
            <a:spAutoFit/>
          </a:bodyPr>
          <a:lstStyle/>
          <a:p>
            <a:pPr algn="r"/>
            <a:r>
              <a:rPr sz="900" b="1">
                <a:solidFill>
                  <a:srgbClr val="5B6876"/>
                </a:solidFill>
                <a:latin typeface="Aptos"/>
              </a:rPr>
              <a:t>22</a:t>
            </a:r>
          </a:p>
        </p:txBody>
      </p:sp>
      <p:sp>
        <p:nvSpPr>
          <p:cNvPr id="8" name="Rounded Rectangle 7"/>
          <p:cNvSpPr/>
          <p:nvPr/>
        </p:nvSpPr>
        <p:spPr>
          <a:xfrm>
            <a:off x="685800" y="1965960"/>
            <a:ext cx="10817352" cy="3520440"/>
          </a:xfrm>
          <a:prstGeom prst="roundRect">
            <a:avLst>
              <a:gd name="adj" fmla="val 8000"/>
            </a:avLst>
          </a:prstGeom>
          <a:solidFill>
            <a:srgbClr val="EBF4FC"/>
          </a:solidFill>
          <a:ln>
            <a:solidFill>
              <a:srgbClr val="EBF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67712"/>
            <a:ext cx="1828800" cy="292608"/>
          </a:xfrm>
          <a:prstGeom prst="rect">
            <a:avLst/>
          </a:prstGeom>
          <a:noFill/>
        </p:spPr>
        <p:txBody>
          <a:bodyPr wrap="square" lIns="18288" tIns="18288" rIns="18288" bIns="18288" anchor="t">
            <a:spAutoFit/>
          </a:bodyPr>
          <a:lstStyle/>
          <a:p>
            <a:pPr algn="l"/>
            <a:r>
              <a:rPr sz="1300" b="1">
                <a:solidFill>
                  <a:srgbClr val="D6AE30"/>
                </a:solidFill>
                <a:latin typeface="Aptos"/>
              </a:rPr>
              <a:t>NỘI DUNG</a:t>
            </a:r>
          </a:p>
        </p:txBody>
      </p:sp>
      <p:sp>
        <p:nvSpPr>
          <p:cNvPr id="10" name="TextBox 9"/>
          <p:cNvSpPr txBox="1"/>
          <p:nvPr/>
        </p:nvSpPr>
        <p:spPr>
          <a:xfrm>
            <a:off x="2788920" y="2240280"/>
            <a:ext cx="8046720" cy="347472"/>
          </a:xfrm>
          <a:prstGeom prst="rect">
            <a:avLst/>
          </a:prstGeom>
          <a:noFill/>
        </p:spPr>
        <p:txBody>
          <a:bodyPr wrap="square" lIns="18288" tIns="18288" rIns="18288" bIns="18288" anchor="t">
            <a:spAutoFit/>
          </a:bodyPr>
          <a:lstStyle/>
          <a:p>
            <a:pPr algn="l"/>
            <a:r>
              <a:rPr lang="en-US" sz="1600" b="0" dirty="0" err="1">
                <a:solidFill>
                  <a:srgbClr val="1E2A37"/>
                </a:solidFill>
                <a:latin typeface="Aptos"/>
              </a:rPr>
              <a:t>Chạm</a:t>
            </a:r>
            <a:r>
              <a:rPr lang="en-US" sz="1600" b="0" dirty="0">
                <a:solidFill>
                  <a:srgbClr val="1E2A37"/>
                </a:solidFill>
                <a:latin typeface="Aptos"/>
              </a:rPr>
              <a:t> </a:t>
            </a:r>
            <a:r>
              <a:rPr lang="en-US" sz="1600" b="0" dirty="0" err="1">
                <a:solidFill>
                  <a:srgbClr val="1E2A37"/>
                </a:solidFill>
                <a:latin typeface="Aptos"/>
              </a:rPr>
              <a:t>vấn</a:t>
            </a:r>
            <a:r>
              <a:rPr lang="en-US" sz="1600" b="0" dirty="0">
                <a:solidFill>
                  <a:srgbClr val="1E2A37"/>
                </a:solidFill>
                <a:latin typeface="Aptos"/>
              </a:rPr>
              <a:t> </a:t>
            </a:r>
            <a:r>
              <a:rPr lang="en-US" sz="1600" b="0" dirty="0" err="1">
                <a:solidFill>
                  <a:srgbClr val="1E2A37"/>
                </a:solidFill>
                <a:latin typeface="Aptos"/>
              </a:rPr>
              <a:t>đề</a:t>
            </a:r>
            <a:r>
              <a:rPr lang="en-US" sz="1600" b="0" dirty="0">
                <a:solidFill>
                  <a:srgbClr val="1E2A37"/>
                </a:solidFill>
                <a:latin typeface="Aptos"/>
              </a:rPr>
              <a:t> + </a:t>
            </a:r>
            <a:r>
              <a:rPr lang="en-US" sz="1600" b="0" dirty="0" err="1">
                <a:solidFill>
                  <a:srgbClr val="1E2A37"/>
                </a:solidFill>
                <a:latin typeface="Aptos"/>
              </a:rPr>
              <a:t>tạo</a:t>
            </a:r>
            <a:r>
              <a:rPr lang="en-US" sz="1600" b="0" dirty="0">
                <a:solidFill>
                  <a:srgbClr val="1E2A37"/>
                </a:solidFill>
                <a:latin typeface="Aptos"/>
              </a:rPr>
              <a:t> </a:t>
            </a:r>
            <a:r>
              <a:rPr lang="en-US" sz="1600" b="0" dirty="0" err="1">
                <a:solidFill>
                  <a:srgbClr val="1E2A37"/>
                </a:solidFill>
                <a:latin typeface="Aptos"/>
              </a:rPr>
              <a:t>giá</a:t>
            </a:r>
            <a:r>
              <a:rPr lang="en-US" sz="1600" b="0" dirty="0">
                <a:solidFill>
                  <a:srgbClr val="1E2A37"/>
                </a:solidFill>
                <a:latin typeface="Aptos"/>
              </a:rPr>
              <a:t> </a:t>
            </a:r>
            <a:r>
              <a:rPr lang="en-US" sz="1600" b="0" dirty="0" err="1">
                <a:solidFill>
                  <a:srgbClr val="1E2A37"/>
                </a:solidFill>
                <a:latin typeface="Aptos"/>
              </a:rPr>
              <a:t>trị</a:t>
            </a:r>
            <a:endParaRPr lang="en-US" sz="1600" b="0" dirty="0">
              <a:solidFill>
                <a:srgbClr val="1E2A37"/>
              </a:solidFill>
              <a:latin typeface="Aptos"/>
            </a:endParaRPr>
          </a:p>
        </p:txBody>
      </p:sp>
      <p:sp>
        <p:nvSpPr>
          <p:cNvPr id="11" name="TextBox 10"/>
          <p:cNvSpPr txBox="1"/>
          <p:nvPr/>
        </p:nvSpPr>
        <p:spPr>
          <a:xfrm>
            <a:off x="960120" y="2852928"/>
            <a:ext cx="1828800" cy="292608"/>
          </a:xfrm>
          <a:prstGeom prst="rect">
            <a:avLst/>
          </a:prstGeom>
          <a:noFill/>
        </p:spPr>
        <p:txBody>
          <a:bodyPr wrap="square" lIns="18288" tIns="18288" rIns="18288" bIns="18288" anchor="t">
            <a:spAutoFit/>
          </a:bodyPr>
          <a:lstStyle/>
          <a:p>
            <a:pPr algn="l"/>
            <a:r>
              <a:rPr sz="1300" b="1">
                <a:solidFill>
                  <a:srgbClr val="D6AE30"/>
                </a:solidFill>
                <a:latin typeface="Aptos"/>
              </a:rPr>
              <a:t>CTA</a:t>
            </a:r>
          </a:p>
        </p:txBody>
      </p:sp>
      <p:sp>
        <p:nvSpPr>
          <p:cNvPr id="13" name="TextBox 12"/>
          <p:cNvSpPr txBox="1"/>
          <p:nvPr/>
        </p:nvSpPr>
        <p:spPr>
          <a:xfrm>
            <a:off x="960120" y="3438144"/>
            <a:ext cx="1828800" cy="292608"/>
          </a:xfrm>
          <a:prstGeom prst="rect">
            <a:avLst/>
          </a:prstGeom>
          <a:noFill/>
        </p:spPr>
        <p:txBody>
          <a:bodyPr wrap="square" lIns="18288" tIns="18288" rIns="18288" bIns="18288" anchor="t">
            <a:spAutoFit/>
          </a:bodyPr>
          <a:lstStyle/>
          <a:p>
            <a:pPr algn="l"/>
            <a:r>
              <a:rPr sz="1300" b="1">
                <a:solidFill>
                  <a:srgbClr val="D6AE30"/>
                </a:solidFill>
                <a:latin typeface="Aptos"/>
              </a:rPr>
              <a:t>TÀI NGUYÊN</a:t>
            </a:r>
          </a:p>
        </p:txBody>
      </p:sp>
      <p:sp>
        <p:nvSpPr>
          <p:cNvPr id="17" name="TextBox 16"/>
          <p:cNvSpPr txBox="1"/>
          <p:nvPr/>
        </p:nvSpPr>
        <p:spPr>
          <a:xfrm>
            <a:off x="960120" y="4608576"/>
            <a:ext cx="1828800" cy="292608"/>
          </a:xfrm>
          <a:prstGeom prst="rect">
            <a:avLst/>
          </a:prstGeom>
          <a:noFill/>
        </p:spPr>
        <p:txBody>
          <a:bodyPr wrap="square" lIns="18288" tIns="18288" rIns="18288" bIns="18288" anchor="t">
            <a:spAutoFit/>
          </a:bodyPr>
          <a:lstStyle/>
          <a:p>
            <a:pPr algn="l"/>
            <a:r>
              <a:rPr sz="1300" b="1" dirty="0">
                <a:solidFill>
                  <a:srgbClr val="D6AE30"/>
                </a:solidFill>
                <a:latin typeface="Aptos"/>
              </a:rPr>
              <a:t>TRAO ĐỔI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PHỄU</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Từ lượt xem → ứng viên tiềm năng</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19</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594360" y="1645920"/>
            <a:ext cx="1722120"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 y="1764792"/>
            <a:ext cx="1648968" cy="475488"/>
          </a:xfrm>
          <a:prstGeom prst="rect">
            <a:avLst/>
          </a:prstGeom>
          <a:noFill/>
        </p:spPr>
        <p:txBody>
          <a:bodyPr wrap="square" lIns="18288" tIns="18288" rIns="18288" bIns="18288">
            <a:normAutofit/>
          </a:bodyPr>
          <a:lstStyle/>
          <a:p>
            <a:pPr algn="ctr"/>
            <a:r>
              <a:rPr sz="1120" b="1" i="0">
                <a:solidFill>
                  <a:srgbClr val="FFFFFF"/>
                </a:solidFill>
                <a:latin typeface="Aptos"/>
              </a:rPr>
              <a:t>XEM</a:t>
            </a:r>
          </a:p>
        </p:txBody>
      </p:sp>
      <p:sp>
        <p:nvSpPr>
          <p:cNvPr id="12" name="Rounded Rectangle 11"/>
          <p:cNvSpPr/>
          <p:nvPr/>
        </p:nvSpPr>
        <p:spPr>
          <a:xfrm>
            <a:off x="2444496" y="1645920"/>
            <a:ext cx="172212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81072" y="1764792"/>
            <a:ext cx="1648968" cy="475488"/>
          </a:xfrm>
          <a:prstGeom prst="rect">
            <a:avLst/>
          </a:prstGeom>
          <a:noFill/>
        </p:spPr>
        <p:txBody>
          <a:bodyPr wrap="square" lIns="18288" tIns="18288" rIns="18288" bIns="18288">
            <a:normAutofit/>
          </a:bodyPr>
          <a:lstStyle/>
          <a:p>
            <a:pPr algn="ctr"/>
            <a:r>
              <a:rPr sz="1120" b="1" i="0">
                <a:solidFill>
                  <a:srgbClr val="08182B"/>
                </a:solidFill>
                <a:latin typeface="Aptos"/>
              </a:rPr>
              <a:t>QUAN TÂM</a:t>
            </a:r>
          </a:p>
        </p:txBody>
      </p:sp>
      <p:sp>
        <p:nvSpPr>
          <p:cNvPr id="14" name="Rounded Rectangle 13"/>
          <p:cNvSpPr/>
          <p:nvPr/>
        </p:nvSpPr>
        <p:spPr>
          <a:xfrm>
            <a:off x="4294632" y="1645920"/>
            <a:ext cx="172212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31208" y="1764792"/>
            <a:ext cx="1648968" cy="475488"/>
          </a:xfrm>
          <a:prstGeom prst="rect">
            <a:avLst/>
          </a:prstGeom>
          <a:noFill/>
        </p:spPr>
        <p:txBody>
          <a:bodyPr wrap="square" lIns="18288" tIns="18288" rIns="18288" bIns="18288">
            <a:normAutofit/>
          </a:bodyPr>
          <a:lstStyle/>
          <a:p>
            <a:pPr algn="ctr"/>
            <a:r>
              <a:rPr sz="1120" b="1" i="0">
                <a:solidFill>
                  <a:srgbClr val="08182B"/>
                </a:solidFill>
                <a:latin typeface="Aptos"/>
              </a:rPr>
              <a:t>BƯỚC VÀO</a:t>
            </a:r>
          </a:p>
        </p:txBody>
      </p:sp>
      <p:sp>
        <p:nvSpPr>
          <p:cNvPr id="16" name="Rounded Rectangle 15"/>
          <p:cNvSpPr/>
          <p:nvPr/>
        </p:nvSpPr>
        <p:spPr>
          <a:xfrm>
            <a:off x="6144768" y="1645920"/>
            <a:ext cx="172212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81344" y="1764792"/>
            <a:ext cx="1648968" cy="475488"/>
          </a:xfrm>
          <a:prstGeom prst="rect">
            <a:avLst/>
          </a:prstGeom>
          <a:noFill/>
        </p:spPr>
        <p:txBody>
          <a:bodyPr wrap="square" lIns="18288" tIns="18288" rIns="18288" bIns="18288">
            <a:normAutofit/>
          </a:bodyPr>
          <a:lstStyle/>
          <a:p>
            <a:pPr algn="ctr"/>
            <a:r>
              <a:rPr sz="1120" b="1" i="0">
                <a:solidFill>
                  <a:srgbClr val="08182B"/>
                </a:solidFill>
                <a:latin typeface="Aptos"/>
              </a:rPr>
              <a:t>TRẢI NGHIỆM</a:t>
            </a:r>
          </a:p>
        </p:txBody>
      </p:sp>
      <p:sp>
        <p:nvSpPr>
          <p:cNvPr id="18" name="Rounded Rectangle 17"/>
          <p:cNvSpPr/>
          <p:nvPr/>
        </p:nvSpPr>
        <p:spPr>
          <a:xfrm>
            <a:off x="7994904" y="1645920"/>
            <a:ext cx="172212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31480" y="1764792"/>
            <a:ext cx="1648968" cy="475488"/>
          </a:xfrm>
          <a:prstGeom prst="rect">
            <a:avLst/>
          </a:prstGeom>
          <a:noFill/>
        </p:spPr>
        <p:txBody>
          <a:bodyPr wrap="square" lIns="18288" tIns="18288" rIns="18288" bIns="18288">
            <a:normAutofit/>
          </a:bodyPr>
          <a:lstStyle/>
          <a:p>
            <a:pPr algn="ctr"/>
            <a:r>
              <a:rPr sz="1120" b="1" i="0">
                <a:solidFill>
                  <a:srgbClr val="08182B"/>
                </a:solidFill>
                <a:latin typeface="Aptos"/>
              </a:rPr>
              <a:t>TÌM HIỂU</a:t>
            </a:r>
          </a:p>
        </p:txBody>
      </p:sp>
      <p:sp>
        <p:nvSpPr>
          <p:cNvPr id="20" name="Rounded Rectangle 19"/>
          <p:cNvSpPr/>
          <p:nvPr/>
        </p:nvSpPr>
        <p:spPr>
          <a:xfrm>
            <a:off x="9845040" y="1645920"/>
            <a:ext cx="1722120"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81616" y="1764792"/>
            <a:ext cx="1648968" cy="475488"/>
          </a:xfrm>
          <a:prstGeom prst="rect">
            <a:avLst/>
          </a:prstGeom>
          <a:noFill/>
        </p:spPr>
        <p:txBody>
          <a:bodyPr wrap="square" lIns="18288" tIns="18288" rIns="18288" bIns="18288">
            <a:normAutofit/>
          </a:bodyPr>
          <a:lstStyle/>
          <a:p>
            <a:pPr algn="ctr"/>
            <a:r>
              <a:rPr sz="1120" b="1" i="0">
                <a:solidFill>
                  <a:srgbClr val="FFFFFF"/>
                </a:solidFill>
                <a:latin typeface="Aptos"/>
              </a:rPr>
              <a:t>LỰA CHỌN</a:t>
            </a:r>
          </a:p>
        </p:txBody>
      </p:sp>
      <p:sp>
        <p:nvSpPr>
          <p:cNvPr id="22" name="TextBox 21"/>
          <p:cNvSpPr txBox="1"/>
          <p:nvPr/>
        </p:nvSpPr>
        <p:spPr>
          <a:xfrm>
            <a:off x="640080"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XEM</a:t>
            </a:r>
          </a:p>
        </p:txBody>
      </p:sp>
      <p:sp>
        <p:nvSpPr>
          <p:cNvPr id="23" name="TextBox 22"/>
          <p:cNvSpPr txBox="1"/>
          <p:nvPr/>
        </p:nvSpPr>
        <p:spPr>
          <a:xfrm>
            <a:off x="640080"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Video / bài viết</a:t>
            </a:r>
          </a:p>
        </p:txBody>
      </p:sp>
      <p:sp>
        <p:nvSpPr>
          <p:cNvPr id="24" name="TextBox 23"/>
          <p:cNvSpPr txBox="1"/>
          <p:nvPr/>
        </p:nvSpPr>
        <p:spPr>
          <a:xfrm>
            <a:off x="2514600"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QUAN TÂM</a:t>
            </a:r>
          </a:p>
        </p:txBody>
      </p:sp>
      <p:sp>
        <p:nvSpPr>
          <p:cNvPr id="25" name="TextBox 24"/>
          <p:cNvSpPr txBox="1"/>
          <p:nvPr/>
        </p:nvSpPr>
        <p:spPr>
          <a:xfrm>
            <a:off x="2514600"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Theo dõi / bình luận</a:t>
            </a:r>
          </a:p>
        </p:txBody>
      </p:sp>
      <p:sp>
        <p:nvSpPr>
          <p:cNvPr id="26" name="TextBox 25"/>
          <p:cNvSpPr txBox="1"/>
          <p:nvPr/>
        </p:nvSpPr>
        <p:spPr>
          <a:xfrm>
            <a:off x="4389120"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BƯỚC VÀO</a:t>
            </a:r>
          </a:p>
        </p:txBody>
      </p:sp>
      <p:sp>
        <p:nvSpPr>
          <p:cNvPr id="27" name="TextBox 26"/>
          <p:cNvSpPr txBox="1"/>
          <p:nvPr/>
        </p:nvSpPr>
        <p:spPr>
          <a:xfrm>
            <a:off x="4389120"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Tài nguyên / đăng ký</a:t>
            </a:r>
          </a:p>
        </p:txBody>
      </p:sp>
      <p:sp>
        <p:nvSpPr>
          <p:cNvPr id="28" name="TextBox 27"/>
          <p:cNvSpPr txBox="1"/>
          <p:nvPr/>
        </p:nvSpPr>
        <p:spPr>
          <a:xfrm>
            <a:off x="6263640"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TRẢI NGHIỆM</a:t>
            </a:r>
          </a:p>
        </p:txBody>
      </p:sp>
      <p:sp>
        <p:nvSpPr>
          <p:cNvPr id="29" name="TextBox 28"/>
          <p:cNvSpPr txBox="1"/>
          <p:nvPr/>
        </p:nvSpPr>
        <p:spPr>
          <a:xfrm>
            <a:off x="6263640"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Thử thách / workshop</a:t>
            </a:r>
          </a:p>
        </p:txBody>
      </p:sp>
      <p:sp>
        <p:nvSpPr>
          <p:cNvPr id="30" name="TextBox 29"/>
          <p:cNvSpPr txBox="1"/>
          <p:nvPr/>
        </p:nvSpPr>
        <p:spPr>
          <a:xfrm>
            <a:off x="8138159"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TÌM HIỂU</a:t>
            </a:r>
          </a:p>
        </p:txBody>
      </p:sp>
      <p:sp>
        <p:nvSpPr>
          <p:cNvPr id="31" name="TextBox 30"/>
          <p:cNvSpPr txBox="1"/>
          <p:nvPr/>
        </p:nvSpPr>
        <p:spPr>
          <a:xfrm>
            <a:off x="8138159"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Trao đổi theo nhu cầu</a:t>
            </a:r>
          </a:p>
        </p:txBody>
      </p:sp>
      <p:sp>
        <p:nvSpPr>
          <p:cNvPr id="32" name="TextBox 31"/>
          <p:cNvSpPr txBox="1"/>
          <p:nvPr/>
        </p:nvSpPr>
        <p:spPr>
          <a:xfrm>
            <a:off x="10012680" y="2788920"/>
            <a:ext cx="1645920" cy="274320"/>
          </a:xfrm>
          <a:prstGeom prst="rect">
            <a:avLst/>
          </a:prstGeom>
          <a:noFill/>
        </p:spPr>
        <p:txBody>
          <a:bodyPr wrap="square" lIns="18288" tIns="18288" rIns="18288" bIns="18288">
            <a:normAutofit/>
          </a:bodyPr>
          <a:lstStyle/>
          <a:p>
            <a:pPr algn="ctr"/>
            <a:r>
              <a:rPr sz="1000" b="1" i="0">
                <a:solidFill>
                  <a:srgbClr val="D4AF37"/>
                </a:solidFill>
                <a:latin typeface="Aptos"/>
              </a:rPr>
              <a:t>LỰA CHỌN</a:t>
            </a:r>
          </a:p>
        </p:txBody>
      </p:sp>
      <p:sp>
        <p:nvSpPr>
          <p:cNvPr id="33" name="TextBox 32"/>
          <p:cNvSpPr txBox="1"/>
          <p:nvPr/>
        </p:nvSpPr>
        <p:spPr>
          <a:xfrm>
            <a:off x="10012680" y="3182112"/>
            <a:ext cx="1645920" cy="594360"/>
          </a:xfrm>
          <a:prstGeom prst="rect">
            <a:avLst/>
          </a:prstGeom>
          <a:noFill/>
        </p:spPr>
        <p:txBody>
          <a:bodyPr wrap="square" lIns="18288" tIns="18288" rIns="18288" bIns="18288">
            <a:normAutofit/>
          </a:bodyPr>
          <a:lstStyle/>
          <a:p>
            <a:pPr algn="ctr"/>
            <a:r>
              <a:rPr sz="1150" b="0" i="0">
                <a:solidFill>
                  <a:srgbClr val="1F2D3D"/>
                </a:solidFill>
                <a:latin typeface="Aptos"/>
              </a:rPr>
              <a:t>Tham gia khi phù hợp</a:t>
            </a:r>
          </a:p>
        </p:txBody>
      </p:sp>
      <p:sp>
        <p:nvSpPr>
          <p:cNvPr id="34" name="Rounded Rectangle 33"/>
          <p:cNvSpPr/>
          <p:nvPr/>
        </p:nvSpPr>
        <p:spPr>
          <a:xfrm>
            <a:off x="1280160" y="4389120"/>
            <a:ext cx="9601200" cy="960120"/>
          </a:xfrm>
          <a:prstGeom prst="roundRect">
            <a:avLst/>
          </a:prstGeom>
          <a:solidFill>
            <a:srgbClr val="E4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554480" y="4690872"/>
            <a:ext cx="9052560" cy="347472"/>
          </a:xfrm>
          <a:prstGeom prst="rect">
            <a:avLst/>
          </a:prstGeom>
          <a:noFill/>
        </p:spPr>
        <p:txBody>
          <a:bodyPr wrap="square" lIns="18288" tIns="18288" rIns="18288" bIns="18288">
            <a:normAutofit/>
          </a:bodyPr>
          <a:lstStyle/>
          <a:p>
            <a:pPr algn="ctr"/>
            <a:r>
              <a:rPr sz="1350" b="1" i="0">
                <a:solidFill>
                  <a:srgbClr val="0F5FA6"/>
                </a:solidFill>
                <a:latin typeface="Aptos"/>
              </a:rPr>
              <a:t>MỖI BƯỚC CHỈ CẦN MỘT MỤC TIÊU — KHÔNG CỐ “CHỐT” Ở BƯỚC ĐẦU.</a:t>
            </a:r>
          </a:p>
        </p:txBody>
      </p:sp>
      <p:sp>
        <p:nvSpPr>
          <p:cNvPr id="36" name="TextBox 35">
            <a:extLst>
              <a:ext uri="{FF2B5EF4-FFF2-40B4-BE49-F238E27FC236}">
                <a16:creationId xmlns:a16="http://schemas.microsoft.com/office/drawing/2014/main" id="{4AE19F77-8188-CFDF-3E03-3C5FCF0E9FF8}"/>
              </a:ext>
            </a:extLst>
          </p:cNvPr>
          <p:cNvSpPr txBox="1"/>
          <p:nvPr/>
        </p:nvSpPr>
        <p:spPr>
          <a:xfrm>
            <a:off x="271272" y="3456432"/>
            <a:ext cx="8046720" cy="347472"/>
          </a:xfrm>
          <a:prstGeom prst="rect">
            <a:avLst/>
          </a:prstGeom>
          <a:noFill/>
        </p:spPr>
        <p:txBody>
          <a:bodyPr wrap="square" lIns="18288" tIns="18288" rIns="18288" bIns="18288" anchor="t">
            <a:spAutoFit/>
          </a:bodyPr>
          <a:lstStyle/>
          <a:p>
            <a:pPr algn="l"/>
            <a:r>
              <a:rPr lang="en-US" sz="1600" b="0" dirty="0" err="1">
                <a:solidFill>
                  <a:srgbClr val="1E2A37"/>
                </a:solidFill>
                <a:latin typeface="Aptos"/>
              </a:rPr>
              <a:t>Chạm</a:t>
            </a:r>
            <a:r>
              <a:rPr lang="en-US" sz="1600" b="0" dirty="0">
                <a:solidFill>
                  <a:srgbClr val="1E2A37"/>
                </a:solidFill>
                <a:latin typeface="Aptos"/>
              </a:rPr>
              <a:t> </a:t>
            </a:r>
            <a:r>
              <a:rPr lang="en-US" sz="1600" b="0" dirty="0" err="1">
                <a:solidFill>
                  <a:srgbClr val="1E2A37"/>
                </a:solidFill>
                <a:latin typeface="Aptos"/>
              </a:rPr>
              <a:t>vấn</a:t>
            </a:r>
            <a:r>
              <a:rPr lang="en-US" sz="1600" b="0" dirty="0">
                <a:solidFill>
                  <a:srgbClr val="1E2A37"/>
                </a:solidFill>
                <a:latin typeface="Aptos"/>
              </a:rPr>
              <a:t> </a:t>
            </a:r>
            <a:r>
              <a:rPr lang="en-US" sz="1600" b="0" dirty="0" err="1">
                <a:solidFill>
                  <a:srgbClr val="1E2A37"/>
                </a:solidFill>
                <a:latin typeface="Aptos"/>
              </a:rPr>
              <a:t>đề</a:t>
            </a:r>
            <a:r>
              <a:rPr lang="en-US" sz="1600" b="0" dirty="0">
                <a:solidFill>
                  <a:srgbClr val="1E2A37"/>
                </a:solidFill>
                <a:latin typeface="Aptos"/>
              </a:rPr>
              <a:t> + </a:t>
            </a:r>
            <a:r>
              <a:rPr lang="en-US" sz="1600" b="0" dirty="0" err="1">
                <a:solidFill>
                  <a:srgbClr val="1E2A37"/>
                </a:solidFill>
                <a:latin typeface="Aptos"/>
              </a:rPr>
              <a:t>tạo</a:t>
            </a:r>
            <a:r>
              <a:rPr lang="en-US" sz="1600" b="0" dirty="0">
                <a:solidFill>
                  <a:srgbClr val="1E2A37"/>
                </a:solidFill>
                <a:latin typeface="Aptos"/>
              </a:rPr>
              <a:t> </a:t>
            </a:r>
            <a:r>
              <a:rPr lang="en-US" sz="1600" b="0" dirty="0" err="1">
                <a:solidFill>
                  <a:srgbClr val="1E2A37"/>
                </a:solidFill>
                <a:latin typeface="Aptos"/>
              </a:rPr>
              <a:t>giá</a:t>
            </a:r>
            <a:r>
              <a:rPr lang="en-US" sz="1600" b="0" dirty="0">
                <a:solidFill>
                  <a:srgbClr val="1E2A37"/>
                </a:solidFill>
                <a:latin typeface="Aptos"/>
              </a:rPr>
              <a:t> </a:t>
            </a:r>
            <a:r>
              <a:rPr lang="en-US" sz="1600" b="0" dirty="0" err="1">
                <a:solidFill>
                  <a:srgbClr val="1E2A37"/>
                </a:solidFill>
                <a:latin typeface="Aptos"/>
              </a:rPr>
              <a:t>trị</a:t>
            </a:r>
            <a:endParaRPr lang="en-US" sz="1600" b="0" dirty="0">
              <a:solidFill>
                <a:srgbClr val="1E2A37"/>
              </a:solidFill>
              <a:latin typeface="Aptos"/>
            </a:endParaRPr>
          </a:p>
        </p:txBody>
      </p:sp>
      <p:sp>
        <p:nvSpPr>
          <p:cNvPr id="37" name="TextBox 36"/>
          <p:cNvSpPr txBox="1"/>
          <p:nvPr/>
        </p:nvSpPr>
        <p:spPr>
          <a:xfrm>
            <a:off x="6094476" y="3649355"/>
            <a:ext cx="8046720" cy="347472"/>
          </a:xfrm>
          <a:prstGeom prst="rect">
            <a:avLst/>
          </a:prstGeom>
          <a:noFill/>
        </p:spPr>
        <p:txBody>
          <a:bodyPr wrap="square" lIns="18288" tIns="18288" rIns="18288" bIns="18288" anchor="t">
            <a:spAutoFit/>
          </a:bodyPr>
          <a:lstStyle/>
          <a:p>
            <a:pPr algn="l"/>
            <a:r>
              <a:rPr sz="1600" b="0" dirty="0" err="1">
                <a:solidFill>
                  <a:srgbClr val="1E2A37"/>
                </a:solidFill>
                <a:latin typeface="Aptos"/>
              </a:rPr>
              <a:t>Mời</a:t>
            </a:r>
            <a:r>
              <a:rPr sz="1600" b="0" dirty="0">
                <a:solidFill>
                  <a:srgbClr val="1E2A37"/>
                </a:solidFill>
                <a:latin typeface="Aptos"/>
              </a:rPr>
              <a:t> </a:t>
            </a:r>
            <a:r>
              <a:rPr sz="1600" b="0" dirty="0" err="1">
                <a:solidFill>
                  <a:srgbClr val="1E2A37"/>
                </a:solidFill>
                <a:latin typeface="Aptos"/>
              </a:rPr>
              <a:t>một</a:t>
            </a:r>
            <a:r>
              <a:rPr sz="1600" b="0" dirty="0">
                <a:solidFill>
                  <a:srgbClr val="1E2A37"/>
                </a:solidFill>
                <a:latin typeface="Aptos"/>
              </a:rPr>
              <a:t> </a:t>
            </a:r>
            <a:r>
              <a:rPr sz="1600" b="0" dirty="0" err="1">
                <a:solidFill>
                  <a:srgbClr val="1E2A37"/>
                </a:solidFill>
                <a:latin typeface="Aptos"/>
              </a:rPr>
              <a:t>hành</a:t>
            </a:r>
            <a:r>
              <a:rPr sz="1600" b="0" dirty="0">
                <a:solidFill>
                  <a:srgbClr val="1E2A37"/>
                </a:solidFill>
                <a:latin typeface="Aptos"/>
              </a:rPr>
              <a:t> </a:t>
            </a:r>
            <a:r>
              <a:rPr sz="1600" b="0" dirty="0" err="1">
                <a:solidFill>
                  <a:srgbClr val="1E2A37"/>
                </a:solidFill>
                <a:latin typeface="Aptos"/>
              </a:rPr>
              <a:t>động</a:t>
            </a:r>
            <a:r>
              <a:rPr sz="1600" b="0" dirty="0">
                <a:solidFill>
                  <a:srgbClr val="1E2A37"/>
                </a:solidFill>
                <a:latin typeface="Aptos"/>
              </a:rPr>
              <a:t> </a:t>
            </a:r>
            <a:r>
              <a:rPr sz="1600" b="0" dirty="0" err="1">
                <a:solidFill>
                  <a:srgbClr val="1E2A37"/>
                </a:solidFill>
                <a:latin typeface="Aptos"/>
              </a:rPr>
              <a:t>nhỏ</a:t>
            </a:r>
            <a:endParaRPr sz="1600" b="0" dirty="0">
              <a:solidFill>
                <a:srgbClr val="1E2A37"/>
              </a:solidFill>
              <a:latin typeface="Aptos"/>
            </a:endParaRPr>
          </a:p>
        </p:txBody>
      </p:sp>
      <p:sp>
        <p:nvSpPr>
          <p:cNvPr id="38" name="TextBox 37"/>
          <p:cNvSpPr txBox="1"/>
          <p:nvPr/>
        </p:nvSpPr>
        <p:spPr>
          <a:xfrm>
            <a:off x="4204411" y="3995478"/>
            <a:ext cx="8046720" cy="347472"/>
          </a:xfrm>
          <a:prstGeom prst="rect">
            <a:avLst/>
          </a:prstGeom>
          <a:noFill/>
        </p:spPr>
        <p:txBody>
          <a:bodyPr wrap="square" lIns="18288" tIns="18288" rIns="18288" bIns="18288" anchor="t">
            <a:spAutoFit/>
          </a:bodyPr>
          <a:lstStyle/>
          <a:p>
            <a:pPr algn="l"/>
            <a:r>
              <a:rPr sz="1600" b="0" dirty="0">
                <a:solidFill>
                  <a:srgbClr val="1E2A37"/>
                </a:solidFill>
                <a:latin typeface="Aptos"/>
              </a:rPr>
              <a:t>Cho </a:t>
            </a:r>
            <a:r>
              <a:rPr sz="1600" b="0" dirty="0" err="1">
                <a:solidFill>
                  <a:srgbClr val="1E2A37"/>
                </a:solidFill>
                <a:latin typeface="Aptos"/>
              </a:rPr>
              <a:t>trước</a:t>
            </a:r>
            <a:r>
              <a:rPr sz="1600" b="0" dirty="0">
                <a:solidFill>
                  <a:srgbClr val="1E2A37"/>
                </a:solidFill>
                <a:latin typeface="Aptos"/>
              </a:rPr>
              <a:t> </a:t>
            </a:r>
            <a:r>
              <a:rPr sz="1600" b="0" dirty="0" err="1">
                <a:solidFill>
                  <a:srgbClr val="1E2A37"/>
                </a:solidFill>
                <a:latin typeface="Aptos"/>
              </a:rPr>
              <a:t>một</a:t>
            </a:r>
            <a:r>
              <a:rPr sz="1600" b="0" dirty="0">
                <a:solidFill>
                  <a:srgbClr val="1E2A37"/>
                </a:solidFill>
                <a:latin typeface="Aptos"/>
              </a:rPr>
              <a:t> </a:t>
            </a:r>
            <a:r>
              <a:rPr sz="1600" b="0" dirty="0" err="1">
                <a:solidFill>
                  <a:srgbClr val="1E2A37"/>
                </a:solidFill>
                <a:latin typeface="Aptos"/>
              </a:rPr>
              <a:t>phần</a:t>
            </a:r>
            <a:r>
              <a:rPr sz="1600" b="0" dirty="0">
                <a:solidFill>
                  <a:srgbClr val="1E2A37"/>
                </a:solidFill>
                <a:latin typeface="Aptos"/>
              </a:rPr>
              <a:t> </a:t>
            </a:r>
            <a:r>
              <a:rPr sz="1600" b="0" dirty="0" err="1">
                <a:solidFill>
                  <a:srgbClr val="1E2A37"/>
                </a:solidFill>
                <a:latin typeface="Aptos"/>
              </a:rPr>
              <a:t>giá</a:t>
            </a:r>
            <a:r>
              <a:rPr sz="1600" b="0" dirty="0">
                <a:solidFill>
                  <a:srgbClr val="1E2A37"/>
                </a:solidFill>
                <a:latin typeface="Aptos"/>
              </a:rPr>
              <a:t> </a:t>
            </a:r>
            <a:r>
              <a:rPr sz="1600" b="0" dirty="0" err="1">
                <a:solidFill>
                  <a:srgbClr val="1E2A37"/>
                </a:solidFill>
                <a:latin typeface="Aptos"/>
              </a:rPr>
              <a:t>trị</a:t>
            </a:r>
            <a:r>
              <a:rPr sz="1600" b="0" dirty="0">
                <a:solidFill>
                  <a:srgbClr val="1E2A37"/>
                </a:solidFill>
                <a:latin typeface="Aptos"/>
              </a:rPr>
              <a:t> </a:t>
            </a:r>
            <a:r>
              <a:rPr sz="1600" b="0" dirty="0" err="1">
                <a:solidFill>
                  <a:srgbClr val="1E2A37"/>
                </a:solidFill>
                <a:latin typeface="Aptos"/>
              </a:rPr>
              <a:t>thật</a:t>
            </a:r>
            <a:endParaRPr sz="1600" b="0" dirty="0">
              <a:solidFill>
                <a:srgbClr val="1E2A37"/>
              </a:solidFill>
              <a:latin typeface="Aptos"/>
            </a:endParaRPr>
          </a:p>
        </p:txBody>
      </p:sp>
      <p:sp>
        <p:nvSpPr>
          <p:cNvPr id="39" name="TextBox 38"/>
          <p:cNvSpPr txBox="1"/>
          <p:nvPr/>
        </p:nvSpPr>
        <p:spPr>
          <a:xfrm>
            <a:off x="2251273" y="3724156"/>
            <a:ext cx="8046720" cy="347472"/>
          </a:xfrm>
          <a:prstGeom prst="rect">
            <a:avLst/>
          </a:prstGeom>
          <a:noFill/>
        </p:spPr>
        <p:txBody>
          <a:bodyPr wrap="square" lIns="18288" tIns="18288" rIns="18288" bIns="18288" anchor="t">
            <a:spAutoFit/>
          </a:bodyPr>
          <a:lstStyle/>
          <a:p>
            <a:pPr algn="l"/>
            <a:r>
              <a:rPr sz="1600" b="0" dirty="0" err="1">
                <a:solidFill>
                  <a:srgbClr val="1E2A37"/>
                </a:solidFill>
                <a:latin typeface="Aptos"/>
              </a:rPr>
              <a:t>Hỏi</a:t>
            </a:r>
            <a:r>
              <a:rPr sz="1600" b="0" dirty="0">
                <a:solidFill>
                  <a:srgbClr val="1E2A37"/>
                </a:solidFill>
                <a:latin typeface="Aptos"/>
              </a:rPr>
              <a:t> </a:t>
            </a:r>
            <a:r>
              <a:rPr sz="1600" b="0" dirty="0" err="1">
                <a:solidFill>
                  <a:srgbClr val="1E2A37"/>
                </a:solidFill>
                <a:latin typeface="Aptos"/>
              </a:rPr>
              <a:t>nhu</a:t>
            </a:r>
            <a:r>
              <a:rPr sz="1600" b="0" dirty="0">
                <a:solidFill>
                  <a:srgbClr val="1E2A37"/>
                </a:solidFill>
                <a:latin typeface="Aptos"/>
              </a:rPr>
              <a:t> </a:t>
            </a:r>
            <a:r>
              <a:rPr sz="1600" b="0" dirty="0" err="1">
                <a:solidFill>
                  <a:srgbClr val="1E2A37"/>
                </a:solidFill>
                <a:latin typeface="Aptos"/>
              </a:rPr>
              <a:t>cầu</a:t>
            </a:r>
            <a:r>
              <a:rPr sz="1600" b="0" dirty="0">
                <a:solidFill>
                  <a:srgbClr val="1E2A37"/>
                </a:solidFill>
                <a:latin typeface="Aptos"/>
              </a:rPr>
              <a:t> / </a:t>
            </a:r>
            <a:r>
              <a:rPr sz="1600" b="0" dirty="0" err="1">
                <a:solidFill>
                  <a:srgbClr val="1E2A37"/>
                </a:solidFill>
                <a:latin typeface="Aptos"/>
              </a:rPr>
              <a:t>mục</a:t>
            </a:r>
            <a:r>
              <a:rPr sz="1600" b="0" dirty="0">
                <a:solidFill>
                  <a:srgbClr val="1E2A37"/>
                </a:solidFill>
                <a:latin typeface="Aptos"/>
              </a:rPr>
              <a:t> </a:t>
            </a:r>
            <a:r>
              <a:rPr sz="1600" b="0" dirty="0" err="1">
                <a:solidFill>
                  <a:srgbClr val="1E2A37"/>
                </a:solidFill>
                <a:latin typeface="Aptos"/>
              </a:rPr>
              <a:t>tiêu</a:t>
            </a:r>
            <a:r>
              <a:rPr sz="1600" b="0" dirty="0">
                <a:solidFill>
                  <a:srgbClr val="1E2A37"/>
                </a:solidFill>
                <a:latin typeface="Aptos"/>
              </a:rPr>
              <a:t> / </a:t>
            </a:r>
            <a:r>
              <a:rPr sz="1600" b="0" dirty="0" err="1">
                <a:solidFill>
                  <a:srgbClr val="1E2A37"/>
                </a:solidFill>
                <a:latin typeface="Aptos"/>
              </a:rPr>
              <a:t>mức</a:t>
            </a:r>
            <a:r>
              <a:rPr sz="1600" b="0" dirty="0">
                <a:solidFill>
                  <a:srgbClr val="1E2A37"/>
                </a:solidFill>
                <a:latin typeface="Aptos"/>
              </a:rPr>
              <a:t> </a:t>
            </a:r>
            <a:r>
              <a:rPr sz="1600" b="0" dirty="0" err="1">
                <a:solidFill>
                  <a:srgbClr val="1E2A37"/>
                </a:solidFill>
                <a:latin typeface="Aptos"/>
              </a:rPr>
              <a:t>độ</a:t>
            </a:r>
            <a:r>
              <a:rPr sz="1600" b="0" dirty="0">
                <a:solidFill>
                  <a:srgbClr val="1E2A37"/>
                </a:solidFill>
                <a:latin typeface="Aptos"/>
              </a:rPr>
              <a:t> </a:t>
            </a:r>
            <a:r>
              <a:rPr sz="1600" b="0" dirty="0" err="1">
                <a:solidFill>
                  <a:srgbClr val="1E2A37"/>
                </a:solidFill>
                <a:latin typeface="Aptos"/>
              </a:rPr>
              <a:t>sẵn</a:t>
            </a:r>
            <a:r>
              <a:rPr sz="1600" b="0" dirty="0">
                <a:solidFill>
                  <a:srgbClr val="1E2A37"/>
                </a:solidFill>
                <a:latin typeface="Aptos"/>
              </a:rPr>
              <a:t> </a:t>
            </a:r>
            <a:r>
              <a:rPr sz="1600" b="0" dirty="0" err="1">
                <a:solidFill>
                  <a:srgbClr val="1E2A37"/>
                </a:solidFill>
                <a:latin typeface="Aptos"/>
              </a:rPr>
              <a:t>sàng</a:t>
            </a:r>
            <a:endParaRPr sz="1600" b="0" dirty="0">
              <a:solidFill>
                <a:srgbClr val="1E2A37"/>
              </a:solidFill>
              <a:latin typeface="Aptos"/>
            </a:endParaRPr>
          </a:p>
        </p:txBody>
      </p:sp>
      <p:sp>
        <p:nvSpPr>
          <p:cNvPr id="40" name="TextBox 39"/>
          <p:cNvSpPr txBox="1"/>
          <p:nvPr/>
        </p:nvSpPr>
        <p:spPr>
          <a:xfrm>
            <a:off x="7806678" y="3966846"/>
            <a:ext cx="3303282" cy="283154"/>
          </a:xfrm>
          <a:prstGeom prst="rect">
            <a:avLst/>
          </a:prstGeom>
          <a:noFill/>
        </p:spPr>
        <p:txBody>
          <a:bodyPr wrap="square" lIns="18288" tIns="18288" rIns="18288" bIns="18288" anchor="t">
            <a:spAutoFit/>
          </a:bodyPr>
          <a:lstStyle/>
          <a:p>
            <a:pPr algn="l"/>
            <a:r>
              <a:rPr sz="1600" b="1" dirty="0" err="1">
                <a:solidFill>
                  <a:srgbClr val="1E2A37"/>
                </a:solidFill>
                <a:latin typeface="Aptos"/>
              </a:rPr>
              <a:t>Chỉ</a:t>
            </a:r>
            <a:r>
              <a:rPr sz="1600" b="1" dirty="0">
                <a:solidFill>
                  <a:srgbClr val="1E2A37"/>
                </a:solidFill>
                <a:latin typeface="Aptos"/>
              </a:rPr>
              <a:t> </a:t>
            </a:r>
            <a:r>
              <a:rPr sz="1600" b="1" dirty="0" err="1">
                <a:solidFill>
                  <a:srgbClr val="1E2A37"/>
                </a:solidFill>
                <a:latin typeface="Aptos"/>
              </a:rPr>
              <a:t>đi</a:t>
            </a:r>
            <a:r>
              <a:rPr sz="1600" b="1" dirty="0">
                <a:solidFill>
                  <a:srgbClr val="1E2A37"/>
                </a:solidFill>
                <a:latin typeface="Aptos"/>
              </a:rPr>
              <a:t> </a:t>
            </a:r>
            <a:r>
              <a:rPr sz="1600" b="1" dirty="0" err="1">
                <a:solidFill>
                  <a:srgbClr val="1E2A37"/>
                </a:solidFill>
                <a:latin typeface="Aptos"/>
              </a:rPr>
              <a:t>sâu</a:t>
            </a:r>
            <a:r>
              <a:rPr sz="1600" b="1" dirty="0">
                <a:solidFill>
                  <a:srgbClr val="1E2A37"/>
                </a:solidFill>
                <a:latin typeface="Aptos"/>
              </a:rPr>
              <a:t> </a:t>
            </a:r>
            <a:r>
              <a:rPr sz="1600" b="1" dirty="0" err="1">
                <a:solidFill>
                  <a:srgbClr val="1E2A37"/>
                </a:solidFill>
                <a:latin typeface="Aptos"/>
              </a:rPr>
              <a:t>khi</a:t>
            </a:r>
            <a:r>
              <a:rPr sz="1600" b="1" dirty="0">
                <a:solidFill>
                  <a:srgbClr val="1E2A37"/>
                </a:solidFill>
                <a:latin typeface="Aptos"/>
              </a:rPr>
              <a:t> </a:t>
            </a:r>
            <a:r>
              <a:rPr sz="1600" b="1" dirty="0" err="1">
                <a:solidFill>
                  <a:srgbClr val="1E2A37"/>
                </a:solidFill>
                <a:latin typeface="Aptos"/>
              </a:rPr>
              <a:t>họ</a:t>
            </a:r>
            <a:r>
              <a:rPr sz="1600" b="1" dirty="0">
                <a:solidFill>
                  <a:srgbClr val="1E2A37"/>
                </a:solidFill>
                <a:latin typeface="Aptos"/>
              </a:rPr>
              <a:t> </a:t>
            </a:r>
            <a:r>
              <a:rPr sz="1600" b="1" dirty="0" err="1">
                <a:solidFill>
                  <a:srgbClr val="1E2A37"/>
                </a:solidFill>
                <a:latin typeface="Aptos"/>
              </a:rPr>
              <a:t>đồng</a:t>
            </a:r>
            <a:r>
              <a:rPr sz="1600" b="1" dirty="0">
                <a:solidFill>
                  <a:srgbClr val="1E2A37"/>
                </a:solidFill>
                <a:latin typeface="Aptos"/>
              </a:rPr>
              <a:t> ý</a:t>
            </a:r>
          </a:p>
        </p:txBody>
      </p:sp>
      <p:sp>
        <p:nvSpPr>
          <p:cNvPr id="41" name="TextBox 40"/>
          <p:cNvSpPr txBox="1"/>
          <p:nvPr/>
        </p:nvSpPr>
        <p:spPr>
          <a:xfrm>
            <a:off x="8515263" y="2464083"/>
            <a:ext cx="1828800" cy="292608"/>
          </a:xfrm>
          <a:prstGeom prst="rect">
            <a:avLst/>
          </a:prstGeom>
          <a:noFill/>
        </p:spPr>
        <p:txBody>
          <a:bodyPr wrap="square" lIns="18288" tIns="18288" rIns="18288" bIns="18288" anchor="t">
            <a:spAutoFit/>
          </a:bodyPr>
          <a:lstStyle/>
          <a:p>
            <a:pPr algn="l"/>
            <a:r>
              <a:rPr sz="1300" b="1" dirty="0">
                <a:solidFill>
                  <a:srgbClr val="D6AE30"/>
                </a:solidFill>
                <a:latin typeface="Aptos"/>
              </a:rPr>
              <a:t>PHÂN LOẠI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CTA</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CTA nhẹ nhưng có mục đích</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20</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85800" y="1463040"/>
            <a:ext cx="114300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508760"/>
            <a:ext cx="1051560" cy="201168"/>
          </a:xfrm>
          <a:prstGeom prst="rect">
            <a:avLst/>
          </a:prstGeom>
          <a:noFill/>
        </p:spPr>
        <p:txBody>
          <a:bodyPr wrap="square" lIns="18288" tIns="18288" rIns="18288" bIns="18288">
            <a:normAutofit/>
          </a:bodyPr>
          <a:lstStyle/>
          <a:p>
            <a:pPr algn="ctr"/>
            <a:r>
              <a:rPr sz="950" b="1" i="0">
                <a:solidFill>
                  <a:srgbClr val="D4AF37"/>
                </a:solidFill>
                <a:latin typeface="Aptos"/>
              </a:rPr>
              <a:t>CTA 1</a:t>
            </a:r>
          </a:p>
        </p:txBody>
      </p:sp>
      <p:sp>
        <p:nvSpPr>
          <p:cNvPr id="12" name="Rounded Rectangle 11"/>
          <p:cNvSpPr/>
          <p:nvPr/>
        </p:nvSpPr>
        <p:spPr>
          <a:xfrm>
            <a:off x="2057400" y="1444752"/>
            <a:ext cx="909828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31720" y="1581912"/>
            <a:ext cx="8549640" cy="384048"/>
          </a:xfrm>
          <a:prstGeom prst="rect">
            <a:avLst/>
          </a:prstGeom>
          <a:noFill/>
        </p:spPr>
        <p:txBody>
          <a:bodyPr wrap="square" lIns="18288" tIns="18288" rIns="18288" bIns="18288">
            <a:normAutofit/>
          </a:bodyPr>
          <a:lstStyle/>
          <a:p>
            <a:pPr algn="l"/>
            <a:r>
              <a:rPr sz="1300" b="0" i="0">
                <a:solidFill>
                  <a:srgbClr val="1F2D3D"/>
                </a:solidFill>
                <a:latin typeface="Aptos"/>
              </a:rPr>
              <a:t>Nếu bạn đang ở tình huống này, bình luận TÌM HIỂU để nhận checklist.</a:t>
            </a:r>
          </a:p>
        </p:txBody>
      </p:sp>
      <p:sp>
        <p:nvSpPr>
          <p:cNvPr id="14" name="Rounded Rectangle 13"/>
          <p:cNvSpPr/>
          <p:nvPr/>
        </p:nvSpPr>
        <p:spPr>
          <a:xfrm>
            <a:off x="685800" y="2514600"/>
            <a:ext cx="114300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560320"/>
            <a:ext cx="1051560" cy="201168"/>
          </a:xfrm>
          <a:prstGeom prst="rect">
            <a:avLst/>
          </a:prstGeom>
          <a:noFill/>
        </p:spPr>
        <p:txBody>
          <a:bodyPr wrap="square" lIns="18288" tIns="18288" rIns="18288" bIns="18288">
            <a:normAutofit/>
          </a:bodyPr>
          <a:lstStyle/>
          <a:p>
            <a:pPr algn="ctr"/>
            <a:r>
              <a:rPr sz="950" b="1" i="0">
                <a:solidFill>
                  <a:srgbClr val="D4AF37"/>
                </a:solidFill>
                <a:latin typeface="Aptos"/>
              </a:rPr>
              <a:t>CTA 2</a:t>
            </a:r>
          </a:p>
        </p:txBody>
      </p:sp>
      <p:sp>
        <p:nvSpPr>
          <p:cNvPr id="16" name="Rounded Rectangle 15"/>
          <p:cNvSpPr/>
          <p:nvPr/>
        </p:nvSpPr>
        <p:spPr>
          <a:xfrm>
            <a:off x="2057400" y="2496312"/>
            <a:ext cx="909828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31720" y="2633472"/>
            <a:ext cx="8549640" cy="384048"/>
          </a:xfrm>
          <a:prstGeom prst="rect">
            <a:avLst/>
          </a:prstGeom>
          <a:noFill/>
        </p:spPr>
        <p:txBody>
          <a:bodyPr wrap="square" lIns="18288" tIns="18288" rIns="18288" bIns="18288">
            <a:normAutofit/>
          </a:bodyPr>
          <a:lstStyle/>
          <a:p>
            <a:pPr algn="l"/>
            <a:r>
              <a:rPr sz="1300" b="0" i="0">
                <a:solidFill>
                  <a:srgbClr val="1F2D3D"/>
                </a:solidFill>
                <a:latin typeface="Aptos"/>
              </a:rPr>
              <a:t>Muốn xem toàn bộ 7 bước, tôi để tài liệu ở phần giới thiệu.</a:t>
            </a:r>
          </a:p>
        </p:txBody>
      </p:sp>
      <p:sp>
        <p:nvSpPr>
          <p:cNvPr id="18" name="Rounded Rectangle 17"/>
          <p:cNvSpPr/>
          <p:nvPr/>
        </p:nvSpPr>
        <p:spPr>
          <a:xfrm>
            <a:off x="685800" y="3566160"/>
            <a:ext cx="114300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611879"/>
            <a:ext cx="1051560" cy="201168"/>
          </a:xfrm>
          <a:prstGeom prst="rect">
            <a:avLst/>
          </a:prstGeom>
          <a:noFill/>
        </p:spPr>
        <p:txBody>
          <a:bodyPr wrap="square" lIns="18288" tIns="18288" rIns="18288" bIns="18288">
            <a:normAutofit/>
          </a:bodyPr>
          <a:lstStyle/>
          <a:p>
            <a:pPr algn="ctr"/>
            <a:r>
              <a:rPr sz="950" b="1" i="0">
                <a:solidFill>
                  <a:srgbClr val="D4AF37"/>
                </a:solidFill>
                <a:latin typeface="Aptos"/>
              </a:rPr>
              <a:t>CTA 3</a:t>
            </a:r>
          </a:p>
        </p:txBody>
      </p:sp>
      <p:sp>
        <p:nvSpPr>
          <p:cNvPr id="20" name="Rounded Rectangle 19"/>
          <p:cNvSpPr/>
          <p:nvPr/>
        </p:nvSpPr>
        <p:spPr>
          <a:xfrm>
            <a:off x="2057400" y="3547872"/>
            <a:ext cx="909828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31720" y="3685032"/>
            <a:ext cx="8549640" cy="384048"/>
          </a:xfrm>
          <a:prstGeom prst="rect">
            <a:avLst/>
          </a:prstGeom>
          <a:noFill/>
        </p:spPr>
        <p:txBody>
          <a:bodyPr wrap="square" lIns="18288" tIns="18288" rIns="18288" bIns="18288">
            <a:normAutofit/>
          </a:bodyPr>
          <a:lstStyle/>
          <a:p>
            <a:pPr algn="l"/>
            <a:r>
              <a:rPr sz="1300" b="0" i="0">
                <a:solidFill>
                  <a:srgbClr val="1F2D3D"/>
                </a:solidFill>
                <a:latin typeface="Aptos"/>
              </a:rPr>
              <a:t>Nếu muốn tham gia thử thách 7 ngày, hãy để lại từ khóa 7 NGÀY.</a:t>
            </a:r>
          </a:p>
        </p:txBody>
      </p:sp>
      <p:sp>
        <p:nvSpPr>
          <p:cNvPr id="22" name="Rounded Rectangle 21"/>
          <p:cNvSpPr/>
          <p:nvPr/>
        </p:nvSpPr>
        <p:spPr>
          <a:xfrm>
            <a:off x="685800" y="4617720"/>
            <a:ext cx="1143000" cy="310896"/>
          </a:xfrm>
          <a:prstGeom prst="roundRect">
            <a:avLst/>
          </a:prstGeom>
          <a:solidFill>
            <a:srgbClr val="F9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663440"/>
            <a:ext cx="1051560" cy="201168"/>
          </a:xfrm>
          <a:prstGeom prst="rect">
            <a:avLst/>
          </a:prstGeom>
          <a:noFill/>
        </p:spPr>
        <p:txBody>
          <a:bodyPr wrap="square" lIns="18288" tIns="18288" rIns="18288" bIns="18288">
            <a:normAutofit/>
          </a:bodyPr>
          <a:lstStyle/>
          <a:p>
            <a:pPr algn="ctr"/>
            <a:r>
              <a:rPr sz="950" b="1" i="0">
                <a:solidFill>
                  <a:srgbClr val="D4AF37"/>
                </a:solidFill>
                <a:latin typeface="Aptos"/>
              </a:rPr>
              <a:t>CTA 4</a:t>
            </a:r>
          </a:p>
        </p:txBody>
      </p:sp>
      <p:sp>
        <p:nvSpPr>
          <p:cNvPr id="24" name="Rounded Rectangle 23"/>
          <p:cNvSpPr/>
          <p:nvPr/>
        </p:nvSpPr>
        <p:spPr>
          <a:xfrm>
            <a:off x="2057400" y="4599432"/>
            <a:ext cx="9098280"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331720" y="4736592"/>
            <a:ext cx="8549640" cy="384048"/>
          </a:xfrm>
          <a:prstGeom prst="rect">
            <a:avLst/>
          </a:prstGeom>
          <a:noFill/>
        </p:spPr>
        <p:txBody>
          <a:bodyPr wrap="square" lIns="18288" tIns="18288" rIns="18288" bIns="18288">
            <a:normAutofit/>
          </a:bodyPr>
          <a:lstStyle/>
          <a:p>
            <a:pPr algn="l"/>
            <a:r>
              <a:rPr sz="1300" b="0" i="0">
                <a:solidFill>
                  <a:srgbClr val="1F2D3D"/>
                </a:solidFill>
                <a:latin typeface="Aptos"/>
              </a:rPr>
              <a:t>Nếu chưa phù hợp, cứ xem tiếp các video; không cần đăng ký.</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LEAD MAGNET</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Cho một lý do để bước vào</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21</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976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CHO TRƯỚC GIÁ TRỊ THẬT</a:t>
            </a:r>
          </a:p>
        </p:txBody>
      </p:sp>
      <p:sp>
        <p:nvSpPr>
          <p:cNvPr id="14" name="TextBox 13"/>
          <p:cNvSpPr txBox="1"/>
          <p:nvPr/>
        </p:nvSpPr>
        <p:spPr>
          <a:xfrm>
            <a:off x="1335024" y="2148839"/>
            <a:ext cx="4352544" cy="3511296"/>
          </a:xfrm>
          <a:prstGeom prst="rect">
            <a:avLst/>
          </a:prstGeom>
          <a:noFill/>
        </p:spPr>
        <p:txBody>
          <a:bodyPr wrap="square" lIns="18288" tIns="18288" rIns="18288" bIns="18288">
            <a:normAutofit/>
          </a:bodyPr>
          <a:lstStyle/>
          <a:p>
            <a:pPr algn="l"/>
            <a:r>
              <a:rPr sz="1450" b="0" i="0">
                <a:solidFill>
                  <a:srgbClr val="1F2D3D"/>
                </a:solidFill>
                <a:latin typeface="Aptos"/>
              </a:rPr>
              <a:t>Checklist 7 bước.
Bộ câu hỏi tự đánh giá.
Mini training 30–60 phút.
Mẫu nội dung / kế hoạch 7 ngày.
Buổi tư vấn / định hướng ngắn.</a:t>
            </a:r>
          </a:p>
        </p:txBody>
      </p:sp>
      <p:sp>
        <p:nvSpPr>
          <p:cNvPr id="15" name="Rounded Rectangle 14"/>
          <p:cNvSpPr/>
          <p:nvPr/>
        </p:nvSpPr>
        <p:spPr>
          <a:xfrm>
            <a:off x="621792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976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NGUYÊN TẮC</a:t>
            </a:r>
          </a:p>
        </p:txBody>
      </p:sp>
      <p:sp>
        <p:nvSpPr>
          <p:cNvPr id="19" name="TextBox 18"/>
          <p:cNvSpPr txBox="1"/>
          <p:nvPr/>
        </p:nvSpPr>
        <p:spPr>
          <a:xfrm>
            <a:off x="6912864" y="2148839"/>
            <a:ext cx="4352544" cy="3511296"/>
          </a:xfrm>
          <a:prstGeom prst="rect">
            <a:avLst/>
          </a:prstGeom>
          <a:noFill/>
        </p:spPr>
        <p:txBody>
          <a:bodyPr wrap="square" lIns="18288" tIns="18288" rIns="18288" bIns="18288">
            <a:normAutofit/>
          </a:bodyPr>
          <a:lstStyle/>
          <a:p>
            <a:pPr algn="l"/>
            <a:r>
              <a:rPr sz="1420" b="0" i="0">
                <a:solidFill>
                  <a:srgbClr val="1F2D3D"/>
                </a:solidFill>
                <a:latin typeface="Aptos"/>
              </a:rPr>
              <a:t>Người phù hợp sẽ muốn biết phần tiếp theo.
Không dùng mồi nhử gây hiểu lầm.
Không hứa hẹn quá mức.
Không biến tài nguyên thành cái cớ để spam.
Mục tiêu: tạo một bước tiếp theo tự nguyện.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HỆ THỐNG</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Trang đích / form / inbox: càng đơn giản càng tốt</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22</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TextBox 9"/>
          <p:cNvSpPr txBox="1"/>
          <p:nvPr/>
        </p:nvSpPr>
        <p:spPr>
          <a:xfrm>
            <a:off x="868680" y="1508760"/>
            <a:ext cx="10332720" cy="457200"/>
          </a:xfrm>
          <a:prstGeom prst="rect">
            <a:avLst/>
          </a:prstGeom>
          <a:noFill/>
        </p:spPr>
        <p:txBody>
          <a:bodyPr wrap="square" lIns="18288" tIns="18288" rIns="18288" bIns="18288">
            <a:normAutofit/>
          </a:bodyPr>
          <a:lstStyle/>
          <a:p>
            <a:pPr algn="ctr"/>
            <a:r>
              <a:rPr sz="1800" b="1" i="0">
                <a:solidFill>
                  <a:srgbClr val="08182B"/>
                </a:solidFill>
                <a:latin typeface="Aptos"/>
              </a:rPr>
              <a:t>Mỗi bước thêm vào là một lý do để người ta rời đi.</a:t>
            </a:r>
          </a:p>
        </p:txBody>
      </p:sp>
      <p:sp>
        <p:nvSpPr>
          <p:cNvPr id="11" name="Rounded Rectangle 10"/>
          <p:cNvSpPr/>
          <p:nvPr/>
        </p:nvSpPr>
        <p:spPr>
          <a:xfrm>
            <a:off x="685800" y="2331720"/>
            <a:ext cx="3383280" cy="1097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 y="2331720"/>
            <a:ext cx="64008" cy="10972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86968" y="2514600"/>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4" name="TextBox 13"/>
          <p:cNvSpPr txBox="1"/>
          <p:nvPr/>
        </p:nvSpPr>
        <p:spPr>
          <a:xfrm>
            <a:off x="1380744" y="2496312"/>
            <a:ext cx="2459736" cy="347472"/>
          </a:xfrm>
          <a:prstGeom prst="rect">
            <a:avLst/>
          </a:prstGeom>
          <a:noFill/>
        </p:spPr>
        <p:txBody>
          <a:bodyPr wrap="square" lIns="18288" tIns="18288" rIns="18288" bIns="18288">
            <a:normAutofit/>
          </a:bodyPr>
          <a:lstStyle/>
          <a:p>
            <a:pPr algn="l"/>
            <a:r>
              <a:rPr sz="1500" b="1" i="0">
                <a:solidFill>
                  <a:srgbClr val="08182B"/>
                </a:solidFill>
                <a:latin typeface="Aptos"/>
              </a:rPr>
              <a:t>Họ nhận được gì?</a:t>
            </a:r>
          </a:p>
        </p:txBody>
      </p:sp>
      <p:sp>
        <p:nvSpPr>
          <p:cNvPr id="15" name="TextBox 14"/>
          <p:cNvSpPr txBox="1"/>
          <p:nvPr/>
        </p:nvSpPr>
        <p:spPr>
          <a:xfrm>
            <a:off x="1380744" y="2971800"/>
            <a:ext cx="2432304" cy="310896"/>
          </a:xfrm>
          <a:prstGeom prst="rect">
            <a:avLst/>
          </a:prstGeom>
          <a:noFill/>
        </p:spPr>
        <p:txBody>
          <a:bodyPr wrap="square" lIns="18288" tIns="18288" rIns="18288" bIns="18288">
            <a:normAutofit/>
          </a:bodyPr>
          <a:lstStyle/>
          <a:p>
            <a:pPr algn="l"/>
            <a:r>
              <a:rPr sz="1150" b="0" i="0">
                <a:solidFill>
                  <a:srgbClr val="1F2D3D"/>
                </a:solidFill>
                <a:latin typeface="Aptos"/>
              </a:rPr>
              <a:t>Trả lời thật rõ ngay tại điểm đăng ký.</a:t>
            </a:r>
          </a:p>
        </p:txBody>
      </p:sp>
      <p:sp>
        <p:nvSpPr>
          <p:cNvPr id="16" name="Rounded Rectangle 15"/>
          <p:cNvSpPr/>
          <p:nvPr/>
        </p:nvSpPr>
        <p:spPr>
          <a:xfrm>
            <a:off x="4434840" y="2331720"/>
            <a:ext cx="3383280" cy="1097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34840" y="2331720"/>
            <a:ext cx="64008" cy="10972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636007" y="2514600"/>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19" name="TextBox 18"/>
          <p:cNvSpPr txBox="1"/>
          <p:nvPr/>
        </p:nvSpPr>
        <p:spPr>
          <a:xfrm>
            <a:off x="5129783" y="2496312"/>
            <a:ext cx="2459736" cy="347472"/>
          </a:xfrm>
          <a:prstGeom prst="rect">
            <a:avLst/>
          </a:prstGeom>
          <a:noFill/>
        </p:spPr>
        <p:txBody>
          <a:bodyPr wrap="square" lIns="18288" tIns="18288" rIns="18288" bIns="18288">
            <a:normAutofit/>
          </a:bodyPr>
          <a:lstStyle/>
          <a:p>
            <a:pPr algn="l"/>
            <a:r>
              <a:rPr sz="1500" b="1" i="0">
                <a:solidFill>
                  <a:srgbClr val="08182B"/>
                </a:solidFill>
                <a:latin typeface="Aptos"/>
              </a:rPr>
              <a:t>Dành cho ai?</a:t>
            </a:r>
          </a:p>
        </p:txBody>
      </p:sp>
      <p:sp>
        <p:nvSpPr>
          <p:cNvPr id="20" name="TextBox 19"/>
          <p:cNvSpPr txBox="1"/>
          <p:nvPr/>
        </p:nvSpPr>
        <p:spPr>
          <a:xfrm>
            <a:off x="5129783" y="2971800"/>
            <a:ext cx="2432304" cy="310896"/>
          </a:xfrm>
          <a:prstGeom prst="rect">
            <a:avLst/>
          </a:prstGeom>
          <a:noFill/>
        </p:spPr>
        <p:txBody>
          <a:bodyPr wrap="square" lIns="18288" tIns="18288" rIns="18288" bIns="18288">
            <a:normAutofit/>
          </a:bodyPr>
          <a:lstStyle/>
          <a:p>
            <a:pPr algn="l"/>
            <a:r>
              <a:rPr sz="1150" b="0" i="0">
                <a:solidFill>
                  <a:srgbClr val="1F2D3D"/>
                </a:solidFill>
                <a:latin typeface="Aptos"/>
              </a:rPr>
              <a:t>Trả lời thật rõ ngay tại điểm đăng ký.</a:t>
            </a:r>
          </a:p>
        </p:txBody>
      </p:sp>
      <p:sp>
        <p:nvSpPr>
          <p:cNvPr id="21" name="Rounded Rectangle 20"/>
          <p:cNvSpPr/>
          <p:nvPr/>
        </p:nvSpPr>
        <p:spPr>
          <a:xfrm>
            <a:off x="8183879" y="2331720"/>
            <a:ext cx="3383280" cy="1097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83879" y="2331720"/>
            <a:ext cx="64008" cy="10972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385048" y="2514600"/>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24" name="TextBox 23"/>
          <p:cNvSpPr txBox="1"/>
          <p:nvPr/>
        </p:nvSpPr>
        <p:spPr>
          <a:xfrm>
            <a:off x="8878824" y="2496312"/>
            <a:ext cx="2459736" cy="347472"/>
          </a:xfrm>
          <a:prstGeom prst="rect">
            <a:avLst/>
          </a:prstGeom>
          <a:noFill/>
        </p:spPr>
        <p:txBody>
          <a:bodyPr wrap="square" lIns="18288" tIns="18288" rIns="18288" bIns="18288">
            <a:normAutofit/>
          </a:bodyPr>
          <a:lstStyle/>
          <a:p>
            <a:pPr algn="l"/>
            <a:r>
              <a:rPr sz="1500" b="1" i="0">
                <a:solidFill>
                  <a:srgbClr val="08182B"/>
                </a:solidFill>
                <a:latin typeface="Aptos"/>
              </a:rPr>
              <a:t>Mất bao nhiêu thời gian?</a:t>
            </a:r>
          </a:p>
        </p:txBody>
      </p:sp>
      <p:sp>
        <p:nvSpPr>
          <p:cNvPr id="25" name="TextBox 24"/>
          <p:cNvSpPr txBox="1"/>
          <p:nvPr/>
        </p:nvSpPr>
        <p:spPr>
          <a:xfrm>
            <a:off x="8878824" y="2971800"/>
            <a:ext cx="2432304" cy="310896"/>
          </a:xfrm>
          <a:prstGeom prst="rect">
            <a:avLst/>
          </a:prstGeom>
          <a:noFill/>
        </p:spPr>
        <p:txBody>
          <a:bodyPr wrap="square" lIns="18288" tIns="18288" rIns="18288" bIns="18288">
            <a:normAutofit/>
          </a:bodyPr>
          <a:lstStyle/>
          <a:p>
            <a:pPr algn="l"/>
            <a:r>
              <a:rPr sz="1150" b="0" i="0">
                <a:solidFill>
                  <a:srgbClr val="1F2D3D"/>
                </a:solidFill>
                <a:latin typeface="Aptos"/>
              </a:rPr>
              <a:t>Trả lời thật rõ ngay tại điểm đăng ký.</a:t>
            </a:r>
          </a:p>
        </p:txBody>
      </p:sp>
      <p:sp>
        <p:nvSpPr>
          <p:cNvPr id="26" name="Rounded Rectangle 25"/>
          <p:cNvSpPr/>
          <p:nvPr/>
        </p:nvSpPr>
        <p:spPr>
          <a:xfrm>
            <a:off x="685800" y="3749039"/>
            <a:ext cx="3383280" cy="1097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3749039"/>
            <a:ext cx="64008" cy="10972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86968" y="3931920"/>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4</a:t>
            </a:r>
          </a:p>
        </p:txBody>
      </p:sp>
      <p:sp>
        <p:nvSpPr>
          <p:cNvPr id="29" name="TextBox 28"/>
          <p:cNvSpPr txBox="1"/>
          <p:nvPr/>
        </p:nvSpPr>
        <p:spPr>
          <a:xfrm>
            <a:off x="1380744" y="3913631"/>
            <a:ext cx="2459736" cy="347472"/>
          </a:xfrm>
          <a:prstGeom prst="rect">
            <a:avLst/>
          </a:prstGeom>
          <a:noFill/>
        </p:spPr>
        <p:txBody>
          <a:bodyPr wrap="square" lIns="18288" tIns="18288" rIns="18288" bIns="18288">
            <a:normAutofit/>
          </a:bodyPr>
          <a:lstStyle/>
          <a:p>
            <a:pPr algn="l"/>
            <a:r>
              <a:rPr sz="1500" b="1" i="0">
                <a:solidFill>
                  <a:srgbClr val="08182B"/>
                </a:solidFill>
                <a:latin typeface="Aptos"/>
              </a:rPr>
              <a:t>Bước tiếp theo là gì?</a:t>
            </a:r>
          </a:p>
        </p:txBody>
      </p:sp>
      <p:sp>
        <p:nvSpPr>
          <p:cNvPr id="30" name="TextBox 29"/>
          <p:cNvSpPr txBox="1"/>
          <p:nvPr/>
        </p:nvSpPr>
        <p:spPr>
          <a:xfrm>
            <a:off x="1380744" y="4389120"/>
            <a:ext cx="2432304" cy="310896"/>
          </a:xfrm>
          <a:prstGeom prst="rect">
            <a:avLst/>
          </a:prstGeom>
          <a:noFill/>
        </p:spPr>
        <p:txBody>
          <a:bodyPr wrap="square" lIns="18288" tIns="18288" rIns="18288" bIns="18288">
            <a:normAutofit/>
          </a:bodyPr>
          <a:lstStyle/>
          <a:p>
            <a:pPr algn="l"/>
            <a:r>
              <a:rPr sz="1150" b="0" i="0">
                <a:solidFill>
                  <a:srgbClr val="1F2D3D"/>
                </a:solidFill>
                <a:latin typeface="Aptos"/>
              </a:rPr>
              <a:t>Trả lời thật rõ ngay tại điểm đăng ký.</a:t>
            </a:r>
          </a:p>
        </p:txBody>
      </p:sp>
      <p:sp>
        <p:nvSpPr>
          <p:cNvPr id="31" name="Rounded Rectangle 30"/>
          <p:cNvSpPr/>
          <p:nvPr/>
        </p:nvSpPr>
        <p:spPr>
          <a:xfrm>
            <a:off x="4434840" y="3749039"/>
            <a:ext cx="3383280" cy="1097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434840" y="3749039"/>
            <a:ext cx="64008" cy="10972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636007" y="3931920"/>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5</a:t>
            </a:r>
          </a:p>
        </p:txBody>
      </p:sp>
      <p:sp>
        <p:nvSpPr>
          <p:cNvPr id="34" name="TextBox 33"/>
          <p:cNvSpPr txBox="1"/>
          <p:nvPr/>
        </p:nvSpPr>
        <p:spPr>
          <a:xfrm>
            <a:off x="5129783" y="3913631"/>
            <a:ext cx="2459736" cy="347472"/>
          </a:xfrm>
          <a:prstGeom prst="rect">
            <a:avLst/>
          </a:prstGeom>
          <a:noFill/>
        </p:spPr>
        <p:txBody>
          <a:bodyPr wrap="square" lIns="18288" tIns="18288" rIns="18288" bIns="18288">
            <a:normAutofit fontScale="77500" lnSpcReduction="20000"/>
          </a:bodyPr>
          <a:lstStyle/>
          <a:p>
            <a:pPr algn="l"/>
            <a:r>
              <a:rPr sz="1500" b="1" i="0">
                <a:solidFill>
                  <a:srgbClr val="08182B"/>
                </a:solidFill>
                <a:latin typeface="Aptos"/>
              </a:rPr>
              <a:t>Thông tin được dùng như thế nào?</a:t>
            </a:r>
          </a:p>
        </p:txBody>
      </p:sp>
      <p:sp>
        <p:nvSpPr>
          <p:cNvPr id="35" name="TextBox 34"/>
          <p:cNvSpPr txBox="1"/>
          <p:nvPr/>
        </p:nvSpPr>
        <p:spPr>
          <a:xfrm>
            <a:off x="5129783" y="4389120"/>
            <a:ext cx="2432304" cy="310896"/>
          </a:xfrm>
          <a:prstGeom prst="rect">
            <a:avLst/>
          </a:prstGeom>
          <a:noFill/>
        </p:spPr>
        <p:txBody>
          <a:bodyPr wrap="square" lIns="18288" tIns="18288" rIns="18288" bIns="18288">
            <a:normAutofit/>
          </a:bodyPr>
          <a:lstStyle/>
          <a:p>
            <a:pPr algn="l"/>
            <a:r>
              <a:rPr sz="1150" b="0" i="0">
                <a:solidFill>
                  <a:srgbClr val="1F2D3D"/>
                </a:solidFill>
                <a:latin typeface="Aptos"/>
              </a:rPr>
              <a:t>Trả lời thật rõ ngay tại điểm đăng ký.</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TỰ ĐỘNG</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Tự động hóa phần nào?</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23</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08760"/>
            <a:ext cx="64008" cy="42976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691639"/>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3" name="TextBox 12"/>
          <p:cNvSpPr txBox="1"/>
          <p:nvPr/>
        </p:nvSpPr>
        <p:spPr>
          <a:xfrm>
            <a:off x="133502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CÓ THỂ TỰ ĐỘNG</a:t>
            </a:r>
          </a:p>
        </p:txBody>
      </p:sp>
      <p:sp>
        <p:nvSpPr>
          <p:cNvPr id="14" name="TextBox 13"/>
          <p:cNvSpPr txBox="1"/>
          <p:nvPr/>
        </p:nvSpPr>
        <p:spPr>
          <a:xfrm>
            <a:off x="1335024" y="2148839"/>
            <a:ext cx="4352544" cy="3511296"/>
          </a:xfrm>
          <a:prstGeom prst="rect">
            <a:avLst/>
          </a:prstGeom>
          <a:noFill/>
        </p:spPr>
        <p:txBody>
          <a:bodyPr wrap="square" lIns="18288" tIns="18288" rIns="18288" bIns="18288">
            <a:normAutofit/>
          </a:bodyPr>
          <a:lstStyle/>
          <a:p>
            <a:pPr algn="l"/>
            <a:r>
              <a:rPr sz="1450" b="0" i="0">
                <a:solidFill>
                  <a:srgbClr val="1F2D3D"/>
                </a:solidFill>
                <a:latin typeface="Aptos"/>
              </a:rPr>
              <a:t>Gửi tài liệu sau đăng ký.
Nhắc lịch.
Thu form.
Phân loại người quan tâm.
Chuỗi nội dung nuôi dưỡng.
Nhắc quay lại tài nguyên.</a:t>
            </a:r>
          </a:p>
        </p:txBody>
      </p:sp>
      <p:sp>
        <p:nvSpPr>
          <p:cNvPr id="15" name="Rounded Rectangle 14"/>
          <p:cNvSpPr/>
          <p:nvPr/>
        </p:nvSpPr>
        <p:spPr>
          <a:xfrm>
            <a:off x="6217920" y="1508760"/>
            <a:ext cx="5303520" cy="4297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08760"/>
            <a:ext cx="64008" cy="4297680"/>
          </a:xfrm>
          <a:prstGeom prst="rect">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19088" y="1691639"/>
            <a:ext cx="384048" cy="384048"/>
          </a:xfrm>
          <a:prstGeom prst="ellipse">
            <a:avLst/>
          </a:prstGeom>
          <a:solidFill>
            <a:srgbClr val="B4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a:t>
            </a:r>
          </a:p>
        </p:txBody>
      </p:sp>
      <p:sp>
        <p:nvSpPr>
          <p:cNvPr id="18" name="TextBox 17"/>
          <p:cNvSpPr txBox="1"/>
          <p:nvPr/>
        </p:nvSpPr>
        <p:spPr>
          <a:xfrm>
            <a:off x="6912864" y="1673351"/>
            <a:ext cx="4379976" cy="347472"/>
          </a:xfrm>
          <a:prstGeom prst="rect">
            <a:avLst/>
          </a:prstGeom>
          <a:noFill/>
        </p:spPr>
        <p:txBody>
          <a:bodyPr wrap="square" lIns="18288" tIns="18288" rIns="18288" bIns="18288">
            <a:normAutofit/>
          </a:bodyPr>
          <a:lstStyle/>
          <a:p>
            <a:pPr algn="l"/>
            <a:r>
              <a:rPr sz="1500" b="1" i="0">
                <a:solidFill>
                  <a:srgbClr val="08182B"/>
                </a:solidFill>
                <a:latin typeface="Aptos"/>
              </a:rPr>
              <a:t>KHÔNG TỰ ĐỘNG HÓA SỰ QUAN TÂM</a:t>
            </a:r>
          </a:p>
        </p:txBody>
      </p:sp>
      <p:sp>
        <p:nvSpPr>
          <p:cNvPr id="19" name="TextBox 18"/>
          <p:cNvSpPr txBox="1"/>
          <p:nvPr/>
        </p:nvSpPr>
        <p:spPr>
          <a:xfrm>
            <a:off x="6912864" y="2148839"/>
            <a:ext cx="4352544" cy="3511296"/>
          </a:xfrm>
          <a:prstGeom prst="rect">
            <a:avLst/>
          </a:prstGeom>
          <a:noFill/>
        </p:spPr>
        <p:txBody>
          <a:bodyPr wrap="square" lIns="18288" tIns="18288" rIns="18288" bIns="18288">
            <a:normAutofit/>
          </a:bodyPr>
          <a:lstStyle/>
          <a:p>
            <a:pPr algn="l"/>
            <a:r>
              <a:rPr sz="1450" b="0" i="0">
                <a:solidFill>
                  <a:srgbClr val="1F2D3D"/>
                </a:solidFill>
                <a:latin typeface="Aptos"/>
              </a:rPr>
              <a:t>Spam hàng loạt.
Giả vờ quan tâm.
Ép người chưa sẵn sàng.
Hứa hẹn kết quả không chắc chắn.
Luôn có quyền dừng nhận tin.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SÀNG LỌC</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Không phải ai quan tâm cũng phù hợp</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24</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731520" y="1417320"/>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1</a:t>
            </a:r>
          </a:p>
        </p:txBody>
      </p:sp>
      <p:sp>
        <p:nvSpPr>
          <p:cNvPr id="11" name="TextBox 10"/>
          <p:cNvSpPr txBox="1"/>
          <p:nvPr/>
        </p:nvSpPr>
        <p:spPr>
          <a:xfrm>
            <a:off x="1417320" y="1399032"/>
            <a:ext cx="9601200" cy="457200"/>
          </a:xfrm>
          <a:prstGeom prst="rect">
            <a:avLst/>
          </a:prstGeom>
          <a:noFill/>
        </p:spPr>
        <p:txBody>
          <a:bodyPr wrap="square" lIns="18288" tIns="18288" rIns="18288" bIns="18288">
            <a:normAutofit/>
          </a:bodyPr>
          <a:lstStyle/>
          <a:p>
            <a:pPr algn="l"/>
            <a:r>
              <a:rPr sz="1500" b="1" i="0">
                <a:solidFill>
                  <a:srgbClr val="08182B"/>
                </a:solidFill>
                <a:latin typeface="Aptos"/>
              </a:rPr>
              <a:t>Họ có đúng vấn đề không?</a:t>
            </a:r>
          </a:p>
        </p:txBody>
      </p:sp>
      <p:sp>
        <p:nvSpPr>
          <p:cNvPr id="12" name="Oval 11"/>
          <p:cNvSpPr/>
          <p:nvPr/>
        </p:nvSpPr>
        <p:spPr>
          <a:xfrm>
            <a:off x="731520" y="2221992"/>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2</a:t>
            </a:r>
          </a:p>
        </p:txBody>
      </p:sp>
      <p:sp>
        <p:nvSpPr>
          <p:cNvPr id="13" name="TextBox 12"/>
          <p:cNvSpPr txBox="1"/>
          <p:nvPr/>
        </p:nvSpPr>
        <p:spPr>
          <a:xfrm>
            <a:off x="1417320" y="2203704"/>
            <a:ext cx="9601200" cy="457200"/>
          </a:xfrm>
          <a:prstGeom prst="rect">
            <a:avLst/>
          </a:prstGeom>
          <a:noFill/>
        </p:spPr>
        <p:txBody>
          <a:bodyPr wrap="square" lIns="18288" tIns="18288" rIns="18288" bIns="18288">
            <a:normAutofit/>
          </a:bodyPr>
          <a:lstStyle/>
          <a:p>
            <a:pPr algn="l"/>
            <a:r>
              <a:rPr sz="1500" b="1" i="0">
                <a:solidFill>
                  <a:srgbClr val="08182B"/>
                </a:solidFill>
                <a:latin typeface="Aptos"/>
              </a:rPr>
              <a:t>Họ có nhu cầu thật không?</a:t>
            </a:r>
          </a:p>
        </p:txBody>
      </p:sp>
      <p:sp>
        <p:nvSpPr>
          <p:cNvPr id="14" name="Oval 13"/>
          <p:cNvSpPr/>
          <p:nvPr/>
        </p:nvSpPr>
        <p:spPr>
          <a:xfrm>
            <a:off x="731520" y="3026664"/>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3</a:t>
            </a:r>
          </a:p>
        </p:txBody>
      </p:sp>
      <p:sp>
        <p:nvSpPr>
          <p:cNvPr id="15" name="TextBox 14"/>
          <p:cNvSpPr txBox="1"/>
          <p:nvPr/>
        </p:nvSpPr>
        <p:spPr>
          <a:xfrm>
            <a:off x="1417320" y="3008376"/>
            <a:ext cx="9601200" cy="457200"/>
          </a:xfrm>
          <a:prstGeom prst="rect">
            <a:avLst/>
          </a:prstGeom>
          <a:noFill/>
        </p:spPr>
        <p:txBody>
          <a:bodyPr wrap="square" lIns="18288" tIns="18288" rIns="18288" bIns="18288">
            <a:normAutofit/>
          </a:bodyPr>
          <a:lstStyle/>
          <a:p>
            <a:pPr algn="l"/>
            <a:r>
              <a:rPr sz="1500" b="1" i="0">
                <a:solidFill>
                  <a:srgbClr val="08182B"/>
                </a:solidFill>
                <a:latin typeface="Aptos"/>
              </a:rPr>
              <a:t>Họ có sẵn sàng học và hành động không?</a:t>
            </a:r>
          </a:p>
        </p:txBody>
      </p:sp>
      <p:sp>
        <p:nvSpPr>
          <p:cNvPr id="16" name="Oval 15"/>
          <p:cNvSpPr/>
          <p:nvPr/>
        </p:nvSpPr>
        <p:spPr>
          <a:xfrm>
            <a:off x="731520" y="3831336"/>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4</a:t>
            </a:r>
          </a:p>
        </p:txBody>
      </p:sp>
      <p:sp>
        <p:nvSpPr>
          <p:cNvPr id="17" name="TextBox 16"/>
          <p:cNvSpPr txBox="1"/>
          <p:nvPr/>
        </p:nvSpPr>
        <p:spPr>
          <a:xfrm>
            <a:off x="1417320" y="3813048"/>
            <a:ext cx="9601200" cy="457200"/>
          </a:xfrm>
          <a:prstGeom prst="rect">
            <a:avLst/>
          </a:prstGeom>
          <a:noFill/>
        </p:spPr>
        <p:txBody>
          <a:bodyPr wrap="square" lIns="18288" tIns="18288" rIns="18288" bIns="18288">
            <a:normAutofit/>
          </a:bodyPr>
          <a:lstStyle/>
          <a:p>
            <a:pPr algn="l"/>
            <a:r>
              <a:rPr sz="1500" b="1" i="0">
                <a:solidFill>
                  <a:srgbClr val="08182B"/>
                </a:solidFill>
                <a:latin typeface="Aptos"/>
              </a:rPr>
              <a:t>Giải pháp của bạn có phù hợp không?</a:t>
            </a:r>
          </a:p>
        </p:txBody>
      </p:sp>
      <p:sp>
        <p:nvSpPr>
          <p:cNvPr id="18" name="Oval 17"/>
          <p:cNvSpPr/>
          <p:nvPr/>
        </p:nvSpPr>
        <p:spPr>
          <a:xfrm>
            <a:off x="731520" y="4636008"/>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5</a:t>
            </a:r>
          </a:p>
        </p:txBody>
      </p:sp>
      <p:sp>
        <p:nvSpPr>
          <p:cNvPr id="19" name="TextBox 18"/>
          <p:cNvSpPr txBox="1"/>
          <p:nvPr/>
        </p:nvSpPr>
        <p:spPr>
          <a:xfrm>
            <a:off x="1417320" y="4617720"/>
            <a:ext cx="9601200" cy="457200"/>
          </a:xfrm>
          <a:prstGeom prst="rect">
            <a:avLst/>
          </a:prstGeom>
          <a:noFill/>
        </p:spPr>
        <p:txBody>
          <a:bodyPr wrap="square" lIns="18288" tIns="18288" rIns="18288" bIns="18288">
            <a:normAutofit/>
          </a:bodyPr>
          <a:lstStyle/>
          <a:p>
            <a:pPr algn="l"/>
            <a:r>
              <a:rPr sz="1500" b="1" i="0" dirty="0" err="1">
                <a:solidFill>
                  <a:srgbClr val="08182B"/>
                </a:solidFill>
                <a:latin typeface="Aptos"/>
              </a:rPr>
              <a:t>Nếu</a:t>
            </a:r>
            <a:r>
              <a:rPr sz="1500" b="1" i="0" dirty="0">
                <a:solidFill>
                  <a:srgbClr val="08182B"/>
                </a:solidFill>
                <a:latin typeface="Aptos"/>
              </a:rPr>
              <a:t> </a:t>
            </a:r>
            <a:r>
              <a:rPr sz="1500" b="1" i="0" dirty="0" err="1">
                <a:solidFill>
                  <a:srgbClr val="08182B"/>
                </a:solidFill>
                <a:latin typeface="Aptos"/>
              </a:rPr>
              <a:t>không</a:t>
            </a:r>
            <a:r>
              <a:rPr sz="1500" b="1" i="0" dirty="0">
                <a:solidFill>
                  <a:srgbClr val="08182B"/>
                </a:solidFill>
                <a:latin typeface="Aptos"/>
              </a:rPr>
              <a:t> </a:t>
            </a:r>
            <a:r>
              <a:rPr sz="1500" b="1" i="0" dirty="0" err="1">
                <a:solidFill>
                  <a:srgbClr val="08182B"/>
                </a:solidFill>
                <a:latin typeface="Aptos"/>
              </a:rPr>
              <a:t>phù</a:t>
            </a:r>
            <a:r>
              <a:rPr sz="1500" b="1" i="0" dirty="0">
                <a:solidFill>
                  <a:srgbClr val="08182B"/>
                </a:solidFill>
                <a:latin typeface="Aptos"/>
              </a:rPr>
              <a:t> </a:t>
            </a:r>
            <a:r>
              <a:rPr sz="1500" b="1" i="0" dirty="0" err="1">
                <a:solidFill>
                  <a:srgbClr val="08182B"/>
                </a:solidFill>
                <a:latin typeface="Aptos"/>
              </a:rPr>
              <a:t>hợp</a:t>
            </a:r>
            <a:r>
              <a:rPr sz="1500" b="1" i="0" dirty="0">
                <a:solidFill>
                  <a:srgbClr val="08182B"/>
                </a:solidFill>
                <a:latin typeface="Aptos"/>
              </a:rPr>
              <a:t>, </a:t>
            </a:r>
            <a:r>
              <a:rPr sz="1500" b="1" i="0" dirty="0" err="1">
                <a:solidFill>
                  <a:srgbClr val="08182B"/>
                </a:solidFill>
                <a:latin typeface="Aptos"/>
              </a:rPr>
              <a:t>bạn</a:t>
            </a:r>
            <a:r>
              <a:rPr sz="1500" b="1" i="0" dirty="0">
                <a:solidFill>
                  <a:srgbClr val="08182B"/>
                </a:solidFill>
                <a:latin typeface="Aptos"/>
              </a:rPr>
              <a:t> </a:t>
            </a:r>
            <a:r>
              <a:rPr sz="1500" b="1" i="0" dirty="0" err="1">
                <a:solidFill>
                  <a:srgbClr val="08182B"/>
                </a:solidFill>
                <a:latin typeface="Aptos"/>
              </a:rPr>
              <a:t>có</a:t>
            </a:r>
            <a:r>
              <a:rPr sz="1500" b="1" i="0" dirty="0">
                <a:solidFill>
                  <a:srgbClr val="08182B"/>
                </a:solidFill>
                <a:latin typeface="Aptos"/>
              </a:rPr>
              <a:t> </a:t>
            </a:r>
            <a:r>
              <a:rPr sz="1500" b="1" i="0" dirty="0" err="1">
                <a:solidFill>
                  <a:srgbClr val="08182B"/>
                </a:solidFill>
                <a:latin typeface="Aptos"/>
              </a:rPr>
              <a:t>sẵn</a:t>
            </a:r>
            <a:r>
              <a:rPr sz="1500" b="1" i="0" dirty="0">
                <a:solidFill>
                  <a:srgbClr val="08182B"/>
                </a:solidFill>
                <a:latin typeface="Aptos"/>
              </a:rPr>
              <a:t> </a:t>
            </a:r>
            <a:r>
              <a:rPr sz="1500" b="1" i="0" dirty="0" err="1">
                <a:solidFill>
                  <a:srgbClr val="08182B"/>
                </a:solidFill>
                <a:latin typeface="Aptos"/>
              </a:rPr>
              <a:t>sàng</a:t>
            </a:r>
            <a:r>
              <a:rPr sz="1500" b="1" i="0" dirty="0">
                <a:solidFill>
                  <a:srgbClr val="08182B"/>
                </a:solidFill>
                <a:latin typeface="Aptos"/>
              </a:rPr>
              <a:t> </a:t>
            </a:r>
            <a:r>
              <a:rPr sz="1500" b="1" i="0" dirty="0" err="1">
                <a:solidFill>
                  <a:srgbClr val="08182B"/>
                </a:solidFill>
                <a:latin typeface="Aptos"/>
              </a:rPr>
              <a:t>nói</a:t>
            </a:r>
            <a:r>
              <a:rPr sz="1500" b="1" i="0" dirty="0">
                <a:solidFill>
                  <a:srgbClr val="08182B"/>
                </a:solidFill>
                <a:latin typeface="Aptos"/>
              </a:rPr>
              <a:t> “</a:t>
            </a:r>
            <a:r>
              <a:rPr sz="1500" b="1" i="0" dirty="0" err="1">
                <a:solidFill>
                  <a:srgbClr val="08182B"/>
                </a:solidFill>
                <a:latin typeface="Aptos"/>
              </a:rPr>
              <a:t>không</a:t>
            </a:r>
            <a:r>
              <a:rPr sz="1500" b="1" i="0" dirty="0">
                <a:solidFill>
                  <a:srgbClr val="08182B"/>
                </a:solidFill>
                <a:latin typeface="Aptos"/>
              </a:rPr>
              <a:t>”?</a:t>
            </a:r>
          </a:p>
        </p:txBody>
      </p:sp>
      <p:sp>
        <p:nvSpPr>
          <p:cNvPr id="20" name="TextBox 19"/>
          <p:cNvSpPr txBox="1"/>
          <p:nvPr/>
        </p:nvSpPr>
        <p:spPr>
          <a:xfrm>
            <a:off x="1051560" y="5687568"/>
            <a:ext cx="9966960" cy="365760"/>
          </a:xfrm>
          <a:prstGeom prst="rect">
            <a:avLst/>
          </a:prstGeom>
          <a:noFill/>
        </p:spPr>
        <p:txBody>
          <a:bodyPr wrap="square" lIns="18288" tIns="18288" rIns="18288" bIns="18288">
            <a:normAutofit/>
          </a:bodyPr>
          <a:lstStyle/>
          <a:p>
            <a:pPr algn="ctr"/>
            <a:r>
              <a:rPr sz="1500" b="1" i="0">
                <a:solidFill>
                  <a:srgbClr val="D4AF37"/>
                </a:solidFill>
                <a:latin typeface="Aptos"/>
              </a:rPr>
              <a:t>HÚT NHIỀU CHƯA CHẮC TỐT. HÚT ĐÚNG MỚI TẠO CỘNG ĐỒNG BỀN.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ĐO LƯỜNG</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Đừng chỉ nhìn view — nhìn chất lượng dòng người</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25</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1783080"/>
            <a:ext cx="2971800" cy="320040"/>
          </a:xfrm>
          <a:prstGeom prst="rect">
            <a:avLst/>
          </a:prstGeom>
          <a:noFill/>
        </p:spPr>
        <p:txBody>
          <a:bodyPr wrap="square" lIns="18288" tIns="18288" rIns="18288" bIns="18288">
            <a:normAutofit/>
          </a:bodyPr>
          <a:lstStyle/>
          <a:p>
            <a:pPr algn="l"/>
            <a:r>
              <a:rPr sz="1400" b="1" i="0">
                <a:solidFill>
                  <a:srgbClr val="0F5FA6"/>
                </a:solidFill>
                <a:latin typeface="Aptos"/>
              </a:rPr>
              <a:t>KHẢ NĂNG DỪNG</a:t>
            </a:r>
          </a:p>
        </p:txBody>
      </p:sp>
      <p:sp>
        <p:nvSpPr>
          <p:cNvPr id="12" name="TextBox 11"/>
          <p:cNvSpPr txBox="1"/>
          <p:nvPr/>
        </p:nvSpPr>
        <p:spPr>
          <a:xfrm>
            <a:off x="841247" y="2286000"/>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Hook giữ người xem</a:t>
            </a:r>
          </a:p>
        </p:txBody>
      </p:sp>
      <p:sp>
        <p:nvSpPr>
          <p:cNvPr id="13" name="Rounded Rectangle 12"/>
          <p:cNvSpPr/>
          <p:nvPr/>
        </p:nvSpPr>
        <p:spPr>
          <a:xfrm>
            <a:off x="4434840" y="150876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6008" y="1783080"/>
            <a:ext cx="2971800" cy="320040"/>
          </a:xfrm>
          <a:prstGeom prst="rect">
            <a:avLst/>
          </a:prstGeom>
          <a:noFill/>
        </p:spPr>
        <p:txBody>
          <a:bodyPr wrap="square" lIns="18288" tIns="18288" rIns="18288" bIns="18288">
            <a:normAutofit/>
          </a:bodyPr>
          <a:lstStyle/>
          <a:p>
            <a:pPr algn="l"/>
            <a:r>
              <a:rPr sz="1400" b="1" i="0">
                <a:solidFill>
                  <a:srgbClr val="D4AF37"/>
                </a:solidFill>
                <a:latin typeface="Aptos"/>
              </a:rPr>
              <a:t>TƯƠNG TÁC</a:t>
            </a:r>
          </a:p>
        </p:txBody>
      </p:sp>
      <p:sp>
        <p:nvSpPr>
          <p:cNvPr id="15" name="TextBox 14"/>
          <p:cNvSpPr txBox="1"/>
          <p:nvPr/>
        </p:nvSpPr>
        <p:spPr>
          <a:xfrm>
            <a:off x="4636008" y="2286000"/>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Bình luận / lưu / chia sẻ</a:t>
            </a:r>
          </a:p>
        </p:txBody>
      </p:sp>
      <p:sp>
        <p:nvSpPr>
          <p:cNvPr id="16" name="Rounded Rectangle 15"/>
          <p:cNvSpPr/>
          <p:nvPr/>
        </p:nvSpPr>
        <p:spPr>
          <a:xfrm>
            <a:off x="8229600" y="150876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0768" y="1783080"/>
            <a:ext cx="2971800" cy="320040"/>
          </a:xfrm>
          <a:prstGeom prst="rect">
            <a:avLst/>
          </a:prstGeom>
          <a:noFill/>
        </p:spPr>
        <p:txBody>
          <a:bodyPr wrap="square" lIns="18288" tIns="18288" rIns="18288" bIns="18288">
            <a:normAutofit/>
          </a:bodyPr>
          <a:lstStyle/>
          <a:p>
            <a:pPr algn="l"/>
            <a:r>
              <a:rPr sz="1400" b="1" i="0">
                <a:solidFill>
                  <a:srgbClr val="268767"/>
                </a:solidFill>
                <a:latin typeface="Aptos"/>
              </a:rPr>
              <a:t>TÍN HIỆU</a:t>
            </a:r>
          </a:p>
        </p:txBody>
      </p:sp>
      <p:sp>
        <p:nvSpPr>
          <p:cNvPr id="18" name="TextBox 17"/>
          <p:cNvSpPr txBox="1"/>
          <p:nvPr/>
        </p:nvSpPr>
        <p:spPr>
          <a:xfrm>
            <a:off x="8430768" y="2286000"/>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Từ khóa / inbox / đăng ký</a:t>
            </a:r>
          </a:p>
        </p:txBody>
      </p:sp>
      <p:sp>
        <p:nvSpPr>
          <p:cNvPr id="19" name="Rounded Rectangle 18"/>
          <p:cNvSpPr/>
          <p:nvPr/>
        </p:nvSpPr>
        <p:spPr>
          <a:xfrm>
            <a:off x="640080" y="347472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749039"/>
            <a:ext cx="2971800" cy="320040"/>
          </a:xfrm>
          <a:prstGeom prst="rect">
            <a:avLst/>
          </a:prstGeom>
          <a:noFill/>
        </p:spPr>
        <p:txBody>
          <a:bodyPr wrap="square" lIns="18288" tIns="18288" rIns="18288" bIns="18288">
            <a:normAutofit/>
          </a:bodyPr>
          <a:lstStyle/>
          <a:p>
            <a:pPr algn="l"/>
            <a:r>
              <a:rPr sz="1400" b="1" i="0">
                <a:solidFill>
                  <a:srgbClr val="0F5FA6"/>
                </a:solidFill>
                <a:latin typeface="Aptos"/>
              </a:rPr>
              <a:t>TRẢI NGHIỆM</a:t>
            </a:r>
          </a:p>
        </p:txBody>
      </p:sp>
      <p:sp>
        <p:nvSpPr>
          <p:cNvPr id="21" name="TextBox 20"/>
          <p:cNvSpPr txBox="1"/>
          <p:nvPr/>
        </p:nvSpPr>
        <p:spPr>
          <a:xfrm>
            <a:off x="841247" y="4251959"/>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Số người tham gia</a:t>
            </a:r>
          </a:p>
        </p:txBody>
      </p:sp>
      <p:sp>
        <p:nvSpPr>
          <p:cNvPr id="22" name="Rounded Rectangle 21"/>
          <p:cNvSpPr/>
          <p:nvPr/>
        </p:nvSpPr>
        <p:spPr>
          <a:xfrm>
            <a:off x="4434840" y="347472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36008" y="3749039"/>
            <a:ext cx="2971800" cy="320040"/>
          </a:xfrm>
          <a:prstGeom prst="rect">
            <a:avLst/>
          </a:prstGeom>
          <a:noFill/>
        </p:spPr>
        <p:txBody>
          <a:bodyPr wrap="square" lIns="18288" tIns="18288" rIns="18288" bIns="18288">
            <a:normAutofit/>
          </a:bodyPr>
          <a:lstStyle/>
          <a:p>
            <a:pPr algn="l"/>
            <a:r>
              <a:rPr sz="1400" b="1" i="0">
                <a:solidFill>
                  <a:srgbClr val="D4AF37"/>
                </a:solidFill>
                <a:latin typeface="Aptos"/>
              </a:rPr>
              <a:t>CHẤT LƯỢNG</a:t>
            </a:r>
          </a:p>
        </p:txBody>
      </p:sp>
      <p:sp>
        <p:nvSpPr>
          <p:cNvPr id="24" name="TextBox 23"/>
          <p:cNvSpPr txBox="1"/>
          <p:nvPr/>
        </p:nvSpPr>
        <p:spPr>
          <a:xfrm>
            <a:off x="4636008" y="4251959"/>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Số người đúng chân dung</a:t>
            </a:r>
          </a:p>
        </p:txBody>
      </p:sp>
      <p:sp>
        <p:nvSpPr>
          <p:cNvPr id="25" name="Rounded Rectangle 24"/>
          <p:cNvSpPr/>
          <p:nvPr/>
        </p:nvSpPr>
        <p:spPr>
          <a:xfrm>
            <a:off x="8229600" y="3474720"/>
            <a:ext cx="3429000" cy="15727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30768" y="3749039"/>
            <a:ext cx="2971800" cy="320040"/>
          </a:xfrm>
          <a:prstGeom prst="rect">
            <a:avLst/>
          </a:prstGeom>
          <a:noFill/>
        </p:spPr>
        <p:txBody>
          <a:bodyPr wrap="square" lIns="18288" tIns="18288" rIns="18288" bIns="18288">
            <a:normAutofit/>
          </a:bodyPr>
          <a:lstStyle/>
          <a:p>
            <a:pPr algn="l"/>
            <a:r>
              <a:rPr sz="1400" b="1" i="0">
                <a:solidFill>
                  <a:srgbClr val="268767"/>
                </a:solidFill>
                <a:latin typeface="Aptos"/>
              </a:rPr>
              <a:t>BƯỚC TIẾP</a:t>
            </a:r>
          </a:p>
        </p:txBody>
      </p:sp>
      <p:sp>
        <p:nvSpPr>
          <p:cNvPr id="27" name="TextBox 26"/>
          <p:cNvSpPr txBox="1"/>
          <p:nvPr/>
        </p:nvSpPr>
        <p:spPr>
          <a:xfrm>
            <a:off x="8430768" y="4251959"/>
            <a:ext cx="2971800" cy="411480"/>
          </a:xfrm>
          <a:prstGeom prst="rect">
            <a:avLst/>
          </a:prstGeom>
          <a:noFill/>
        </p:spPr>
        <p:txBody>
          <a:bodyPr wrap="square" lIns="18288" tIns="18288" rIns="18288" bIns="18288">
            <a:normAutofit/>
          </a:bodyPr>
          <a:lstStyle/>
          <a:p>
            <a:pPr algn="l"/>
            <a:r>
              <a:rPr sz="1250" b="0" i="0">
                <a:solidFill>
                  <a:srgbClr val="1F2D3D"/>
                </a:solidFill>
                <a:latin typeface="Aptos"/>
              </a:rPr>
              <a:t>Số người muốn tìm hiểu sâu</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TỐI ƯU</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Mỗi tuần chỉ cần trả lời 4 câu hỏi</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26</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08760"/>
            <a:ext cx="5257800" cy="16459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68680" y="1737360"/>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1</a:t>
            </a:r>
          </a:p>
        </p:txBody>
      </p:sp>
      <p:sp>
        <p:nvSpPr>
          <p:cNvPr id="12" name="TextBox 11"/>
          <p:cNvSpPr txBox="1"/>
          <p:nvPr/>
        </p:nvSpPr>
        <p:spPr>
          <a:xfrm>
            <a:off x="1508760" y="1709928"/>
            <a:ext cx="4069080" cy="566928"/>
          </a:xfrm>
          <a:prstGeom prst="rect">
            <a:avLst/>
          </a:prstGeom>
          <a:noFill/>
        </p:spPr>
        <p:txBody>
          <a:bodyPr wrap="square" lIns="18288" tIns="18288" rIns="18288" bIns="18288">
            <a:normAutofit/>
          </a:bodyPr>
          <a:lstStyle/>
          <a:p>
            <a:pPr algn="l"/>
            <a:r>
              <a:rPr sz="1350" b="1" i="0">
                <a:solidFill>
                  <a:srgbClr val="08182B"/>
                </a:solidFill>
                <a:latin typeface="Aptos"/>
              </a:rPr>
              <a:t>VIDEO NÀO KÉO ĐÚNG NGƯỜI?</a:t>
            </a:r>
          </a:p>
        </p:txBody>
      </p:sp>
      <p:sp>
        <p:nvSpPr>
          <p:cNvPr id="13" name="TextBox 12"/>
          <p:cNvSpPr txBox="1"/>
          <p:nvPr/>
        </p:nvSpPr>
        <p:spPr>
          <a:xfrm>
            <a:off x="1508760" y="2450591"/>
            <a:ext cx="4069080" cy="365760"/>
          </a:xfrm>
          <a:prstGeom prst="rect">
            <a:avLst/>
          </a:prstGeom>
          <a:noFill/>
        </p:spPr>
        <p:txBody>
          <a:bodyPr wrap="square" lIns="18288" tIns="18288" rIns="18288" bIns="18288">
            <a:normAutofit/>
          </a:bodyPr>
          <a:lstStyle/>
          <a:p>
            <a:pPr algn="l"/>
            <a:r>
              <a:rPr sz="1250" b="0" i="0">
                <a:solidFill>
                  <a:srgbClr val="1F2D3D"/>
                </a:solidFill>
                <a:latin typeface="Aptos"/>
              </a:rPr>
              <a:t>Giữ chủ đề + hook.</a:t>
            </a:r>
          </a:p>
        </p:txBody>
      </p:sp>
      <p:sp>
        <p:nvSpPr>
          <p:cNvPr id="14" name="Rounded Rectangle 13"/>
          <p:cNvSpPr/>
          <p:nvPr/>
        </p:nvSpPr>
        <p:spPr>
          <a:xfrm>
            <a:off x="6217920" y="1508760"/>
            <a:ext cx="5257800" cy="16459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46520" y="1737360"/>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2</a:t>
            </a:r>
          </a:p>
        </p:txBody>
      </p:sp>
      <p:sp>
        <p:nvSpPr>
          <p:cNvPr id="16" name="TextBox 15"/>
          <p:cNvSpPr txBox="1"/>
          <p:nvPr/>
        </p:nvSpPr>
        <p:spPr>
          <a:xfrm>
            <a:off x="7086600" y="1709928"/>
            <a:ext cx="4069080" cy="566928"/>
          </a:xfrm>
          <a:prstGeom prst="rect">
            <a:avLst/>
          </a:prstGeom>
          <a:noFill/>
        </p:spPr>
        <p:txBody>
          <a:bodyPr wrap="square" lIns="18288" tIns="18288" rIns="18288" bIns="18288">
            <a:normAutofit/>
          </a:bodyPr>
          <a:lstStyle/>
          <a:p>
            <a:pPr algn="l"/>
            <a:r>
              <a:rPr sz="1350" b="1" i="0">
                <a:solidFill>
                  <a:srgbClr val="08182B"/>
                </a:solidFill>
                <a:latin typeface="Aptos"/>
              </a:rPr>
              <a:t>VIDEO NÀO NHIỀU VIEW NHƯNG ÍT TÍN HIỆU?</a:t>
            </a:r>
          </a:p>
        </p:txBody>
      </p:sp>
      <p:sp>
        <p:nvSpPr>
          <p:cNvPr id="17" name="TextBox 16"/>
          <p:cNvSpPr txBox="1"/>
          <p:nvPr/>
        </p:nvSpPr>
        <p:spPr>
          <a:xfrm>
            <a:off x="7086600" y="2450591"/>
            <a:ext cx="4069080" cy="365760"/>
          </a:xfrm>
          <a:prstGeom prst="rect">
            <a:avLst/>
          </a:prstGeom>
          <a:noFill/>
        </p:spPr>
        <p:txBody>
          <a:bodyPr wrap="square" lIns="18288" tIns="18288" rIns="18288" bIns="18288">
            <a:normAutofit/>
          </a:bodyPr>
          <a:lstStyle/>
          <a:p>
            <a:pPr algn="l"/>
            <a:r>
              <a:rPr sz="1250" b="0" i="0">
                <a:solidFill>
                  <a:srgbClr val="1F2D3D"/>
                </a:solidFill>
                <a:latin typeface="Aptos"/>
              </a:rPr>
              <a:t>Kiểm tra chân dung / CTA.</a:t>
            </a:r>
          </a:p>
        </p:txBody>
      </p:sp>
      <p:sp>
        <p:nvSpPr>
          <p:cNvPr id="18" name="Rounded Rectangle 17"/>
          <p:cNvSpPr/>
          <p:nvPr/>
        </p:nvSpPr>
        <p:spPr>
          <a:xfrm>
            <a:off x="640080" y="3566160"/>
            <a:ext cx="5257800" cy="16459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68680" y="3794760"/>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3</a:t>
            </a:r>
          </a:p>
        </p:txBody>
      </p:sp>
      <p:sp>
        <p:nvSpPr>
          <p:cNvPr id="20" name="TextBox 19"/>
          <p:cNvSpPr txBox="1"/>
          <p:nvPr/>
        </p:nvSpPr>
        <p:spPr>
          <a:xfrm>
            <a:off x="1508760" y="3767328"/>
            <a:ext cx="4069080" cy="566928"/>
          </a:xfrm>
          <a:prstGeom prst="rect">
            <a:avLst/>
          </a:prstGeom>
          <a:noFill/>
        </p:spPr>
        <p:txBody>
          <a:bodyPr wrap="square" lIns="18288" tIns="18288" rIns="18288" bIns="18288">
            <a:normAutofit/>
          </a:bodyPr>
          <a:lstStyle/>
          <a:p>
            <a:pPr algn="l"/>
            <a:r>
              <a:rPr sz="1350" b="1" i="0">
                <a:solidFill>
                  <a:srgbClr val="08182B"/>
                </a:solidFill>
                <a:latin typeface="Aptos"/>
              </a:rPr>
              <a:t>NGƯỜI QUAN TÂM HỎI GÌ NHIỀU NHẤT?</a:t>
            </a:r>
          </a:p>
        </p:txBody>
      </p:sp>
      <p:sp>
        <p:nvSpPr>
          <p:cNvPr id="21" name="TextBox 20"/>
          <p:cNvSpPr txBox="1"/>
          <p:nvPr/>
        </p:nvSpPr>
        <p:spPr>
          <a:xfrm>
            <a:off x="1508760" y="4507992"/>
            <a:ext cx="4069080" cy="365760"/>
          </a:xfrm>
          <a:prstGeom prst="rect">
            <a:avLst/>
          </a:prstGeom>
          <a:noFill/>
        </p:spPr>
        <p:txBody>
          <a:bodyPr wrap="square" lIns="18288" tIns="18288" rIns="18288" bIns="18288">
            <a:normAutofit/>
          </a:bodyPr>
          <a:lstStyle/>
          <a:p>
            <a:pPr algn="l"/>
            <a:r>
              <a:rPr sz="1250" b="0" i="0">
                <a:solidFill>
                  <a:srgbClr val="1F2D3D"/>
                </a:solidFill>
                <a:latin typeface="Aptos"/>
              </a:rPr>
              <a:t>Biến câu hỏi thành video mới.</a:t>
            </a:r>
          </a:p>
        </p:txBody>
      </p:sp>
      <p:sp>
        <p:nvSpPr>
          <p:cNvPr id="22" name="Rounded Rectangle 21"/>
          <p:cNvSpPr/>
          <p:nvPr/>
        </p:nvSpPr>
        <p:spPr>
          <a:xfrm>
            <a:off x="6217920" y="3566160"/>
            <a:ext cx="5257800" cy="164592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46520" y="3794760"/>
            <a:ext cx="438912" cy="438912"/>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4</a:t>
            </a:r>
          </a:p>
        </p:txBody>
      </p:sp>
      <p:sp>
        <p:nvSpPr>
          <p:cNvPr id="24" name="TextBox 23"/>
          <p:cNvSpPr txBox="1"/>
          <p:nvPr/>
        </p:nvSpPr>
        <p:spPr>
          <a:xfrm>
            <a:off x="7086600" y="3767328"/>
            <a:ext cx="4069080" cy="566928"/>
          </a:xfrm>
          <a:prstGeom prst="rect">
            <a:avLst/>
          </a:prstGeom>
          <a:noFill/>
        </p:spPr>
        <p:txBody>
          <a:bodyPr wrap="square" lIns="18288" tIns="18288" rIns="18288" bIns="18288">
            <a:normAutofit/>
          </a:bodyPr>
          <a:lstStyle/>
          <a:p>
            <a:pPr algn="l"/>
            <a:r>
              <a:rPr sz="1350" b="1" i="0">
                <a:solidFill>
                  <a:srgbClr val="08182B"/>
                </a:solidFill>
                <a:latin typeface="Aptos"/>
              </a:rPr>
              <a:t>BƯỚC NÀO RƠI NHIỀU NHẤT?</a:t>
            </a:r>
          </a:p>
        </p:txBody>
      </p:sp>
      <p:sp>
        <p:nvSpPr>
          <p:cNvPr id="25" name="TextBox 24"/>
          <p:cNvSpPr txBox="1"/>
          <p:nvPr/>
        </p:nvSpPr>
        <p:spPr>
          <a:xfrm>
            <a:off x="7086600" y="4507992"/>
            <a:ext cx="4069080" cy="365760"/>
          </a:xfrm>
          <a:prstGeom prst="rect">
            <a:avLst/>
          </a:prstGeom>
          <a:noFill/>
        </p:spPr>
        <p:txBody>
          <a:bodyPr wrap="square" lIns="18288" tIns="18288" rIns="18288" bIns="18288">
            <a:normAutofit/>
          </a:bodyPr>
          <a:lstStyle/>
          <a:p>
            <a:pPr algn="l"/>
            <a:r>
              <a:rPr sz="1250" b="0" i="0">
                <a:solidFill>
                  <a:srgbClr val="1F2D3D"/>
                </a:solidFill>
                <a:latin typeface="Aptos"/>
              </a:rPr>
              <a:t>Đơn giản hóa phễu.</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SẢN XUẤT HÀNG LOẠT</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1 ý tưởng → 5 góc nhìn → 3 định dạng</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27</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85800" y="1600200"/>
            <a:ext cx="2064715"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 y="1719072"/>
            <a:ext cx="1991563" cy="475488"/>
          </a:xfrm>
          <a:prstGeom prst="rect">
            <a:avLst/>
          </a:prstGeom>
          <a:noFill/>
        </p:spPr>
        <p:txBody>
          <a:bodyPr wrap="square" lIns="18288" tIns="18288" rIns="18288" bIns="18288">
            <a:normAutofit/>
          </a:bodyPr>
          <a:lstStyle/>
          <a:p>
            <a:pPr algn="ctr"/>
            <a:r>
              <a:rPr sz="1120" b="1" i="0">
                <a:solidFill>
                  <a:srgbClr val="FFFFFF"/>
                </a:solidFill>
                <a:latin typeface="Aptos"/>
              </a:rPr>
              <a:t>1 Ý TƯỞNG</a:t>
            </a:r>
          </a:p>
        </p:txBody>
      </p:sp>
      <p:sp>
        <p:nvSpPr>
          <p:cNvPr id="12" name="Rounded Rectangle 11"/>
          <p:cNvSpPr/>
          <p:nvPr/>
        </p:nvSpPr>
        <p:spPr>
          <a:xfrm>
            <a:off x="2878531" y="1600200"/>
            <a:ext cx="2064715"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15107" y="1719072"/>
            <a:ext cx="1991563" cy="475488"/>
          </a:xfrm>
          <a:prstGeom prst="rect">
            <a:avLst/>
          </a:prstGeom>
          <a:noFill/>
        </p:spPr>
        <p:txBody>
          <a:bodyPr wrap="square" lIns="18288" tIns="18288" rIns="18288" bIns="18288">
            <a:normAutofit/>
          </a:bodyPr>
          <a:lstStyle/>
          <a:p>
            <a:pPr algn="ctr"/>
            <a:r>
              <a:rPr sz="1120" b="1" i="0">
                <a:solidFill>
                  <a:srgbClr val="08182B"/>
                </a:solidFill>
                <a:latin typeface="Aptos"/>
              </a:rPr>
              <a:t>5 GÓC NHÌN</a:t>
            </a:r>
          </a:p>
        </p:txBody>
      </p:sp>
      <p:sp>
        <p:nvSpPr>
          <p:cNvPr id="14" name="Rounded Rectangle 13"/>
          <p:cNvSpPr/>
          <p:nvPr/>
        </p:nvSpPr>
        <p:spPr>
          <a:xfrm>
            <a:off x="5071262" y="1600200"/>
            <a:ext cx="2064715"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07838" y="1719072"/>
            <a:ext cx="1991563" cy="475488"/>
          </a:xfrm>
          <a:prstGeom prst="rect">
            <a:avLst/>
          </a:prstGeom>
          <a:noFill/>
        </p:spPr>
        <p:txBody>
          <a:bodyPr wrap="square" lIns="18288" tIns="18288" rIns="18288" bIns="18288">
            <a:normAutofit/>
          </a:bodyPr>
          <a:lstStyle/>
          <a:p>
            <a:pPr algn="ctr"/>
            <a:r>
              <a:rPr sz="1120" b="1" i="0">
                <a:solidFill>
                  <a:srgbClr val="08182B"/>
                </a:solidFill>
                <a:latin typeface="Aptos"/>
              </a:rPr>
              <a:t>3 ĐỊNH DẠNG</a:t>
            </a:r>
          </a:p>
        </p:txBody>
      </p:sp>
      <p:sp>
        <p:nvSpPr>
          <p:cNvPr id="16" name="Rounded Rectangle 15"/>
          <p:cNvSpPr/>
          <p:nvPr/>
        </p:nvSpPr>
        <p:spPr>
          <a:xfrm>
            <a:off x="7263993" y="1600200"/>
            <a:ext cx="2064715"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00569" y="1719072"/>
            <a:ext cx="1991563" cy="475488"/>
          </a:xfrm>
          <a:prstGeom prst="rect">
            <a:avLst/>
          </a:prstGeom>
          <a:noFill/>
        </p:spPr>
        <p:txBody>
          <a:bodyPr wrap="square" lIns="18288" tIns="18288" rIns="18288" bIns="18288">
            <a:normAutofit/>
          </a:bodyPr>
          <a:lstStyle/>
          <a:p>
            <a:pPr algn="ctr"/>
            <a:r>
              <a:rPr sz="1120" b="1" i="0">
                <a:solidFill>
                  <a:srgbClr val="08182B"/>
                </a:solidFill>
                <a:latin typeface="Aptos"/>
              </a:rPr>
              <a:t>NHIỀU HOOK</a:t>
            </a:r>
          </a:p>
        </p:txBody>
      </p:sp>
      <p:sp>
        <p:nvSpPr>
          <p:cNvPr id="18" name="Rounded Rectangle 17"/>
          <p:cNvSpPr/>
          <p:nvPr/>
        </p:nvSpPr>
        <p:spPr>
          <a:xfrm>
            <a:off x="9456724" y="1600200"/>
            <a:ext cx="2064715"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93300" y="1719072"/>
            <a:ext cx="1991563" cy="475488"/>
          </a:xfrm>
          <a:prstGeom prst="rect">
            <a:avLst/>
          </a:prstGeom>
          <a:noFill/>
        </p:spPr>
        <p:txBody>
          <a:bodyPr wrap="square" lIns="18288" tIns="18288" rIns="18288" bIns="18288">
            <a:normAutofit/>
          </a:bodyPr>
          <a:lstStyle/>
          <a:p>
            <a:pPr algn="ctr"/>
            <a:r>
              <a:rPr sz="1120" b="1" i="0">
                <a:solidFill>
                  <a:srgbClr val="FFFFFF"/>
                </a:solidFill>
                <a:latin typeface="Aptos"/>
              </a:rPr>
              <a:t>ĐĂNG &amp; ĐO</a:t>
            </a:r>
          </a:p>
        </p:txBody>
      </p:sp>
      <p:sp>
        <p:nvSpPr>
          <p:cNvPr id="20" name="Rounded Rectangle 19"/>
          <p:cNvSpPr/>
          <p:nvPr/>
        </p:nvSpPr>
        <p:spPr>
          <a:xfrm>
            <a:off x="731520" y="2743200"/>
            <a:ext cx="3246120" cy="2011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2743200"/>
            <a:ext cx="64008" cy="20116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32688" y="2926080"/>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23" name="TextBox 22"/>
          <p:cNvSpPr txBox="1"/>
          <p:nvPr/>
        </p:nvSpPr>
        <p:spPr>
          <a:xfrm>
            <a:off x="1426464" y="2907792"/>
            <a:ext cx="2322576" cy="347472"/>
          </a:xfrm>
          <a:prstGeom prst="rect">
            <a:avLst/>
          </a:prstGeom>
          <a:noFill/>
        </p:spPr>
        <p:txBody>
          <a:bodyPr wrap="square" lIns="18288" tIns="18288" rIns="18288" bIns="18288">
            <a:normAutofit/>
          </a:bodyPr>
          <a:lstStyle/>
          <a:p>
            <a:pPr algn="l"/>
            <a:r>
              <a:rPr sz="1500" b="1" i="0">
                <a:solidFill>
                  <a:srgbClr val="08182B"/>
                </a:solidFill>
                <a:latin typeface="Aptos"/>
              </a:rPr>
              <a:t>5 GÓC NHÌN</a:t>
            </a:r>
          </a:p>
        </p:txBody>
      </p:sp>
      <p:sp>
        <p:nvSpPr>
          <p:cNvPr id="24" name="TextBox 23"/>
          <p:cNvSpPr txBox="1"/>
          <p:nvPr/>
        </p:nvSpPr>
        <p:spPr>
          <a:xfrm>
            <a:off x="1426464" y="3383280"/>
            <a:ext cx="2295144" cy="1225296"/>
          </a:xfrm>
          <a:prstGeom prst="rect">
            <a:avLst/>
          </a:prstGeom>
          <a:noFill/>
        </p:spPr>
        <p:txBody>
          <a:bodyPr wrap="square" lIns="18288" tIns="18288" rIns="18288" bIns="18288">
            <a:normAutofit/>
          </a:bodyPr>
          <a:lstStyle/>
          <a:p>
            <a:pPr algn="l"/>
            <a:r>
              <a:rPr sz="1300" b="0" i="0">
                <a:solidFill>
                  <a:srgbClr val="1F2D3D"/>
                </a:solidFill>
                <a:latin typeface="Aptos"/>
              </a:rPr>
              <a:t>Nỗi đau • Sai lầm • Góc nhìn • Hướng dẫn • Câu chuyện</a:t>
            </a:r>
          </a:p>
        </p:txBody>
      </p:sp>
      <p:sp>
        <p:nvSpPr>
          <p:cNvPr id="25" name="Rounded Rectangle 24"/>
          <p:cNvSpPr/>
          <p:nvPr/>
        </p:nvSpPr>
        <p:spPr>
          <a:xfrm>
            <a:off x="4480560" y="2743200"/>
            <a:ext cx="3246120" cy="2011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80560" y="2743200"/>
            <a:ext cx="64008" cy="20116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681728" y="2926080"/>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28" name="TextBox 27"/>
          <p:cNvSpPr txBox="1"/>
          <p:nvPr/>
        </p:nvSpPr>
        <p:spPr>
          <a:xfrm>
            <a:off x="5175504" y="2907792"/>
            <a:ext cx="2322576" cy="347472"/>
          </a:xfrm>
          <a:prstGeom prst="rect">
            <a:avLst/>
          </a:prstGeom>
          <a:noFill/>
        </p:spPr>
        <p:txBody>
          <a:bodyPr wrap="square" lIns="18288" tIns="18288" rIns="18288" bIns="18288">
            <a:normAutofit/>
          </a:bodyPr>
          <a:lstStyle/>
          <a:p>
            <a:pPr algn="l"/>
            <a:r>
              <a:rPr sz="1500" b="1" i="0">
                <a:solidFill>
                  <a:srgbClr val="08182B"/>
                </a:solidFill>
                <a:latin typeface="Aptos"/>
              </a:rPr>
              <a:t>3 ĐỊNH DẠNG</a:t>
            </a:r>
          </a:p>
        </p:txBody>
      </p:sp>
      <p:sp>
        <p:nvSpPr>
          <p:cNvPr id="29" name="TextBox 28"/>
          <p:cNvSpPr txBox="1"/>
          <p:nvPr/>
        </p:nvSpPr>
        <p:spPr>
          <a:xfrm>
            <a:off x="5175504" y="3383280"/>
            <a:ext cx="2295144" cy="1225296"/>
          </a:xfrm>
          <a:prstGeom prst="rect">
            <a:avLst/>
          </a:prstGeom>
          <a:noFill/>
        </p:spPr>
        <p:txBody>
          <a:bodyPr wrap="square" lIns="18288" tIns="18288" rIns="18288" bIns="18288">
            <a:normAutofit/>
          </a:bodyPr>
          <a:lstStyle/>
          <a:p>
            <a:pPr algn="l"/>
            <a:r>
              <a:rPr sz="1300" b="0" i="0">
                <a:solidFill>
                  <a:srgbClr val="1F2D3D"/>
                </a:solidFill>
                <a:latin typeface="Aptos"/>
              </a:rPr>
              <a:t>Nói trực diện • B-roll + voice • Text / checklist</a:t>
            </a:r>
          </a:p>
        </p:txBody>
      </p:sp>
      <p:sp>
        <p:nvSpPr>
          <p:cNvPr id="30" name="Rounded Rectangle 29"/>
          <p:cNvSpPr/>
          <p:nvPr/>
        </p:nvSpPr>
        <p:spPr>
          <a:xfrm>
            <a:off x="8229600" y="2743200"/>
            <a:ext cx="3246120" cy="20116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600" y="2743200"/>
            <a:ext cx="64008" cy="20116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430768" y="2926080"/>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33" name="TextBox 32"/>
          <p:cNvSpPr txBox="1"/>
          <p:nvPr/>
        </p:nvSpPr>
        <p:spPr>
          <a:xfrm>
            <a:off x="8924544" y="2907792"/>
            <a:ext cx="2322576" cy="347472"/>
          </a:xfrm>
          <a:prstGeom prst="rect">
            <a:avLst/>
          </a:prstGeom>
          <a:noFill/>
        </p:spPr>
        <p:txBody>
          <a:bodyPr wrap="square" lIns="18288" tIns="18288" rIns="18288" bIns="18288">
            <a:normAutofit/>
          </a:bodyPr>
          <a:lstStyle/>
          <a:p>
            <a:pPr algn="l"/>
            <a:r>
              <a:rPr sz="1500" b="1" i="0">
                <a:solidFill>
                  <a:srgbClr val="08182B"/>
                </a:solidFill>
                <a:latin typeface="Aptos"/>
              </a:rPr>
              <a:t>VÒNG LẶP</a:t>
            </a:r>
          </a:p>
        </p:txBody>
      </p:sp>
      <p:sp>
        <p:nvSpPr>
          <p:cNvPr id="34" name="TextBox 33"/>
          <p:cNvSpPr txBox="1"/>
          <p:nvPr/>
        </p:nvSpPr>
        <p:spPr>
          <a:xfrm>
            <a:off x="8924544" y="3383280"/>
            <a:ext cx="2295144" cy="1225296"/>
          </a:xfrm>
          <a:prstGeom prst="rect">
            <a:avLst/>
          </a:prstGeom>
          <a:noFill/>
        </p:spPr>
        <p:txBody>
          <a:bodyPr wrap="square" lIns="18288" tIns="18288" rIns="18288" bIns="18288">
            <a:normAutofit/>
          </a:bodyPr>
          <a:lstStyle/>
          <a:p>
            <a:pPr algn="l"/>
            <a:r>
              <a:rPr sz="1300" b="0" i="0">
                <a:solidFill>
                  <a:srgbClr val="1F2D3D"/>
                </a:solidFill>
                <a:latin typeface="Aptos"/>
              </a:rPr>
              <a:t>Đăng → xem dữ liệu → giữ cái hiệu quả → bỏ cái không hiệu quả</a:t>
            </a:r>
          </a:p>
        </p:txBody>
      </p:sp>
      <p:sp>
        <p:nvSpPr>
          <p:cNvPr id="35" name="TextBox 34"/>
          <p:cNvSpPr txBox="1"/>
          <p:nvPr/>
        </p:nvSpPr>
        <p:spPr>
          <a:xfrm>
            <a:off x="1051560" y="5303520"/>
            <a:ext cx="9966960" cy="347472"/>
          </a:xfrm>
          <a:prstGeom prst="rect">
            <a:avLst/>
          </a:prstGeom>
          <a:noFill/>
        </p:spPr>
        <p:txBody>
          <a:bodyPr wrap="square" lIns="18288" tIns="18288" rIns="18288" bIns="18288">
            <a:normAutofit/>
          </a:bodyPr>
          <a:lstStyle/>
          <a:p>
            <a:pPr algn="ctr"/>
            <a:r>
              <a:rPr sz="1500" b="1" i="0">
                <a:solidFill>
                  <a:srgbClr val="08182B"/>
                </a:solidFill>
                <a:latin typeface="Aptos"/>
              </a:rPr>
              <a:t>NHÂN BẢN QUY TRÌNH, KHÔNG NHÂN BẢN SỰ NHÀM CHÁN.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KẾ HOẠCH 7 NGÀY</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Lộ trình triển khai ngay sau buổi học</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28</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941832"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1" name="TextBox 10"/>
          <p:cNvSpPr txBox="1"/>
          <p:nvPr/>
        </p:nvSpPr>
        <p:spPr>
          <a:xfrm>
            <a:off x="502920" y="2267712"/>
            <a:ext cx="1508760" cy="274320"/>
          </a:xfrm>
          <a:prstGeom prst="rect">
            <a:avLst/>
          </a:prstGeom>
          <a:noFill/>
        </p:spPr>
        <p:txBody>
          <a:bodyPr wrap="square" lIns="18288" tIns="18288" rIns="18288" bIns="18288">
            <a:normAutofit/>
          </a:bodyPr>
          <a:lstStyle/>
          <a:p>
            <a:pPr algn="ctr"/>
            <a:r>
              <a:rPr sz="980" b="1" i="0">
                <a:solidFill>
                  <a:srgbClr val="D4AF37"/>
                </a:solidFill>
                <a:latin typeface="Aptos"/>
              </a:rPr>
              <a:t>DAY 1</a:t>
            </a:r>
          </a:p>
        </p:txBody>
      </p:sp>
      <p:sp>
        <p:nvSpPr>
          <p:cNvPr id="12" name="TextBox 11"/>
          <p:cNvSpPr txBox="1"/>
          <p:nvPr/>
        </p:nvSpPr>
        <p:spPr>
          <a:xfrm>
            <a:off x="502920" y="2697480"/>
            <a:ext cx="1508760" cy="960120"/>
          </a:xfrm>
          <a:prstGeom prst="rect">
            <a:avLst/>
          </a:prstGeom>
          <a:noFill/>
        </p:spPr>
        <p:txBody>
          <a:bodyPr wrap="square" lIns="18288" tIns="18288" rIns="18288" bIns="18288">
            <a:normAutofit/>
          </a:bodyPr>
          <a:lstStyle/>
          <a:p>
            <a:pPr algn="ctr"/>
            <a:r>
              <a:rPr sz="1080" b="1" i="0">
                <a:solidFill>
                  <a:srgbClr val="1F2D3D"/>
                </a:solidFill>
                <a:latin typeface="Aptos"/>
              </a:rPr>
              <a:t>Chân dung + định vị</a:t>
            </a:r>
          </a:p>
        </p:txBody>
      </p:sp>
      <p:sp>
        <p:nvSpPr>
          <p:cNvPr id="13" name="Oval 12"/>
          <p:cNvSpPr/>
          <p:nvPr/>
        </p:nvSpPr>
        <p:spPr>
          <a:xfrm>
            <a:off x="2606040"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14" name="TextBox 13"/>
          <p:cNvSpPr txBox="1"/>
          <p:nvPr/>
        </p:nvSpPr>
        <p:spPr>
          <a:xfrm>
            <a:off x="2167128" y="2267712"/>
            <a:ext cx="1508760" cy="274320"/>
          </a:xfrm>
          <a:prstGeom prst="rect">
            <a:avLst/>
          </a:prstGeom>
          <a:noFill/>
        </p:spPr>
        <p:txBody>
          <a:bodyPr wrap="square" lIns="18288" tIns="18288" rIns="18288" bIns="18288">
            <a:normAutofit/>
          </a:bodyPr>
          <a:lstStyle/>
          <a:p>
            <a:pPr algn="ctr"/>
            <a:r>
              <a:rPr sz="980" b="1" i="0">
                <a:solidFill>
                  <a:srgbClr val="0F5FA6"/>
                </a:solidFill>
                <a:latin typeface="Aptos"/>
              </a:rPr>
              <a:t>DAY 2</a:t>
            </a:r>
          </a:p>
        </p:txBody>
      </p:sp>
      <p:sp>
        <p:nvSpPr>
          <p:cNvPr id="15" name="TextBox 14"/>
          <p:cNvSpPr txBox="1"/>
          <p:nvPr/>
        </p:nvSpPr>
        <p:spPr>
          <a:xfrm>
            <a:off x="2167128" y="2697480"/>
            <a:ext cx="1508760" cy="960120"/>
          </a:xfrm>
          <a:prstGeom prst="rect">
            <a:avLst/>
          </a:prstGeom>
          <a:noFill/>
        </p:spPr>
        <p:txBody>
          <a:bodyPr wrap="square" lIns="18288" tIns="18288" rIns="18288" bIns="18288">
            <a:normAutofit/>
          </a:bodyPr>
          <a:lstStyle/>
          <a:p>
            <a:pPr algn="ctr"/>
            <a:r>
              <a:rPr sz="1080" b="1" i="0">
                <a:solidFill>
                  <a:srgbClr val="1F2D3D"/>
                </a:solidFill>
                <a:latin typeface="Aptos"/>
              </a:rPr>
              <a:t>3 trụ cột + 20 ý tưởng</a:t>
            </a:r>
          </a:p>
        </p:txBody>
      </p:sp>
      <p:sp>
        <p:nvSpPr>
          <p:cNvPr id="16" name="Oval 15"/>
          <p:cNvSpPr/>
          <p:nvPr/>
        </p:nvSpPr>
        <p:spPr>
          <a:xfrm>
            <a:off x="4270248"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17" name="TextBox 16"/>
          <p:cNvSpPr txBox="1"/>
          <p:nvPr/>
        </p:nvSpPr>
        <p:spPr>
          <a:xfrm>
            <a:off x="3831336" y="2267712"/>
            <a:ext cx="1508760" cy="274320"/>
          </a:xfrm>
          <a:prstGeom prst="rect">
            <a:avLst/>
          </a:prstGeom>
          <a:noFill/>
        </p:spPr>
        <p:txBody>
          <a:bodyPr wrap="square" lIns="18288" tIns="18288" rIns="18288" bIns="18288">
            <a:normAutofit/>
          </a:bodyPr>
          <a:lstStyle/>
          <a:p>
            <a:pPr algn="ctr"/>
            <a:r>
              <a:rPr sz="980" b="1" i="0">
                <a:solidFill>
                  <a:srgbClr val="D4AF37"/>
                </a:solidFill>
                <a:latin typeface="Aptos"/>
              </a:rPr>
              <a:t>DAY 3</a:t>
            </a:r>
          </a:p>
        </p:txBody>
      </p:sp>
      <p:sp>
        <p:nvSpPr>
          <p:cNvPr id="18" name="TextBox 17"/>
          <p:cNvSpPr txBox="1"/>
          <p:nvPr/>
        </p:nvSpPr>
        <p:spPr>
          <a:xfrm>
            <a:off x="3831336" y="2697480"/>
            <a:ext cx="1508760" cy="960120"/>
          </a:xfrm>
          <a:prstGeom prst="rect">
            <a:avLst/>
          </a:prstGeom>
          <a:noFill/>
        </p:spPr>
        <p:txBody>
          <a:bodyPr wrap="square" lIns="18288" tIns="18288" rIns="18288" bIns="18288">
            <a:normAutofit/>
          </a:bodyPr>
          <a:lstStyle/>
          <a:p>
            <a:pPr algn="ctr"/>
            <a:r>
              <a:rPr sz="1080" b="1" i="0">
                <a:solidFill>
                  <a:srgbClr val="1F2D3D"/>
                </a:solidFill>
                <a:latin typeface="Aptos"/>
              </a:rPr>
              <a:t>Quay 5 video</a:t>
            </a:r>
          </a:p>
        </p:txBody>
      </p:sp>
      <p:sp>
        <p:nvSpPr>
          <p:cNvPr id="19" name="Oval 18"/>
          <p:cNvSpPr/>
          <p:nvPr/>
        </p:nvSpPr>
        <p:spPr>
          <a:xfrm>
            <a:off x="5934456"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4</a:t>
            </a:r>
          </a:p>
        </p:txBody>
      </p:sp>
      <p:sp>
        <p:nvSpPr>
          <p:cNvPr id="20" name="TextBox 19"/>
          <p:cNvSpPr txBox="1"/>
          <p:nvPr/>
        </p:nvSpPr>
        <p:spPr>
          <a:xfrm>
            <a:off x="5495544" y="2267712"/>
            <a:ext cx="1508760" cy="274320"/>
          </a:xfrm>
          <a:prstGeom prst="rect">
            <a:avLst/>
          </a:prstGeom>
          <a:noFill/>
        </p:spPr>
        <p:txBody>
          <a:bodyPr wrap="square" lIns="18288" tIns="18288" rIns="18288" bIns="18288">
            <a:normAutofit/>
          </a:bodyPr>
          <a:lstStyle/>
          <a:p>
            <a:pPr algn="ctr"/>
            <a:r>
              <a:rPr sz="980" b="1" i="0">
                <a:solidFill>
                  <a:srgbClr val="0F5FA6"/>
                </a:solidFill>
                <a:latin typeface="Aptos"/>
              </a:rPr>
              <a:t>DAY 4</a:t>
            </a:r>
          </a:p>
        </p:txBody>
      </p:sp>
      <p:sp>
        <p:nvSpPr>
          <p:cNvPr id="21" name="TextBox 20"/>
          <p:cNvSpPr txBox="1"/>
          <p:nvPr/>
        </p:nvSpPr>
        <p:spPr>
          <a:xfrm>
            <a:off x="5495544" y="2697480"/>
            <a:ext cx="1508760" cy="960120"/>
          </a:xfrm>
          <a:prstGeom prst="rect">
            <a:avLst/>
          </a:prstGeom>
          <a:noFill/>
        </p:spPr>
        <p:txBody>
          <a:bodyPr wrap="square" lIns="18288" tIns="18288" rIns="18288" bIns="18288">
            <a:normAutofit/>
          </a:bodyPr>
          <a:lstStyle/>
          <a:p>
            <a:pPr algn="ctr"/>
            <a:r>
              <a:rPr sz="1080" b="1" i="0" dirty="0" err="1">
                <a:solidFill>
                  <a:srgbClr val="1F2D3D"/>
                </a:solidFill>
                <a:latin typeface="Aptos"/>
              </a:rPr>
              <a:t>Đăng</a:t>
            </a:r>
            <a:r>
              <a:rPr sz="1080" b="1" i="0" dirty="0">
                <a:solidFill>
                  <a:srgbClr val="1F2D3D"/>
                </a:solidFill>
                <a:latin typeface="Aptos"/>
              </a:rPr>
              <a:t> 2 video + CTA</a:t>
            </a:r>
          </a:p>
        </p:txBody>
      </p:sp>
      <p:sp>
        <p:nvSpPr>
          <p:cNvPr id="22" name="Oval 21"/>
          <p:cNvSpPr/>
          <p:nvPr/>
        </p:nvSpPr>
        <p:spPr>
          <a:xfrm>
            <a:off x="7598664"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5</a:t>
            </a:r>
          </a:p>
        </p:txBody>
      </p:sp>
      <p:sp>
        <p:nvSpPr>
          <p:cNvPr id="23" name="TextBox 22"/>
          <p:cNvSpPr txBox="1"/>
          <p:nvPr/>
        </p:nvSpPr>
        <p:spPr>
          <a:xfrm>
            <a:off x="7159752" y="2267712"/>
            <a:ext cx="1508760" cy="274320"/>
          </a:xfrm>
          <a:prstGeom prst="rect">
            <a:avLst/>
          </a:prstGeom>
          <a:noFill/>
        </p:spPr>
        <p:txBody>
          <a:bodyPr wrap="square" lIns="18288" tIns="18288" rIns="18288" bIns="18288">
            <a:normAutofit/>
          </a:bodyPr>
          <a:lstStyle/>
          <a:p>
            <a:pPr algn="ctr"/>
            <a:r>
              <a:rPr sz="980" b="1" i="0">
                <a:solidFill>
                  <a:srgbClr val="D4AF37"/>
                </a:solidFill>
                <a:latin typeface="Aptos"/>
              </a:rPr>
              <a:t>DAY 5</a:t>
            </a:r>
          </a:p>
        </p:txBody>
      </p:sp>
      <p:sp>
        <p:nvSpPr>
          <p:cNvPr id="24" name="TextBox 23"/>
          <p:cNvSpPr txBox="1"/>
          <p:nvPr/>
        </p:nvSpPr>
        <p:spPr>
          <a:xfrm>
            <a:off x="7159752" y="2697480"/>
            <a:ext cx="1508760" cy="960120"/>
          </a:xfrm>
          <a:prstGeom prst="rect">
            <a:avLst/>
          </a:prstGeom>
          <a:noFill/>
        </p:spPr>
        <p:txBody>
          <a:bodyPr wrap="square" lIns="18288" tIns="18288" rIns="18288" bIns="18288">
            <a:normAutofit/>
          </a:bodyPr>
          <a:lstStyle/>
          <a:p>
            <a:pPr algn="ctr"/>
            <a:r>
              <a:rPr sz="1080" b="1" i="0" dirty="0" err="1">
                <a:solidFill>
                  <a:srgbClr val="1F2D3D"/>
                </a:solidFill>
                <a:latin typeface="Aptos"/>
              </a:rPr>
              <a:t>Mở</a:t>
            </a:r>
            <a:r>
              <a:rPr sz="1080" b="1" i="0" dirty="0">
                <a:solidFill>
                  <a:srgbClr val="1F2D3D"/>
                </a:solidFill>
                <a:latin typeface="Aptos"/>
              </a:rPr>
              <a:t> </a:t>
            </a:r>
            <a:r>
              <a:rPr sz="1080" b="1" i="0" dirty="0" err="1">
                <a:solidFill>
                  <a:srgbClr val="1F2D3D"/>
                </a:solidFill>
                <a:latin typeface="Aptos"/>
              </a:rPr>
              <a:t>tài</a:t>
            </a:r>
            <a:r>
              <a:rPr sz="1080" b="1" i="0" dirty="0">
                <a:solidFill>
                  <a:srgbClr val="1F2D3D"/>
                </a:solidFill>
                <a:latin typeface="Aptos"/>
              </a:rPr>
              <a:t> </a:t>
            </a:r>
            <a:r>
              <a:rPr sz="1080" b="1" i="0" dirty="0" err="1">
                <a:solidFill>
                  <a:srgbClr val="1F2D3D"/>
                </a:solidFill>
                <a:latin typeface="Aptos"/>
              </a:rPr>
              <a:t>nguyên</a:t>
            </a:r>
            <a:r>
              <a:rPr sz="1080" b="1" i="0" dirty="0">
                <a:solidFill>
                  <a:srgbClr val="1F2D3D"/>
                </a:solidFill>
                <a:latin typeface="Aptos"/>
              </a:rPr>
              <a:t> / </a:t>
            </a:r>
            <a:r>
              <a:rPr sz="1080" b="1" i="0" dirty="0" err="1">
                <a:solidFill>
                  <a:srgbClr val="1F2D3D"/>
                </a:solidFill>
                <a:latin typeface="Aptos"/>
              </a:rPr>
              <a:t>thử</a:t>
            </a:r>
            <a:r>
              <a:rPr sz="1080" b="1" i="0" dirty="0">
                <a:solidFill>
                  <a:srgbClr val="1F2D3D"/>
                </a:solidFill>
                <a:latin typeface="Aptos"/>
              </a:rPr>
              <a:t> </a:t>
            </a:r>
            <a:r>
              <a:rPr sz="1080" b="1" i="0" dirty="0" err="1">
                <a:solidFill>
                  <a:srgbClr val="1F2D3D"/>
                </a:solidFill>
                <a:latin typeface="Aptos"/>
              </a:rPr>
              <a:t>thách</a:t>
            </a:r>
            <a:endParaRPr sz="1080" b="1" i="0" dirty="0">
              <a:solidFill>
                <a:srgbClr val="1F2D3D"/>
              </a:solidFill>
              <a:latin typeface="Aptos"/>
            </a:endParaRPr>
          </a:p>
        </p:txBody>
      </p:sp>
      <p:sp>
        <p:nvSpPr>
          <p:cNvPr id="25" name="Oval 24"/>
          <p:cNvSpPr/>
          <p:nvPr/>
        </p:nvSpPr>
        <p:spPr>
          <a:xfrm>
            <a:off x="9262872" y="1508760"/>
            <a:ext cx="594360" cy="59436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6</a:t>
            </a:r>
          </a:p>
        </p:txBody>
      </p:sp>
      <p:sp>
        <p:nvSpPr>
          <p:cNvPr id="26" name="TextBox 25"/>
          <p:cNvSpPr txBox="1"/>
          <p:nvPr/>
        </p:nvSpPr>
        <p:spPr>
          <a:xfrm>
            <a:off x="8823960" y="2267712"/>
            <a:ext cx="1508760" cy="274320"/>
          </a:xfrm>
          <a:prstGeom prst="rect">
            <a:avLst/>
          </a:prstGeom>
          <a:noFill/>
        </p:spPr>
        <p:txBody>
          <a:bodyPr wrap="square" lIns="18288" tIns="18288" rIns="18288" bIns="18288">
            <a:normAutofit/>
          </a:bodyPr>
          <a:lstStyle/>
          <a:p>
            <a:pPr algn="ctr"/>
            <a:r>
              <a:rPr sz="980" b="1" i="0">
                <a:solidFill>
                  <a:srgbClr val="0F5FA6"/>
                </a:solidFill>
                <a:latin typeface="Aptos"/>
              </a:rPr>
              <a:t>DAY 6</a:t>
            </a:r>
          </a:p>
        </p:txBody>
      </p:sp>
      <p:sp>
        <p:nvSpPr>
          <p:cNvPr id="27" name="TextBox 26"/>
          <p:cNvSpPr txBox="1"/>
          <p:nvPr/>
        </p:nvSpPr>
        <p:spPr>
          <a:xfrm>
            <a:off x="8823960" y="2697480"/>
            <a:ext cx="1508760" cy="960120"/>
          </a:xfrm>
          <a:prstGeom prst="rect">
            <a:avLst/>
          </a:prstGeom>
          <a:noFill/>
        </p:spPr>
        <p:txBody>
          <a:bodyPr wrap="square" lIns="18288" tIns="18288" rIns="18288" bIns="18288">
            <a:normAutofit/>
          </a:bodyPr>
          <a:lstStyle/>
          <a:p>
            <a:pPr algn="ctr"/>
            <a:r>
              <a:rPr sz="1080" b="1" i="0">
                <a:solidFill>
                  <a:srgbClr val="1F2D3D"/>
                </a:solidFill>
                <a:latin typeface="Aptos"/>
              </a:rPr>
              <a:t>Theo dõi tín hiệu + phản hồi</a:t>
            </a:r>
          </a:p>
        </p:txBody>
      </p:sp>
      <p:sp>
        <p:nvSpPr>
          <p:cNvPr id="28" name="Oval 27"/>
          <p:cNvSpPr/>
          <p:nvPr/>
        </p:nvSpPr>
        <p:spPr>
          <a:xfrm>
            <a:off x="10927080" y="1508760"/>
            <a:ext cx="594360" cy="594360"/>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7</a:t>
            </a:r>
          </a:p>
        </p:txBody>
      </p:sp>
      <p:sp>
        <p:nvSpPr>
          <p:cNvPr id="29" name="TextBox 28"/>
          <p:cNvSpPr txBox="1"/>
          <p:nvPr/>
        </p:nvSpPr>
        <p:spPr>
          <a:xfrm>
            <a:off x="10488168" y="2267712"/>
            <a:ext cx="1508760" cy="274320"/>
          </a:xfrm>
          <a:prstGeom prst="rect">
            <a:avLst/>
          </a:prstGeom>
          <a:noFill/>
        </p:spPr>
        <p:txBody>
          <a:bodyPr wrap="square" lIns="18288" tIns="18288" rIns="18288" bIns="18288">
            <a:normAutofit/>
          </a:bodyPr>
          <a:lstStyle/>
          <a:p>
            <a:pPr algn="ctr"/>
            <a:r>
              <a:rPr sz="980" b="1" i="0">
                <a:solidFill>
                  <a:srgbClr val="D4AF37"/>
                </a:solidFill>
                <a:latin typeface="Aptos"/>
              </a:rPr>
              <a:t>DAY 7</a:t>
            </a:r>
          </a:p>
        </p:txBody>
      </p:sp>
      <p:sp>
        <p:nvSpPr>
          <p:cNvPr id="30" name="TextBox 29"/>
          <p:cNvSpPr txBox="1"/>
          <p:nvPr/>
        </p:nvSpPr>
        <p:spPr>
          <a:xfrm>
            <a:off x="10488168" y="2697480"/>
            <a:ext cx="1508760" cy="960120"/>
          </a:xfrm>
          <a:prstGeom prst="rect">
            <a:avLst/>
          </a:prstGeom>
          <a:noFill/>
        </p:spPr>
        <p:txBody>
          <a:bodyPr wrap="square" lIns="18288" tIns="18288" rIns="18288" bIns="18288">
            <a:normAutofit/>
          </a:bodyPr>
          <a:lstStyle/>
          <a:p>
            <a:pPr algn="ctr"/>
            <a:r>
              <a:rPr sz="1080" b="1" i="0">
                <a:solidFill>
                  <a:srgbClr val="1F2D3D"/>
                </a:solidFill>
                <a:latin typeface="Aptos"/>
              </a:rPr>
              <a:t>Đánh giá + nhân bản</a:t>
            </a:r>
          </a:p>
        </p:txBody>
      </p:sp>
      <p:sp>
        <p:nvSpPr>
          <p:cNvPr id="31" name="TextBox 30"/>
          <p:cNvSpPr txBox="1"/>
          <p:nvPr/>
        </p:nvSpPr>
        <p:spPr>
          <a:xfrm>
            <a:off x="1005840" y="4800600"/>
            <a:ext cx="10058400" cy="411480"/>
          </a:xfrm>
          <a:prstGeom prst="rect">
            <a:avLst/>
          </a:prstGeom>
          <a:noFill/>
        </p:spPr>
        <p:txBody>
          <a:bodyPr wrap="square" lIns="18288" tIns="18288" rIns="18288" bIns="18288">
            <a:normAutofit/>
          </a:bodyPr>
          <a:lstStyle/>
          <a:p>
            <a:pPr algn="ctr"/>
            <a:r>
              <a:rPr sz="1800" b="1" i="0">
                <a:solidFill>
                  <a:srgbClr val="08182B"/>
                </a:solidFill>
                <a:latin typeface="Aptos"/>
              </a:rPr>
              <a:t>MỤC TIÊU: KÊNH + NỘI DUNG + CTA + MỒI TRẢI NGHIỆM.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THỰC HÀNH</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Bộ hút ứng viên — đầu ra bắt buộc của buổi 2</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29</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685800" y="1417320"/>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1</a:t>
            </a:r>
          </a:p>
        </p:txBody>
      </p:sp>
      <p:sp>
        <p:nvSpPr>
          <p:cNvPr id="11" name="TextBox 10"/>
          <p:cNvSpPr txBox="1"/>
          <p:nvPr/>
        </p:nvSpPr>
        <p:spPr>
          <a:xfrm>
            <a:off x="1307592" y="140817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 câu định vị</a:t>
            </a:r>
          </a:p>
        </p:txBody>
      </p:sp>
      <p:sp>
        <p:nvSpPr>
          <p:cNvPr id="12" name="Oval 11"/>
          <p:cNvSpPr/>
          <p:nvPr/>
        </p:nvSpPr>
        <p:spPr>
          <a:xfrm>
            <a:off x="6217920" y="1417320"/>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2</a:t>
            </a:r>
          </a:p>
        </p:txBody>
      </p:sp>
      <p:sp>
        <p:nvSpPr>
          <p:cNvPr id="13" name="TextBox 12"/>
          <p:cNvSpPr txBox="1"/>
          <p:nvPr/>
        </p:nvSpPr>
        <p:spPr>
          <a:xfrm>
            <a:off x="6839712" y="140817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3 trụ cột nội dung</a:t>
            </a:r>
          </a:p>
        </p:txBody>
      </p:sp>
      <p:sp>
        <p:nvSpPr>
          <p:cNvPr id="14" name="Oval 13"/>
          <p:cNvSpPr/>
          <p:nvPr/>
        </p:nvSpPr>
        <p:spPr>
          <a:xfrm>
            <a:off x="685800" y="2468880"/>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3</a:t>
            </a:r>
          </a:p>
        </p:txBody>
      </p:sp>
      <p:sp>
        <p:nvSpPr>
          <p:cNvPr id="15" name="TextBox 14"/>
          <p:cNvSpPr txBox="1"/>
          <p:nvPr/>
        </p:nvSpPr>
        <p:spPr>
          <a:xfrm>
            <a:off x="1307592" y="245973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10 hook theo công thức</a:t>
            </a:r>
          </a:p>
        </p:txBody>
      </p:sp>
      <p:sp>
        <p:nvSpPr>
          <p:cNvPr id="16" name="Oval 15"/>
          <p:cNvSpPr/>
          <p:nvPr/>
        </p:nvSpPr>
        <p:spPr>
          <a:xfrm>
            <a:off x="6217920" y="2468880"/>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4</a:t>
            </a:r>
          </a:p>
        </p:txBody>
      </p:sp>
      <p:sp>
        <p:nvSpPr>
          <p:cNvPr id="17" name="TextBox 16"/>
          <p:cNvSpPr txBox="1"/>
          <p:nvPr/>
        </p:nvSpPr>
        <p:spPr>
          <a:xfrm>
            <a:off x="6839712" y="245973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 kịch bản video 60 giây</a:t>
            </a:r>
          </a:p>
        </p:txBody>
      </p:sp>
      <p:sp>
        <p:nvSpPr>
          <p:cNvPr id="18" name="Oval 17"/>
          <p:cNvSpPr/>
          <p:nvPr/>
        </p:nvSpPr>
        <p:spPr>
          <a:xfrm>
            <a:off x="685800" y="3520439"/>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5</a:t>
            </a:r>
          </a:p>
        </p:txBody>
      </p:sp>
      <p:sp>
        <p:nvSpPr>
          <p:cNvPr id="19" name="TextBox 18"/>
          <p:cNvSpPr txBox="1"/>
          <p:nvPr/>
        </p:nvSpPr>
        <p:spPr>
          <a:xfrm>
            <a:off x="1307592" y="351129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 tài nguyên / thử thách trải nghiệm</a:t>
            </a:r>
          </a:p>
        </p:txBody>
      </p:sp>
      <p:sp>
        <p:nvSpPr>
          <p:cNvPr id="20" name="Oval 19"/>
          <p:cNvSpPr/>
          <p:nvPr/>
        </p:nvSpPr>
        <p:spPr>
          <a:xfrm>
            <a:off x="6217920" y="3520439"/>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6</a:t>
            </a:r>
          </a:p>
        </p:txBody>
      </p:sp>
      <p:sp>
        <p:nvSpPr>
          <p:cNvPr id="21" name="TextBox 20"/>
          <p:cNvSpPr txBox="1"/>
          <p:nvPr/>
        </p:nvSpPr>
        <p:spPr>
          <a:xfrm>
            <a:off x="6839712" y="351129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 CTA nhẹ</a:t>
            </a:r>
          </a:p>
        </p:txBody>
      </p:sp>
      <p:sp>
        <p:nvSpPr>
          <p:cNvPr id="22" name="Oval 21"/>
          <p:cNvSpPr/>
          <p:nvPr/>
        </p:nvSpPr>
        <p:spPr>
          <a:xfrm>
            <a:off x="685800" y="4572000"/>
            <a:ext cx="420624" cy="420624"/>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7</a:t>
            </a:r>
          </a:p>
        </p:txBody>
      </p:sp>
      <p:sp>
        <p:nvSpPr>
          <p:cNvPr id="23" name="TextBox 22"/>
          <p:cNvSpPr txBox="1"/>
          <p:nvPr/>
        </p:nvSpPr>
        <p:spPr>
          <a:xfrm>
            <a:off x="1307592" y="4562856"/>
            <a:ext cx="4572000" cy="502920"/>
          </a:xfrm>
          <a:prstGeom prst="rect">
            <a:avLst/>
          </a:prstGeom>
          <a:noFill/>
        </p:spPr>
        <p:txBody>
          <a:bodyPr wrap="square" lIns="18288" tIns="18288" rIns="18288" bIns="18288">
            <a:normAutofit/>
          </a:bodyPr>
          <a:lstStyle/>
          <a:p>
            <a:pPr algn="l"/>
            <a:r>
              <a:rPr sz="1400" b="1" i="0">
                <a:solidFill>
                  <a:srgbClr val="08182B"/>
                </a:solidFill>
                <a:latin typeface="Aptos"/>
              </a:rPr>
              <a:t>1 hành trình: Nội dung → Tín hiệu → Trải nghiệm → Trao đổi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MẪU ĐIỀN</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Phiếu triển khai 1 trang</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30</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TextBox 9"/>
          <p:cNvSpPr txBox="1"/>
          <p:nvPr/>
        </p:nvSpPr>
        <p:spPr>
          <a:xfrm>
            <a:off x="640080" y="1325880"/>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CHÂN DUNG</a:t>
            </a:r>
          </a:p>
        </p:txBody>
      </p:sp>
      <p:sp>
        <p:nvSpPr>
          <p:cNvPr id="11" name="TextBox 10"/>
          <p:cNvSpPr txBox="1"/>
          <p:nvPr/>
        </p:nvSpPr>
        <p:spPr>
          <a:xfrm>
            <a:off x="1828800" y="1307592"/>
            <a:ext cx="9509760" cy="384048"/>
          </a:xfrm>
          <a:prstGeom prst="rect">
            <a:avLst/>
          </a:prstGeom>
          <a:noFill/>
        </p:spPr>
        <p:txBody>
          <a:bodyPr wrap="square" lIns="18288" tIns="18288" rIns="18288" bIns="18288">
            <a:normAutofit/>
          </a:bodyPr>
          <a:lstStyle/>
          <a:p>
            <a:pPr algn="l"/>
            <a:r>
              <a:rPr sz="1280" b="0" i="0">
                <a:solidFill>
                  <a:srgbClr val="1F2D3D"/>
                </a:solidFill>
                <a:latin typeface="Aptos"/>
              </a:rPr>
              <a:t>Tôi nói với: ______________________________</a:t>
            </a:r>
          </a:p>
        </p:txBody>
      </p:sp>
      <p:cxnSp>
        <p:nvCxnSpPr>
          <p:cNvPr id="12" name="Connector 11"/>
          <p:cNvCxnSpPr/>
          <p:nvPr/>
        </p:nvCxnSpPr>
        <p:spPr>
          <a:xfrm>
            <a:off x="1828800" y="1737360"/>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2075688"/>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NỖI ĐAU</a:t>
            </a:r>
          </a:p>
        </p:txBody>
      </p:sp>
      <p:sp>
        <p:nvSpPr>
          <p:cNvPr id="14" name="TextBox 13"/>
          <p:cNvSpPr txBox="1"/>
          <p:nvPr/>
        </p:nvSpPr>
        <p:spPr>
          <a:xfrm>
            <a:off x="1828800" y="2057400"/>
            <a:ext cx="9509760" cy="384048"/>
          </a:xfrm>
          <a:prstGeom prst="rect">
            <a:avLst/>
          </a:prstGeom>
          <a:noFill/>
        </p:spPr>
        <p:txBody>
          <a:bodyPr wrap="square" lIns="18288" tIns="18288" rIns="18288" bIns="18288">
            <a:normAutofit/>
          </a:bodyPr>
          <a:lstStyle/>
          <a:p>
            <a:pPr algn="l"/>
            <a:r>
              <a:rPr sz="1280" b="0" i="0">
                <a:solidFill>
                  <a:srgbClr val="1F2D3D"/>
                </a:solidFill>
                <a:latin typeface="Aptos"/>
              </a:rPr>
              <a:t>Họ đang: __________________________________</a:t>
            </a:r>
          </a:p>
        </p:txBody>
      </p:sp>
      <p:cxnSp>
        <p:nvCxnSpPr>
          <p:cNvPr id="15" name="Connector 14"/>
          <p:cNvCxnSpPr/>
          <p:nvPr/>
        </p:nvCxnSpPr>
        <p:spPr>
          <a:xfrm>
            <a:off x="1828800" y="2487168"/>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2825496"/>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MONG MUỐN</a:t>
            </a:r>
          </a:p>
        </p:txBody>
      </p:sp>
      <p:sp>
        <p:nvSpPr>
          <p:cNvPr id="17" name="TextBox 16"/>
          <p:cNvSpPr txBox="1"/>
          <p:nvPr/>
        </p:nvSpPr>
        <p:spPr>
          <a:xfrm>
            <a:off x="1828800" y="2807208"/>
            <a:ext cx="9509760" cy="384048"/>
          </a:xfrm>
          <a:prstGeom prst="rect">
            <a:avLst/>
          </a:prstGeom>
          <a:noFill/>
        </p:spPr>
        <p:txBody>
          <a:bodyPr wrap="square" lIns="18288" tIns="18288" rIns="18288" bIns="18288">
            <a:normAutofit/>
          </a:bodyPr>
          <a:lstStyle/>
          <a:p>
            <a:pPr algn="l"/>
            <a:r>
              <a:rPr sz="1280" b="0" i="0">
                <a:solidFill>
                  <a:srgbClr val="1F2D3D"/>
                </a:solidFill>
                <a:latin typeface="Aptos"/>
              </a:rPr>
              <a:t>Họ muốn: __________________________________</a:t>
            </a:r>
          </a:p>
        </p:txBody>
      </p:sp>
      <p:cxnSp>
        <p:nvCxnSpPr>
          <p:cNvPr id="18" name="Connector 17"/>
          <p:cNvCxnSpPr/>
          <p:nvPr/>
        </p:nvCxnSpPr>
        <p:spPr>
          <a:xfrm>
            <a:off x="1828800" y="3236976"/>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3575304"/>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ĐỊNH VỊ</a:t>
            </a:r>
          </a:p>
        </p:txBody>
      </p:sp>
      <p:sp>
        <p:nvSpPr>
          <p:cNvPr id="20" name="TextBox 19"/>
          <p:cNvSpPr txBox="1"/>
          <p:nvPr/>
        </p:nvSpPr>
        <p:spPr>
          <a:xfrm>
            <a:off x="1828800" y="3557016"/>
            <a:ext cx="9509760" cy="384048"/>
          </a:xfrm>
          <a:prstGeom prst="rect">
            <a:avLst/>
          </a:prstGeom>
          <a:noFill/>
        </p:spPr>
        <p:txBody>
          <a:bodyPr wrap="square" lIns="18288" tIns="18288" rIns="18288" bIns="18288">
            <a:normAutofit/>
          </a:bodyPr>
          <a:lstStyle/>
          <a:p>
            <a:pPr algn="l"/>
            <a:r>
              <a:rPr sz="1280" b="0" i="0" dirty="0" err="1">
                <a:solidFill>
                  <a:srgbClr val="1F2D3D"/>
                </a:solidFill>
                <a:latin typeface="Aptos"/>
              </a:rPr>
              <a:t>Tôi</a:t>
            </a:r>
            <a:r>
              <a:rPr sz="1280" b="0" i="0" dirty="0">
                <a:solidFill>
                  <a:srgbClr val="1F2D3D"/>
                </a:solidFill>
                <a:latin typeface="Aptos"/>
              </a:rPr>
              <a:t> </a:t>
            </a:r>
            <a:r>
              <a:rPr sz="1280" b="0" i="0" dirty="0" err="1">
                <a:solidFill>
                  <a:srgbClr val="1F2D3D"/>
                </a:solidFill>
                <a:latin typeface="Aptos"/>
              </a:rPr>
              <a:t>giúp</a:t>
            </a:r>
            <a:r>
              <a:rPr sz="1280" b="0" i="0" dirty="0">
                <a:solidFill>
                  <a:srgbClr val="1F2D3D"/>
                </a:solidFill>
                <a:latin typeface="Aptos"/>
              </a:rPr>
              <a:t> </a:t>
            </a:r>
            <a:r>
              <a:rPr sz="1280" b="0" i="0" dirty="0" err="1">
                <a:solidFill>
                  <a:srgbClr val="1F2D3D"/>
                </a:solidFill>
                <a:latin typeface="Aptos"/>
              </a:rPr>
              <a:t>họ</a:t>
            </a:r>
            <a:r>
              <a:rPr sz="1280" b="0" i="0" dirty="0">
                <a:solidFill>
                  <a:srgbClr val="1F2D3D"/>
                </a:solidFill>
                <a:latin typeface="Aptos"/>
              </a:rPr>
              <a:t>: ______________________________</a:t>
            </a:r>
          </a:p>
        </p:txBody>
      </p:sp>
      <p:cxnSp>
        <p:nvCxnSpPr>
          <p:cNvPr id="21" name="Connector 20"/>
          <p:cNvCxnSpPr/>
          <p:nvPr/>
        </p:nvCxnSpPr>
        <p:spPr>
          <a:xfrm>
            <a:off x="1828800" y="3986784"/>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4325112"/>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TRỤ CỘT</a:t>
            </a:r>
          </a:p>
        </p:txBody>
      </p:sp>
      <p:sp>
        <p:nvSpPr>
          <p:cNvPr id="23" name="TextBox 22"/>
          <p:cNvSpPr txBox="1"/>
          <p:nvPr/>
        </p:nvSpPr>
        <p:spPr>
          <a:xfrm>
            <a:off x="1828800" y="4306824"/>
            <a:ext cx="9509760" cy="384048"/>
          </a:xfrm>
          <a:prstGeom prst="rect">
            <a:avLst/>
          </a:prstGeom>
          <a:noFill/>
        </p:spPr>
        <p:txBody>
          <a:bodyPr wrap="square" lIns="18288" tIns="18288" rIns="18288" bIns="18288">
            <a:normAutofit/>
          </a:bodyPr>
          <a:lstStyle/>
          <a:p>
            <a:pPr algn="l"/>
            <a:r>
              <a:rPr sz="1280" b="0" i="0">
                <a:solidFill>
                  <a:srgbClr val="1F2D3D"/>
                </a:solidFill>
                <a:latin typeface="Aptos"/>
              </a:rPr>
              <a:t>1) __________  2) __________  3) __________</a:t>
            </a:r>
          </a:p>
        </p:txBody>
      </p:sp>
      <p:cxnSp>
        <p:nvCxnSpPr>
          <p:cNvPr id="24" name="Connector 23"/>
          <p:cNvCxnSpPr/>
          <p:nvPr/>
        </p:nvCxnSpPr>
        <p:spPr>
          <a:xfrm>
            <a:off x="1828800" y="4736592"/>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5074920"/>
            <a:ext cx="1143000" cy="256032"/>
          </a:xfrm>
          <a:prstGeom prst="rect">
            <a:avLst/>
          </a:prstGeom>
          <a:noFill/>
        </p:spPr>
        <p:txBody>
          <a:bodyPr wrap="square" lIns="18288" tIns="18288" rIns="18288" bIns="18288">
            <a:normAutofit/>
          </a:bodyPr>
          <a:lstStyle/>
          <a:p>
            <a:pPr algn="l"/>
            <a:r>
              <a:rPr sz="1000" b="1" i="0">
                <a:solidFill>
                  <a:srgbClr val="D4AF37"/>
                </a:solidFill>
                <a:latin typeface="Aptos"/>
              </a:rPr>
              <a:t>MỒI</a:t>
            </a:r>
          </a:p>
        </p:txBody>
      </p:sp>
      <p:sp>
        <p:nvSpPr>
          <p:cNvPr id="26" name="TextBox 25"/>
          <p:cNvSpPr txBox="1"/>
          <p:nvPr/>
        </p:nvSpPr>
        <p:spPr>
          <a:xfrm>
            <a:off x="1828800" y="5056632"/>
            <a:ext cx="9509760" cy="384048"/>
          </a:xfrm>
          <a:prstGeom prst="rect">
            <a:avLst/>
          </a:prstGeom>
          <a:noFill/>
        </p:spPr>
        <p:txBody>
          <a:bodyPr wrap="square" lIns="18288" tIns="18288" rIns="18288" bIns="18288">
            <a:normAutofit/>
          </a:bodyPr>
          <a:lstStyle/>
          <a:p>
            <a:pPr algn="l"/>
            <a:r>
              <a:rPr sz="1280" b="0" i="0" dirty="0" err="1">
                <a:solidFill>
                  <a:srgbClr val="1F2D3D"/>
                </a:solidFill>
                <a:latin typeface="Aptos"/>
              </a:rPr>
              <a:t>Tôi</a:t>
            </a:r>
            <a:r>
              <a:rPr sz="1280" b="0" i="0" dirty="0">
                <a:solidFill>
                  <a:srgbClr val="1F2D3D"/>
                </a:solidFill>
                <a:latin typeface="Aptos"/>
              </a:rPr>
              <a:t> </a:t>
            </a:r>
            <a:r>
              <a:rPr sz="1280" b="0" i="0" dirty="0" err="1">
                <a:solidFill>
                  <a:srgbClr val="1F2D3D"/>
                </a:solidFill>
                <a:latin typeface="Aptos"/>
              </a:rPr>
              <a:t>sẽ</a:t>
            </a:r>
            <a:r>
              <a:rPr sz="1280" b="0" i="0" dirty="0">
                <a:solidFill>
                  <a:srgbClr val="1F2D3D"/>
                </a:solidFill>
                <a:latin typeface="Aptos"/>
              </a:rPr>
              <a:t> </a:t>
            </a:r>
            <a:r>
              <a:rPr sz="1280" b="0" i="0" dirty="0" err="1">
                <a:solidFill>
                  <a:srgbClr val="1F2D3D"/>
                </a:solidFill>
                <a:latin typeface="Aptos"/>
              </a:rPr>
              <a:t>cho</a:t>
            </a:r>
            <a:r>
              <a:rPr sz="1280" b="0" i="0" dirty="0">
                <a:solidFill>
                  <a:srgbClr val="1F2D3D"/>
                </a:solidFill>
                <a:latin typeface="Aptos"/>
              </a:rPr>
              <a:t> </a:t>
            </a:r>
            <a:r>
              <a:rPr sz="1280" b="0" i="0" dirty="0" err="1">
                <a:solidFill>
                  <a:srgbClr val="1F2D3D"/>
                </a:solidFill>
                <a:latin typeface="Aptos"/>
              </a:rPr>
              <a:t>trước</a:t>
            </a:r>
            <a:r>
              <a:rPr sz="1280" b="0" i="0" dirty="0">
                <a:solidFill>
                  <a:srgbClr val="1F2D3D"/>
                </a:solidFill>
                <a:latin typeface="Aptos"/>
              </a:rPr>
              <a:t>: ___________________________</a:t>
            </a:r>
          </a:p>
        </p:txBody>
      </p:sp>
      <p:cxnSp>
        <p:nvCxnSpPr>
          <p:cNvPr id="27" name="Connector 26"/>
          <p:cNvCxnSpPr/>
          <p:nvPr/>
        </p:nvCxnSpPr>
        <p:spPr>
          <a:xfrm>
            <a:off x="1828800" y="5486400"/>
            <a:ext cx="928116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463040" y="5925312"/>
            <a:ext cx="9326880" cy="320040"/>
          </a:xfrm>
          <a:prstGeom prst="rect">
            <a:avLst/>
          </a:prstGeom>
          <a:noFill/>
        </p:spPr>
        <p:txBody>
          <a:bodyPr wrap="square" lIns="18288" tIns="18288" rIns="18288" bIns="18288">
            <a:normAutofit/>
          </a:bodyPr>
          <a:lstStyle/>
          <a:p>
            <a:pPr algn="ctr"/>
            <a:r>
              <a:rPr sz="1400" b="1" i="0" dirty="0" err="1">
                <a:solidFill>
                  <a:srgbClr val="08182B"/>
                </a:solidFill>
                <a:latin typeface="Aptos"/>
              </a:rPr>
              <a:t>Chụp</a:t>
            </a:r>
            <a:r>
              <a:rPr sz="1400" b="1" i="0" dirty="0">
                <a:solidFill>
                  <a:srgbClr val="08182B"/>
                </a:solidFill>
                <a:latin typeface="Aptos"/>
              </a:rPr>
              <a:t> slide </a:t>
            </a:r>
            <a:r>
              <a:rPr sz="1400" b="1" i="0" dirty="0" err="1">
                <a:solidFill>
                  <a:srgbClr val="08182B"/>
                </a:solidFill>
                <a:latin typeface="Aptos"/>
              </a:rPr>
              <a:t>này</a:t>
            </a:r>
            <a:r>
              <a:rPr sz="1400" b="1" i="0" dirty="0">
                <a:solidFill>
                  <a:srgbClr val="08182B"/>
                </a:solidFill>
                <a:latin typeface="Aptos"/>
              </a:rPr>
              <a:t> </a:t>
            </a:r>
            <a:r>
              <a:rPr sz="1400" b="1" i="0" dirty="0" err="1">
                <a:solidFill>
                  <a:srgbClr val="08182B"/>
                </a:solidFill>
                <a:latin typeface="Aptos"/>
              </a:rPr>
              <a:t>và</a:t>
            </a:r>
            <a:r>
              <a:rPr sz="1400" b="1" i="0" dirty="0">
                <a:solidFill>
                  <a:srgbClr val="08182B"/>
                </a:solidFill>
                <a:latin typeface="Aptos"/>
              </a:rPr>
              <a:t> </a:t>
            </a:r>
            <a:r>
              <a:rPr sz="1400" b="1" i="0" dirty="0" err="1">
                <a:solidFill>
                  <a:srgbClr val="08182B"/>
                </a:solidFill>
                <a:latin typeface="Aptos"/>
              </a:rPr>
              <a:t>điền</a:t>
            </a:r>
            <a:r>
              <a:rPr sz="1400" b="1" i="0" dirty="0">
                <a:solidFill>
                  <a:srgbClr val="08182B"/>
                </a:solidFill>
                <a:latin typeface="Aptos"/>
              </a:rPr>
              <a:t> </a:t>
            </a:r>
            <a:r>
              <a:rPr sz="1400" b="1" i="0" dirty="0" err="1">
                <a:solidFill>
                  <a:srgbClr val="08182B"/>
                </a:solidFill>
                <a:latin typeface="Aptos"/>
              </a:rPr>
              <a:t>ngay</a:t>
            </a:r>
            <a:r>
              <a:rPr sz="1400" b="1" i="0" dirty="0">
                <a:solidFill>
                  <a:srgbClr val="08182B"/>
                </a:solidFill>
                <a:latin typeface="Aptos"/>
              </a:rPr>
              <a:t> </a:t>
            </a:r>
            <a:r>
              <a:rPr sz="1400" b="1" i="0" dirty="0" err="1">
                <a:solidFill>
                  <a:srgbClr val="08182B"/>
                </a:solidFill>
                <a:latin typeface="Aptos"/>
              </a:rPr>
              <a:t>sau</a:t>
            </a:r>
            <a:r>
              <a:rPr sz="1400" b="1" i="0" dirty="0">
                <a:solidFill>
                  <a:srgbClr val="08182B"/>
                </a:solidFill>
                <a:latin typeface="Aptos"/>
              </a:rPr>
              <a:t> </a:t>
            </a:r>
            <a:r>
              <a:rPr sz="1400" b="1" i="0" dirty="0" err="1">
                <a:solidFill>
                  <a:srgbClr val="08182B"/>
                </a:solidFill>
                <a:latin typeface="Aptos"/>
              </a:rPr>
              <a:t>buổi</a:t>
            </a:r>
            <a:r>
              <a:rPr sz="1400" b="1" i="0" dirty="0">
                <a:solidFill>
                  <a:srgbClr val="08182B"/>
                </a:solidFill>
                <a:latin typeface="Aptos"/>
              </a:rPr>
              <a:t> </a:t>
            </a:r>
            <a:r>
              <a:rPr sz="1400" b="1" i="0" dirty="0" err="1">
                <a:solidFill>
                  <a:srgbClr val="08182B"/>
                </a:solidFill>
                <a:latin typeface="Aptos"/>
              </a:rPr>
              <a:t>đào</a:t>
            </a:r>
            <a:r>
              <a:rPr sz="1400" b="1" i="0" dirty="0">
                <a:solidFill>
                  <a:srgbClr val="08182B"/>
                </a:solidFill>
                <a:latin typeface="Aptos"/>
              </a:rPr>
              <a:t> </a:t>
            </a:r>
            <a:r>
              <a:rPr sz="1400" b="1" i="0" dirty="0" err="1">
                <a:solidFill>
                  <a:srgbClr val="08182B"/>
                </a:solidFill>
                <a:latin typeface="Aptos"/>
              </a:rPr>
              <a:t>tạo</a:t>
            </a:r>
            <a:r>
              <a:rPr sz="1400" b="1" i="0" dirty="0">
                <a:solidFill>
                  <a:srgbClr val="08182B"/>
                </a:solidFill>
                <a:latin typeface="Aptos"/>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MẪU ĐIỀN</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Kịch bản video đầu tiên</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31</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TextBox 9"/>
          <p:cNvSpPr txBox="1"/>
          <p:nvPr/>
        </p:nvSpPr>
        <p:spPr>
          <a:xfrm>
            <a:off x="640080" y="1325880"/>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HOOK</a:t>
            </a:r>
          </a:p>
        </p:txBody>
      </p:sp>
      <p:sp>
        <p:nvSpPr>
          <p:cNvPr id="11" name="TextBox 10"/>
          <p:cNvSpPr txBox="1"/>
          <p:nvPr/>
        </p:nvSpPr>
        <p:spPr>
          <a:xfrm>
            <a:off x="2331720" y="1307592"/>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____________________________________________________________</a:t>
            </a:r>
          </a:p>
        </p:txBody>
      </p:sp>
      <p:cxnSp>
        <p:nvCxnSpPr>
          <p:cNvPr id="12" name="Connector 11"/>
          <p:cNvCxnSpPr/>
          <p:nvPr/>
        </p:nvCxnSpPr>
        <p:spPr>
          <a:xfrm>
            <a:off x="2331720" y="1737360"/>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2075688"/>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NỖI ĐAU / TÌNH HUỐNG</a:t>
            </a:r>
          </a:p>
        </p:txBody>
      </p:sp>
      <p:sp>
        <p:nvSpPr>
          <p:cNvPr id="14" name="TextBox 13"/>
          <p:cNvSpPr txBox="1"/>
          <p:nvPr/>
        </p:nvSpPr>
        <p:spPr>
          <a:xfrm>
            <a:off x="2331720" y="2057400"/>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____________________________________________________________</a:t>
            </a:r>
          </a:p>
        </p:txBody>
      </p:sp>
      <p:cxnSp>
        <p:nvCxnSpPr>
          <p:cNvPr id="15" name="Connector 14"/>
          <p:cNvCxnSpPr/>
          <p:nvPr/>
        </p:nvCxnSpPr>
        <p:spPr>
          <a:xfrm>
            <a:off x="2331720" y="2487168"/>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2825496"/>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GÓC NHÌN MỚI</a:t>
            </a:r>
          </a:p>
        </p:txBody>
      </p:sp>
      <p:sp>
        <p:nvSpPr>
          <p:cNvPr id="17" name="TextBox 16"/>
          <p:cNvSpPr txBox="1"/>
          <p:nvPr/>
        </p:nvSpPr>
        <p:spPr>
          <a:xfrm>
            <a:off x="2331720" y="2807208"/>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____________________________________________________________</a:t>
            </a:r>
          </a:p>
        </p:txBody>
      </p:sp>
      <p:cxnSp>
        <p:nvCxnSpPr>
          <p:cNvPr id="18" name="Connector 17"/>
          <p:cNvCxnSpPr/>
          <p:nvPr/>
        </p:nvCxnSpPr>
        <p:spPr>
          <a:xfrm>
            <a:off x="2331720" y="3236976"/>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3575304"/>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3 Ý GIÁ TRỊ</a:t>
            </a:r>
          </a:p>
        </p:txBody>
      </p:sp>
      <p:sp>
        <p:nvSpPr>
          <p:cNvPr id="20" name="TextBox 19"/>
          <p:cNvSpPr txBox="1"/>
          <p:nvPr/>
        </p:nvSpPr>
        <p:spPr>
          <a:xfrm>
            <a:off x="2331720" y="3557016"/>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1) __________________  2) __________________  3) __________________</a:t>
            </a:r>
          </a:p>
        </p:txBody>
      </p:sp>
      <p:cxnSp>
        <p:nvCxnSpPr>
          <p:cNvPr id="21" name="Connector 20"/>
          <p:cNvCxnSpPr/>
          <p:nvPr/>
        </p:nvCxnSpPr>
        <p:spPr>
          <a:xfrm>
            <a:off x="2331720" y="3986784"/>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4325112"/>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BẰNG CHỨNG / TRẢI NGHIỆM</a:t>
            </a:r>
          </a:p>
        </p:txBody>
      </p:sp>
      <p:sp>
        <p:nvSpPr>
          <p:cNvPr id="23" name="TextBox 22"/>
          <p:cNvSpPr txBox="1"/>
          <p:nvPr/>
        </p:nvSpPr>
        <p:spPr>
          <a:xfrm>
            <a:off x="2331720" y="4306824"/>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____________________________________________________________</a:t>
            </a:r>
          </a:p>
        </p:txBody>
      </p:sp>
      <p:cxnSp>
        <p:nvCxnSpPr>
          <p:cNvPr id="24" name="Connector 23"/>
          <p:cNvCxnSpPr/>
          <p:nvPr/>
        </p:nvCxnSpPr>
        <p:spPr>
          <a:xfrm>
            <a:off x="2331720" y="4736592"/>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5074920"/>
            <a:ext cx="1828800" cy="256032"/>
          </a:xfrm>
          <a:prstGeom prst="rect">
            <a:avLst/>
          </a:prstGeom>
          <a:noFill/>
        </p:spPr>
        <p:txBody>
          <a:bodyPr wrap="square" lIns="18288" tIns="18288" rIns="18288" bIns="18288">
            <a:normAutofit/>
          </a:bodyPr>
          <a:lstStyle/>
          <a:p>
            <a:pPr algn="l"/>
            <a:r>
              <a:rPr sz="1000" b="1" i="0">
                <a:solidFill>
                  <a:srgbClr val="D4AF37"/>
                </a:solidFill>
                <a:latin typeface="Aptos"/>
              </a:rPr>
              <a:t>CTA</a:t>
            </a:r>
          </a:p>
        </p:txBody>
      </p:sp>
      <p:sp>
        <p:nvSpPr>
          <p:cNvPr id="26" name="TextBox 25"/>
          <p:cNvSpPr txBox="1"/>
          <p:nvPr/>
        </p:nvSpPr>
        <p:spPr>
          <a:xfrm>
            <a:off x="2331720" y="5056632"/>
            <a:ext cx="8869680" cy="384048"/>
          </a:xfrm>
          <a:prstGeom prst="rect">
            <a:avLst/>
          </a:prstGeom>
          <a:noFill/>
        </p:spPr>
        <p:txBody>
          <a:bodyPr wrap="square" lIns="18288" tIns="18288" rIns="18288" bIns="18288">
            <a:normAutofit/>
          </a:bodyPr>
          <a:lstStyle/>
          <a:p>
            <a:pPr algn="l"/>
            <a:r>
              <a:rPr sz="1250" b="0" i="0">
                <a:solidFill>
                  <a:srgbClr val="1F2D3D"/>
                </a:solidFill>
                <a:latin typeface="Aptos"/>
              </a:rPr>
              <a:t>____________________________________________________________</a:t>
            </a:r>
          </a:p>
        </p:txBody>
      </p:sp>
      <p:cxnSp>
        <p:nvCxnSpPr>
          <p:cNvPr id="27" name="Connector 26"/>
          <p:cNvCxnSpPr/>
          <p:nvPr/>
        </p:nvCxnSpPr>
        <p:spPr>
          <a:xfrm>
            <a:off x="2331720" y="5486400"/>
            <a:ext cx="8778240"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34440" y="5925312"/>
            <a:ext cx="9784080" cy="320040"/>
          </a:xfrm>
          <a:prstGeom prst="rect">
            <a:avLst/>
          </a:prstGeom>
          <a:noFill/>
        </p:spPr>
        <p:txBody>
          <a:bodyPr wrap="square" lIns="18288" tIns="18288" rIns="18288" bIns="18288">
            <a:normAutofit/>
          </a:bodyPr>
          <a:lstStyle/>
          <a:p>
            <a:pPr algn="ctr"/>
            <a:r>
              <a:rPr sz="1400" b="1" i="0">
                <a:solidFill>
                  <a:srgbClr val="08182B"/>
                </a:solidFill>
                <a:latin typeface="Aptos"/>
              </a:rPr>
              <a:t>Chọn một nỗi đau thật. Không cố nói về tất cả.</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BÍ MẬT</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Ba chuyển đổi tạo nên phương thức mới</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32</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Rounded Rectangle 9"/>
          <p:cNvSpPr/>
          <p:nvPr/>
        </p:nvSpPr>
        <p:spPr>
          <a:xfrm>
            <a:off x="640080" y="1554480"/>
            <a:ext cx="3429000" cy="3383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554480"/>
            <a:ext cx="64008" cy="3383280"/>
          </a:xfrm>
          <a:prstGeom prst="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7" y="1737360"/>
            <a:ext cx="384048" cy="384048"/>
          </a:xfrm>
          <a:prstGeom prst="ellipse">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1</a:t>
            </a:r>
          </a:p>
        </p:txBody>
      </p:sp>
      <p:sp>
        <p:nvSpPr>
          <p:cNvPr id="13" name="TextBox 12"/>
          <p:cNvSpPr txBox="1"/>
          <p:nvPr/>
        </p:nvSpPr>
        <p:spPr>
          <a:xfrm>
            <a:off x="1335024" y="1719072"/>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BÍ MẬT #1</a:t>
            </a:r>
          </a:p>
        </p:txBody>
      </p:sp>
      <p:sp>
        <p:nvSpPr>
          <p:cNvPr id="14" name="TextBox 13"/>
          <p:cNvSpPr txBox="1"/>
          <p:nvPr/>
        </p:nvSpPr>
        <p:spPr>
          <a:xfrm>
            <a:off x="1335024" y="2194560"/>
            <a:ext cx="2478024" cy="2596896"/>
          </a:xfrm>
          <a:prstGeom prst="rect">
            <a:avLst/>
          </a:prstGeom>
          <a:noFill/>
        </p:spPr>
        <p:txBody>
          <a:bodyPr wrap="square" lIns="18288" tIns="18288" rIns="18288" bIns="18288">
            <a:normAutofit/>
          </a:bodyPr>
          <a:lstStyle/>
          <a:p>
            <a:pPr algn="l"/>
            <a:r>
              <a:rPr sz="1400" b="0" i="0">
                <a:solidFill>
                  <a:srgbClr val="1F2D3D"/>
                </a:solidFill>
                <a:latin typeface="Aptos"/>
              </a:rPr>
              <a:t>Không săn danh sách.
Xây “hồ nước” — một nơi có nhu cầu, nội dung và giá trị.</a:t>
            </a:r>
          </a:p>
        </p:txBody>
      </p:sp>
      <p:sp>
        <p:nvSpPr>
          <p:cNvPr id="15" name="Rounded Rectangle 14"/>
          <p:cNvSpPr/>
          <p:nvPr/>
        </p:nvSpPr>
        <p:spPr>
          <a:xfrm>
            <a:off x="4370832" y="1554480"/>
            <a:ext cx="3429000" cy="3383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0832" y="1554480"/>
            <a:ext cx="64008" cy="33832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72000" y="1737360"/>
            <a:ext cx="384048" cy="384048"/>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2</a:t>
            </a:r>
          </a:p>
        </p:txBody>
      </p:sp>
      <p:sp>
        <p:nvSpPr>
          <p:cNvPr id="18" name="TextBox 17"/>
          <p:cNvSpPr txBox="1"/>
          <p:nvPr/>
        </p:nvSpPr>
        <p:spPr>
          <a:xfrm>
            <a:off x="5065776" y="1719072"/>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BÍ MẬT #2</a:t>
            </a:r>
          </a:p>
        </p:txBody>
      </p:sp>
      <p:sp>
        <p:nvSpPr>
          <p:cNvPr id="19" name="TextBox 18"/>
          <p:cNvSpPr txBox="1"/>
          <p:nvPr/>
        </p:nvSpPr>
        <p:spPr>
          <a:xfrm>
            <a:off x="5065776" y="2194560"/>
            <a:ext cx="2478024" cy="2596896"/>
          </a:xfrm>
          <a:prstGeom prst="rect">
            <a:avLst/>
          </a:prstGeom>
          <a:noFill/>
        </p:spPr>
        <p:txBody>
          <a:bodyPr wrap="square" lIns="18288" tIns="18288" rIns="18288" bIns="18288">
            <a:normAutofit/>
          </a:bodyPr>
          <a:lstStyle/>
          <a:p>
            <a:pPr algn="l"/>
            <a:r>
              <a:rPr sz="1400" b="0" i="0">
                <a:solidFill>
                  <a:srgbClr val="1F2D3D"/>
                </a:solidFill>
                <a:latin typeface="Aptos"/>
              </a:rPr>
              <a:t>Không cần sáng tạo mỗi ngày.
Có công thức → một chủ đề có thể tách thành nhiều video.</a:t>
            </a:r>
          </a:p>
        </p:txBody>
      </p:sp>
      <p:sp>
        <p:nvSpPr>
          <p:cNvPr id="20" name="Rounded Rectangle 19"/>
          <p:cNvSpPr/>
          <p:nvPr/>
        </p:nvSpPr>
        <p:spPr>
          <a:xfrm>
            <a:off x="8101583" y="1554480"/>
            <a:ext cx="3429000" cy="338328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01583" y="1554480"/>
            <a:ext cx="64008" cy="3383280"/>
          </a:xfrm>
          <a:prstGeom prst="rect">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02752" y="1737360"/>
            <a:ext cx="384048" cy="384048"/>
          </a:xfrm>
          <a:prstGeom prst="ellipse">
            <a:avLst/>
          </a:prstGeom>
          <a:solidFill>
            <a:srgbClr val="268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Aptos"/>
              </a:rPr>
              <a:t>3</a:t>
            </a:r>
          </a:p>
        </p:txBody>
      </p:sp>
      <p:sp>
        <p:nvSpPr>
          <p:cNvPr id="23" name="TextBox 22"/>
          <p:cNvSpPr txBox="1"/>
          <p:nvPr/>
        </p:nvSpPr>
        <p:spPr>
          <a:xfrm>
            <a:off x="8796528" y="1719072"/>
            <a:ext cx="2505456" cy="347472"/>
          </a:xfrm>
          <a:prstGeom prst="rect">
            <a:avLst/>
          </a:prstGeom>
          <a:noFill/>
        </p:spPr>
        <p:txBody>
          <a:bodyPr wrap="square" lIns="18288" tIns="18288" rIns="18288" bIns="18288">
            <a:normAutofit/>
          </a:bodyPr>
          <a:lstStyle/>
          <a:p>
            <a:pPr algn="l"/>
            <a:r>
              <a:rPr sz="1500" b="1" i="0">
                <a:solidFill>
                  <a:srgbClr val="08182B"/>
                </a:solidFill>
                <a:latin typeface="Aptos"/>
              </a:rPr>
              <a:t>BÍ MẬT #3</a:t>
            </a:r>
          </a:p>
        </p:txBody>
      </p:sp>
      <p:sp>
        <p:nvSpPr>
          <p:cNvPr id="24" name="TextBox 23"/>
          <p:cNvSpPr txBox="1"/>
          <p:nvPr/>
        </p:nvSpPr>
        <p:spPr>
          <a:xfrm>
            <a:off x="8796528" y="2194560"/>
            <a:ext cx="2478024" cy="2596896"/>
          </a:xfrm>
          <a:prstGeom prst="rect">
            <a:avLst/>
          </a:prstGeom>
          <a:noFill/>
        </p:spPr>
        <p:txBody>
          <a:bodyPr wrap="square" lIns="18288" tIns="18288" rIns="18288" bIns="18288">
            <a:normAutofit/>
          </a:bodyPr>
          <a:lstStyle/>
          <a:p>
            <a:pPr algn="l"/>
            <a:r>
              <a:rPr sz="1400" b="0" i="0">
                <a:solidFill>
                  <a:srgbClr val="1F2D3D"/>
                </a:solidFill>
                <a:latin typeface="Aptos"/>
              </a:rPr>
              <a:t>Không thả mồi để câu người.
Tạo trải nghiệm đủ giá trị để người phù hợp tự sàng lọc.</a:t>
            </a:r>
          </a:p>
        </p:txBody>
      </p:sp>
      <p:sp>
        <p:nvSpPr>
          <p:cNvPr id="25" name="TextBox 24"/>
          <p:cNvSpPr txBox="1"/>
          <p:nvPr/>
        </p:nvSpPr>
        <p:spPr>
          <a:xfrm>
            <a:off x="1005840" y="5532120"/>
            <a:ext cx="10149840" cy="384048"/>
          </a:xfrm>
          <a:prstGeom prst="rect">
            <a:avLst/>
          </a:prstGeom>
          <a:noFill/>
        </p:spPr>
        <p:txBody>
          <a:bodyPr wrap="square" lIns="18288" tIns="18288" rIns="18288" bIns="18288">
            <a:normAutofit/>
          </a:bodyPr>
          <a:lstStyle/>
          <a:p>
            <a:pPr algn="ctr"/>
            <a:r>
              <a:rPr sz="1700" b="1" i="0">
                <a:solidFill>
                  <a:srgbClr val="08182B"/>
                </a:solidFill>
                <a:latin typeface="Aptos"/>
              </a:rPr>
              <a:t>TỪ TUYỂN DỤNG BẰNG NỖ LỰC → THU HÚT BẰNG HỆ THỐNG.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2743200" cy="256032"/>
          </a:xfrm>
          <a:prstGeom prst="rect">
            <a:avLst/>
          </a:prstGeom>
          <a:noFill/>
        </p:spPr>
        <p:txBody>
          <a:bodyPr wrap="square" lIns="18288" tIns="18288" rIns="18288" bIns="18288">
            <a:normAutofit/>
          </a:bodyPr>
          <a:lstStyle/>
          <a:p>
            <a:pPr algn="l"/>
            <a:r>
              <a:rPr sz="950" b="1" i="0">
                <a:solidFill>
                  <a:srgbClr val="D4AF37"/>
                </a:solidFill>
                <a:latin typeface="Aptos"/>
              </a:rPr>
              <a:t>NGUYÊN TẮC</a:t>
            </a:r>
          </a:p>
        </p:txBody>
      </p:sp>
      <p:sp>
        <p:nvSpPr>
          <p:cNvPr id="4" name="TextBox 3"/>
          <p:cNvSpPr txBox="1"/>
          <p:nvPr/>
        </p:nvSpPr>
        <p:spPr>
          <a:xfrm>
            <a:off x="530352" y="512064"/>
            <a:ext cx="10698480" cy="566928"/>
          </a:xfrm>
          <a:prstGeom prst="rect">
            <a:avLst/>
          </a:prstGeom>
          <a:noFill/>
        </p:spPr>
        <p:txBody>
          <a:bodyPr wrap="square" lIns="18288" tIns="18288" rIns="18288" bIns="18288">
            <a:normAutofit/>
          </a:bodyPr>
          <a:lstStyle/>
          <a:p>
            <a:pPr algn="l"/>
            <a:r>
              <a:rPr sz="2500" b="1" i="0">
                <a:solidFill>
                  <a:srgbClr val="08182B"/>
                </a:solidFill>
                <a:latin typeface="Aptos Display"/>
              </a:rPr>
              <a:t>5 nguyên tắc xây kênh bền vững</a:t>
            </a:r>
          </a:p>
        </p:txBody>
      </p:sp>
      <p:sp>
        <p:nvSpPr>
          <p:cNvPr id="5" name="TextBox 4"/>
          <p:cNvSpPr txBox="1"/>
          <p:nvPr/>
        </p:nvSpPr>
        <p:spPr>
          <a:xfrm>
            <a:off x="11109960" y="256032"/>
            <a:ext cx="502920" cy="274320"/>
          </a:xfrm>
          <a:prstGeom prst="rect">
            <a:avLst/>
          </a:prstGeom>
          <a:noFill/>
        </p:spPr>
        <p:txBody>
          <a:bodyPr wrap="square" lIns="18288" tIns="18288" rIns="18288" bIns="18288">
            <a:normAutofit/>
          </a:bodyPr>
          <a:lstStyle/>
          <a:p>
            <a:pPr algn="r"/>
            <a:r>
              <a:rPr sz="950" b="1" i="0">
                <a:solidFill>
                  <a:srgbClr val="667686"/>
                </a:solidFill>
                <a:latin typeface="Aptos"/>
              </a:rPr>
              <a:t>33</a:t>
            </a:r>
          </a:p>
        </p:txBody>
      </p:sp>
      <p:cxnSp>
        <p:nvCxnSpPr>
          <p:cNvPr id="6" name="Connector 5"/>
          <p:cNvCxnSpPr/>
          <p:nvPr/>
        </p:nvCxnSpPr>
        <p:spPr>
          <a:xfrm>
            <a:off x="530352" y="1143000"/>
            <a:ext cx="11128248" cy="0"/>
          </a:xfrm>
          <a:prstGeom prst="line">
            <a:avLst/>
          </a:prstGeom>
          <a:ln w="12700">
            <a:solidFill>
              <a:srgbClr val="D7E0E8"/>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0" y="6510528"/>
            <a:ext cx="12191695" cy="347472"/>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6574536"/>
            <a:ext cx="8046720" cy="182880"/>
          </a:xfrm>
          <a:prstGeom prst="rect">
            <a:avLst/>
          </a:prstGeom>
          <a:noFill/>
        </p:spPr>
        <p:txBody>
          <a:bodyPr wrap="square" lIns="18288" tIns="18288" rIns="18288" bIns="18288">
            <a:normAutofit/>
          </a:bodyPr>
          <a:lstStyle/>
          <a:p>
            <a:pPr algn="l"/>
            <a:r>
              <a:rPr sz="850" b="1" i="0">
                <a:solidFill>
                  <a:srgbClr val="FFFFFF"/>
                </a:solidFill>
                <a:latin typeface="Aptos"/>
              </a:rPr>
              <a:t>HÚT ỨNG VIÊN TỪ XÂY KÊNH  •  GIÁ TRỊ TRƯỚC LỜI MỜI</a:t>
            </a:r>
          </a:p>
        </p:txBody>
      </p:sp>
      <p:sp>
        <p:nvSpPr>
          <p:cNvPr id="9" name="TextBox 8"/>
          <p:cNvSpPr txBox="1"/>
          <p:nvPr/>
        </p:nvSpPr>
        <p:spPr>
          <a:xfrm>
            <a:off x="10241280" y="6574536"/>
            <a:ext cx="1417320" cy="182880"/>
          </a:xfrm>
          <a:prstGeom prst="rect">
            <a:avLst/>
          </a:prstGeom>
          <a:noFill/>
        </p:spPr>
        <p:txBody>
          <a:bodyPr wrap="square" lIns="18288" tIns="18288" rIns="18288" bIns="18288">
            <a:normAutofit/>
          </a:bodyPr>
          <a:lstStyle/>
          <a:p>
            <a:pPr algn="r"/>
            <a:r>
              <a:rPr sz="850" b="1" i="0">
                <a:solidFill>
                  <a:srgbClr val="D4AF37"/>
                </a:solidFill>
                <a:latin typeface="Aptos"/>
              </a:rPr>
              <a:t>ĐÀO TẠO NGÀY 2</a:t>
            </a:r>
          </a:p>
        </p:txBody>
      </p:sp>
      <p:sp>
        <p:nvSpPr>
          <p:cNvPr id="10" name="Oval 9"/>
          <p:cNvSpPr/>
          <p:nvPr/>
        </p:nvSpPr>
        <p:spPr>
          <a:xfrm>
            <a:off x="713232" y="1417320"/>
            <a:ext cx="457200" cy="457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1</a:t>
            </a:r>
          </a:p>
        </p:txBody>
      </p:sp>
      <p:sp>
        <p:nvSpPr>
          <p:cNvPr id="11" name="TextBox 10"/>
          <p:cNvSpPr txBox="1"/>
          <p:nvPr/>
        </p:nvSpPr>
        <p:spPr>
          <a:xfrm>
            <a:off x="1417320" y="1399032"/>
            <a:ext cx="9875520" cy="438912"/>
          </a:xfrm>
          <a:prstGeom prst="rect">
            <a:avLst/>
          </a:prstGeom>
          <a:noFill/>
        </p:spPr>
        <p:txBody>
          <a:bodyPr wrap="square" lIns="18288" tIns="18288" rIns="18288" bIns="18288">
            <a:normAutofit/>
          </a:bodyPr>
          <a:lstStyle/>
          <a:p>
            <a:pPr algn="l"/>
            <a:r>
              <a:rPr sz="1500" b="1" i="0">
                <a:solidFill>
                  <a:srgbClr val="08182B"/>
                </a:solidFill>
                <a:latin typeface="Aptos"/>
              </a:rPr>
              <a:t>GIÁ TRỊ TRƯỚC LỜI MỜI.</a:t>
            </a:r>
          </a:p>
        </p:txBody>
      </p:sp>
      <p:sp>
        <p:nvSpPr>
          <p:cNvPr id="12" name="Oval 11"/>
          <p:cNvSpPr/>
          <p:nvPr/>
        </p:nvSpPr>
        <p:spPr>
          <a:xfrm>
            <a:off x="713232" y="2240280"/>
            <a:ext cx="457200" cy="457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2</a:t>
            </a:r>
          </a:p>
        </p:txBody>
      </p:sp>
      <p:sp>
        <p:nvSpPr>
          <p:cNvPr id="13" name="TextBox 12"/>
          <p:cNvSpPr txBox="1"/>
          <p:nvPr/>
        </p:nvSpPr>
        <p:spPr>
          <a:xfrm>
            <a:off x="1417320" y="2221992"/>
            <a:ext cx="9875520" cy="438912"/>
          </a:xfrm>
          <a:prstGeom prst="rect">
            <a:avLst/>
          </a:prstGeom>
          <a:noFill/>
        </p:spPr>
        <p:txBody>
          <a:bodyPr wrap="square" lIns="18288" tIns="18288" rIns="18288" bIns="18288">
            <a:normAutofit/>
          </a:bodyPr>
          <a:lstStyle/>
          <a:p>
            <a:pPr algn="l"/>
            <a:r>
              <a:rPr sz="1500" b="1" i="0">
                <a:solidFill>
                  <a:srgbClr val="08182B"/>
                </a:solidFill>
                <a:latin typeface="Aptos"/>
              </a:rPr>
              <a:t>NÓI ĐÚNG NGƯỜI, KHÔNG NÓI VỚI TẤT CẢ.</a:t>
            </a:r>
          </a:p>
        </p:txBody>
      </p:sp>
      <p:sp>
        <p:nvSpPr>
          <p:cNvPr id="14" name="Oval 13"/>
          <p:cNvSpPr/>
          <p:nvPr/>
        </p:nvSpPr>
        <p:spPr>
          <a:xfrm>
            <a:off x="713232" y="3063240"/>
            <a:ext cx="457200" cy="457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3</a:t>
            </a:r>
          </a:p>
        </p:txBody>
      </p:sp>
      <p:sp>
        <p:nvSpPr>
          <p:cNvPr id="15" name="TextBox 14"/>
          <p:cNvSpPr txBox="1"/>
          <p:nvPr/>
        </p:nvSpPr>
        <p:spPr>
          <a:xfrm>
            <a:off x="1417320" y="3044952"/>
            <a:ext cx="9875520" cy="438912"/>
          </a:xfrm>
          <a:prstGeom prst="rect">
            <a:avLst/>
          </a:prstGeom>
          <a:noFill/>
        </p:spPr>
        <p:txBody>
          <a:bodyPr wrap="square" lIns="18288" tIns="18288" rIns="18288" bIns="18288">
            <a:normAutofit/>
          </a:bodyPr>
          <a:lstStyle/>
          <a:p>
            <a:pPr algn="l"/>
            <a:r>
              <a:rPr sz="1500" b="1" i="0">
                <a:solidFill>
                  <a:srgbClr val="08182B"/>
                </a:solidFill>
                <a:latin typeface="Aptos"/>
              </a:rPr>
              <a:t>BẰNG CHỨNG THẬT, CÂU CHUYỆN THẬT.</a:t>
            </a:r>
          </a:p>
        </p:txBody>
      </p:sp>
      <p:sp>
        <p:nvSpPr>
          <p:cNvPr id="16" name="Oval 15"/>
          <p:cNvSpPr/>
          <p:nvPr/>
        </p:nvSpPr>
        <p:spPr>
          <a:xfrm>
            <a:off x="713232" y="3886200"/>
            <a:ext cx="457200" cy="457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4</a:t>
            </a:r>
          </a:p>
        </p:txBody>
      </p:sp>
      <p:sp>
        <p:nvSpPr>
          <p:cNvPr id="17" name="TextBox 16"/>
          <p:cNvSpPr txBox="1"/>
          <p:nvPr/>
        </p:nvSpPr>
        <p:spPr>
          <a:xfrm>
            <a:off x="1417320" y="3867912"/>
            <a:ext cx="9875520" cy="438912"/>
          </a:xfrm>
          <a:prstGeom prst="rect">
            <a:avLst/>
          </a:prstGeom>
          <a:noFill/>
        </p:spPr>
        <p:txBody>
          <a:bodyPr wrap="square" lIns="18288" tIns="18288" rIns="18288" bIns="18288">
            <a:normAutofit/>
          </a:bodyPr>
          <a:lstStyle/>
          <a:p>
            <a:pPr algn="l"/>
            <a:r>
              <a:rPr sz="1500" b="1" i="0">
                <a:solidFill>
                  <a:srgbClr val="08182B"/>
                </a:solidFill>
                <a:latin typeface="Aptos"/>
              </a:rPr>
              <a:t>MINH BẠCH VỀ MỤC ĐÍCH VÀ BƯỚC TIẾP THEO.</a:t>
            </a:r>
          </a:p>
        </p:txBody>
      </p:sp>
      <p:sp>
        <p:nvSpPr>
          <p:cNvPr id="18" name="Oval 17"/>
          <p:cNvSpPr/>
          <p:nvPr/>
        </p:nvSpPr>
        <p:spPr>
          <a:xfrm>
            <a:off x="713232" y="4709160"/>
            <a:ext cx="457200" cy="45720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5</a:t>
            </a:r>
          </a:p>
        </p:txBody>
      </p:sp>
      <p:sp>
        <p:nvSpPr>
          <p:cNvPr id="19" name="TextBox 18"/>
          <p:cNvSpPr txBox="1"/>
          <p:nvPr/>
        </p:nvSpPr>
        <p:spPr>
          <a:xfrm>
            <a:off x="1417320" y="4690872"/>
            <a:ext cx="9875520" cy="438912"/>
          </a:xfrm>
          <a:prstGeom prst="rect">
            <a:avLst/>
          </a:prstGeom>
          <a:noFill/>
        </p:spPr>
        <p:txBody>
          <a:bodyPr wrap="square" lIns="18288" tIns="18288" rIns="18288" bIns="18288">
            <a:normAutofit/>
          </a:bodyPr>
          <a:lstStyle/>
          <a:p>
            <a:pPr algn="l"/>
            <a:r>
              <a:rPr sz="1500" b="1" i="0">
                <a:solidFill>
                  <a:srgbClr val="08182B"/>
                </a:solidFill>
                <a:latin typeface="Aptos"/>
              </a:rPr>
              <a:t>KIÊN TRÌ VỚI HỆ THỐNG; TỐI ƯU BẰNG DỮ LIỆU.</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2743200" cy="320040"/>
          </a:xfrm>
          <a:prstGeom prst="rect">
            <a:avLst/>
          </a:prstGeom>
          <a:noFill/>
        </p:spPr>
        <p:txBody>
          <a:bodyPr wrap="square" lIns="18288" tIns="18288" rIns="18288" bIns="18288">
            <a:normAutofit/>
          </a:bodyPr>
          <a:lstStyle/>
          <a:p>
            <a:pPr algn="l"/>
            <a:r>
              <a:rPr sz="1200" b="1" i="0">
                <a:solidFill>
                  <a:srgbClr val="D4AF37"/>
                </a:solidFill>
                <a:latin typeface="Aptos"/>
              </a:rPr>
              <a:t>KẾT LUẬN NGÀY 2</a:t>
            </a:r>
          </a:p>
        </p:txBody>
      </p:sp>
      <p:sp>
        <p:nvSpPr>
          <p:cNvPr id="4" name="TextBox 3"/>
          <p:cNvSpPr txBox="1"/>
          <p:nvPr/>
        </p:nvSpPr>
        <p:spPr>
          <a:xfrm>
            <a:off x="640080" y="1417320"/>
            <a:ext cx="10241280" cy="1097280"/>
          </a:xfrm>
          <a:prstGeom prst="rect">
            <a:avLst/>
          </a:prstGeom>
          <a:noFill/>
        </p:spPr>
        <p:txBody>
          <a:bodyPr wrap="square" lIns="18288" tIns="18288" rIns="18288" bIns="18288">
            <a:normAutofit/>
          </a:bodyPr>
          <a:lstStyle/>
          <a:p>
            <a:pPr algn="l"/>
            <a:r>
              <a:rPr sz="3100" b="1" i="0">
                <a:solidFill>
                  <a:srgbClr val="FFFFFF"/>
                </a:solidFill>
                <a:latin typeface="Aptos Display"/>
              </a:rPr>
              <a:t>ĐỪNG CỐ TÌM THÊM NGƯỜI.
HÃY XÂY THÊM GIÁ TRỊ.</a:t>
            </a:r>
          </a:p>
        </p:txBody>
      </p:sp>
      <p:sp>
        <p:nvSpPr>
          <p:cNvPr id="5" name="TextBox 4"/>
          <p:cNvSpPr txBox="1"/>
          <p:nvPr/>
        </p:nvSpPr>
        <p:spPr>
          <a:xfrm>
            <a:off x="658368" y="2926080"/>
            <a:ext cx="9875520" cy="777240"/>
          </a:xfrm>
          <a:prstGeom prst="rect">
            <a:avLst/>
          </a:prstGeom>
          <a:noFill/>
        </p:spPr>
        <p:txBody>
          <a:bodyPr wrap="square" lIns="18288" tIns="18288" rIns="18288" bIns="18288">
            <a:normAutofit/>
          </a:bodyPr>
          <a:lstStyle/>
          <a:p>
            <a:pPr algn="l"/>
            <a:r>
              <a:rPr sz="1900" b="0" i="0">
                <a:solidFill>
                  <a:srgbClr val="CDDEEE"/>
                </a:solidFill>
                <a:latin typeface="Aptos"/>
              </a:rPr>
              <a:t>Khi đúng người nhìn thấy đúng thông điệp,
họ không cần bị đuổi theo — họ sẽ muốn tìm hiểu.</a:t>
            </a:r>
          </a:p>
        </p:txBody>
      </p:sp>
      <p:sp>
        <p:nvSpPr>
          <p:cNvPr id="6" name="Rounded Rectangle 5"/>
          <p:cNvSpPr/>
          <p:nvPr/>
        </p:nvSpPr>
        <p:spPr>
          <a:xfrm>
            <a:off x="713232" y="4251960"/>
            <a:ext cx="2055571"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4370832"/>
            <a:ext cx="1982419" cy="475488"/>
          </a:xfrm>
          <a:prstGeom prst="rect">
            <a:avLst/>
          </a:prstGeom>
          <a:noFill/>
        </p:spPr>
        <p:txBody>
          <a:bodyPr wrap="square" lIns="18288" tIns="18288" rIns="18288" bIns="18288">
            <a:normAutofit/>
          </a:bodyPr>
          <a:lstStyle/>
          <a:p>
            <a:pPr algn="ctr"/>
            <a:r>
              <a:rPr sz="1120" b="1" i="0">
                <a:solidFill>
                  <a:srgbClr val="FFFFFF"/>
                </a:solidFill>
                <a:latin typeface="Aptos"/>
              </a:rPr>
              <a:t>NỘI DUNG</a:t>
            </a:r>
          </a:p>
        </p:txBody>
      </p:sp>
      <p:sp>
        <p:nvSpPr>
          <p:cNvPr id="8" name="Rounded Rectangle 7"/>
          <p:cNvSpPr/>
          <p:nvPr/>
        </p:nvSpPr>
        <p:spPr>
          <a:xfrm>
            <a:off x="2896819" y="4251960"/>
            <a:ext cx="2055571"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33395" y="4370832"/>
            <a:ext cx="1982419" cy="475488"/>
          </a:xfrm>
          <a:prstGeom prst="rect">
            <a:avLst/>
          </a:prstGeom>
          <a:noFill/>
        </p:spPr>
        <p:txBody>
          <a:bodyPr wrap="square" lIns="18288" tIns="18288" rIns="18288" bIns="18288">
            <a:normAutofit/>
          </a:bodyPr>
          <a:lstStyle/>
          <a:p>
            <a:pPr algn="ctr"/>
            <a:r>
              <a:rPr sz="1120" b="1" i="0">
                <a:solidFill>
                  <a:srgbClr val="08182B"/>
                </a:solidFill>
                <a:latin typeface="Aptos"/>
              </a:rPr>
              <a:t>NIỀM TIN</a:t>
            </a:r>
          </a:p>
        </p:txBody>
      </p:sp>
      <p:sp>
        <p:nvSpPr>
          <p:cNvPr id="10" name="Rounded Rectangle 9"/>
          <p:cNvSpPr/>
          <p:nvPr/>
        </p:nvSpPr>
        <p:spPr>
          <a:xfrm>
            <a:off x="5080406" y="4251960"/>
            <a:ext cx="2055571"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16982" y="4370832"/>
            <a:ext cx="1982419" cy="475488"/>
          </a:xfrm>
          <a:prstGeom prst="rect">
            <a:avLst/>
          </a:prstGeom>
          <a:noFill/>
        </p:spPr>
        <p:txBody>
          <a:bodyPr wrap="square" lIns="18288" tIns="18288" rIns="18288" bIns="18288">
            <a:normAutofit/>
          </a:bodyPr>
          <a:lstStyle/>
          <a:p>
            <a:pPr algn="ctr"/>
            <a:r>
              <a:rPr sz="1120" b="1" i="0">
                <a:solidFill>
                  <a:srgbClr val="08182B"/>
                </a:solidFill>
                <a:latin typeface="Aptos"/>
              </a:rPr>
              <a:t>TÍN HIỆU</a:t>
            </a:r>
          </a:p>
        </p:txBody>
      </p:sp>
      <p:sp>
        <p:nvSpPr>
          <p:cNvPr id="12" name="Rounded Rectangle 11"/>
          <p:cNvSpPr/>
          <p:nvPr/>
        </p:nvSpPr>
        <p:spPr>
          <a:xfrm>
            <a:off x="7263993" y="4251960"/>
            <a:ext cx="2055571" cy="6583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00569" y="4370832"/>
            <a:ext cx="1982419" cy="475488"/>
          </a:xfrm>
          <a:prstGeom prst="rect">
            <a:avLst/>
          </a:prstGeom>
          <a:noFill/>
        </p:spPr>
        <p:txBody>
          <a:bodyPr wrap="square" lIns="18288" tIns="18288" rIns="18288" bIns="18288">
            <a:normAutofit/>
          </a:bodyPr>
          <a:lstStyle/>
          <a:p>
            <a:pPr algn="ctr"/>
            <a:r>
              <a:rPr sz="1120" b="1" i="0">
                <a:solidFill>
                  <a:srgbClr val="08182B"/>
                </a:solidFill>
                <a:latin typeface="Aptos"/>
              </a:rPr>
              <a:t>TRẢI NGHIỆM</a:t>
            </a:r>
          </a:p>
        </p:txBody>
      </p:sp>
      <p:sp>
        <p:nvSpPr>
          <p:cNvPr id="14" name="Rounded Rectangle 13"/>
          <p:cNvSpPr/>
          <p:nvPr/>
        </p:nvSpPr>
        <p:spPr>
          <a:xfrm>
            <a:off x="9447580" y="4251960"/>
            <a:ext cx="2055571" cy="658368"/>
          </a:xfrm>
          <a:prstGeom prst="roundRect">
            <a:avLst/>
          </a:prstGeom>
          <a:solidFill>
            <a:srgbClr val="0F5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84156" y="4370832"/>
            <a:ext cx="1982419" cy="475488"/>
          </a:xfrm>
          <a:prstGeom prst="rect">
            <a:avLst/>
          </a:prstGeom>
          <a:noFill/>
        </p:spPr>
        <p:txBody>
          <a:bodyPr wrap="square" lIns="18288" tIns="18288" rIns="18288" bIns="18288">
            <a:normAutofit/>
          </a:bodyPr>
          <a:lstStyle/>
          <a:p>
            <a:pPr algn="ctr"/>
            <a:r>
              <a:rPr sz="1120" b="1" i="0">
                <a:solidFill>
                  <a:srgbClr val="FFFFFF"/>
                </a:solidFill>
                <a:latin typeface="Aptos"/>
              </a:rPr>
              <a:t>ỨNG VIÊN PHÙ HỢP</a:t>
            </a:r>
          </a:p>
        </p:txBody>
      </p:sp>
      <p:sp>
        <p:nvSpPr>
          <p:cNvPr id="16" name="TextBox 15"/>
          <p:cNvSpPr txBox="1"/>
          <p:nvPr/>
        </p:nvSpPr>
        <p:spPr>
          <a:xfrm>
            <a:off x="658368" y="6144768"/>
            <a:ext cx="6766560" cy="274320"/>
          </a:xfrm>
          <a:prstGeom prst="rect">
            <a:avLst/>
          </a:prstGeom>
          <a:noFill/>
        </p:spPr>
        <p:txBody>
          <a:bodyPr wrap="square" lIns="18288" tIns="18288" rIns="18288" bIns="18288">
            <a:normAutofit/>
          </a:bodyPr>
          <a:lstStyle/>
          <a:p>
            <a:pPr algn="l"/>
            <a:r>
              <a:rPr sz="1000" b="1" i="0">
                <a:solidFill>
                  <a:srgbClr val="A5BCD0"/>
                </a:solidFill>
                <a:latin typeface="Aptos"/>
              </a:rPr>
              <a:t>TRẦN THỊ THÚY  •  CHÍNH TRỰC KIẾN TẠO THỊNH VƯỢNG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4509</Words>
  <Application>Microsoft Office PowerPoint</Application>
  <DocSecurity>0</DocSecurity>
  <PresentationFormat>Màn hình rộng</PresentationFormat>
  <Paragraphs>683</Paragraphs>
  <Slides>48</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48</vt:i4>
      </vt:variant>
    </vt:vector>
  </HeadingPairs>
  <TitlesOfParts>
    <vt:vector size="54" baseType="lpstr">
      <vt:lpstr>Aptos</vt:lpstr>
      <vt:lpstr>Aptos Display</vt:lpstr>
      <vt:lpstr>Arial</vt:lpstr>
      <vt:lpstr>Calibri</vt:lpstr>
      <vt:lpstr>SegoeuiPc</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Quang Ledang</cp:lastModifiedBy>
  <cp:revision>9</cp:revision>
  <dcterms:created xsi:type="dcterms:W3CDTF">2026-09-04T03:56:27Z</dcterms:created>
  <dcterms:modified xsi:type="dcterms:W3CDTF">2026-09-12T09:47:59Z</dcterms:modified>
</cp:coreProperties>
</file>